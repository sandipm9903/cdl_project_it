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  <p:sldId id="281" r:id="rId2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58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5" d="100"/>
          <a:sy n="135" d="100"/>
        </p:scale>
        <p:origin x="84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99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0" dirty="0"/>
              <a:t> </a:t>
            </a:r>
            <a:r>
              <a:rPr dirty="0"/>
              <a:t>2024</a:t>
            </a:r>
            <a:r>
              <a:rPr spc="-15" dirty="0"/>
              <a:t> </a:t>
            </a:r>
            <a:r>
              <a:rPr dirty="0"/>
              <a:t>CMS</a:t>
            </a:r>
            <a:r>
              <a:rPr spc="-10" dirty="0"/>
              <a:t> </a:t>
            </a:r>
            <a:r>
              <a:rPr dirty="0"/>
              <a:t>Computers</a:t>
            </a:r>
            <a:r>
              <a:rPr spc="-15" dirty="0"/>
              <a:t> </a:t>
            </a:r>
            <a:r>
              <a:rPr dirty="0"/>
              <a:t>India</a:t>
            </a:r>
            <a:r>
              <a:rPr spc="-10" dirty="0"/>
              <a:t> </a:t>
            </a:r>
            <a:r>
              <a:rPr dirty="0"/>
              <a:t>Private</a:t>
            </a:r>
            <a:r>
              <a:rPr spc="-15" dirty="0"/>
              <a:t> </a:t>
            </a:r>
            <a:r>
              <a:rPr dirty="0"/>
              <a:t>Ltd.</a:t>
            </a:r>
            <a:r>
              <a:rPr spc="-10" dirty="0"/>
              <a:t> </a:t>
            </a:r>
            <a:r>
              <a:rPr dirty="0"/>
              <a:t>All</a:t>
            </a:r>
            <a:r>
              <a:rPr spc="-15" dirty="0"/>
              <a:t> </a:t>
            </a:r>
            <a:r>
              <a:rPr dirty="0"/>
              <a:t>Rights</a:t>
            </a:r>
            <a:r>
              <a:rPr spc="-10" dirty="0"/>
              <a:t> 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99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0" dirty="0"/>
              <a:t> </a:t>
            </a:r>
            <a:r>
              <a:rPr dirty="0"/>
              <a:t>2024</a:t>
            </a:r>
            <a:r>
              <a:rPr spc="-15" dirty="0"/>
              <a:t> </a:t>
            </a:r>
            <a:r>
              <a:rPr dirty="0"/>
              <a:t>CMS</a:t>
            </a:r>
            <a:r>
              <a:rPr spc="-10" dirty="0"/>
              <a:t> </a:t>
            </a:r>
            <a:r>
              <a:rPr dirty="0"/>
              <a:t>Computers</a:t>
            </a:r>
            <a:r>
              <a:rPr spc="-15" dirty="0"/>
              <a:t> </a:t>
            </a:r>
            <a:r>
              <a:rPr dirty="0"/>
              <a:t>India</a:t>
            </a:r>
            <a:r>
              <a:rPr spc="-10" dirty="0"/>
              <a:t> </a:t>
            </a:r>
            <a:r>
              <a:rPr dirty="0"/>
              <a:t>Private</a:t>
            </a:r>
            <a:r>
              <a:rPr spc="-15" dirty="0"/>
              <a:t> </a:t>
            </a:r>
            <a:r>
              <a:rPr dirty="0"/>
              <a:t>Ltd.</a:t>
            </a:r>
            <a:r>
              <a:rPr spc="-10" dirty="0"/>
              <a:t> </a:t>
            </a:r>
            <a:r>
              <a:rPr dirty="0"/>
              <a:t>All</a:t>
            </a:r>
            <a:r>
              <a:rPr spc="-15" dirty="0"/>
              <a:t> </a:t>
            </a:r>
            <a:r>
              <a:rPr dirty="0"/>
              <a:t>Rights</a:t>
            </a:r>
            <a:r>
              <a:rPr spc="-10" dirty="0"/>
              <a:t> 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99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0" dirty="0"/>
              <a:t> </a:t>
            </a:r>
            <a:r>
              <a:rPr dirty="0"/>
              <a:t>2024</a:t>
            </a:r>
            <a:r>
              <a:rPr spc="-15" dirty="0"/>
              <a:t> </a:t>
            </a:r>
            <a:r>
              <a:rPr dirty="0"/>
              <a:t>CMS</a:t>
            </a:r>
            <a:r>
              <a:rPr spc="-10" dirty="0"/>
              <a:t> </a:t>
            </a:r>
            <a:r>
              <a:rPr dirty="0"/>
              <a:t>Computers</a:t>
            </a:r>
            <a:r>
              <a:rPr spc="-15" dirty="0"/>
              <a:t> </a:t>
            </a:r>
            <a:r>
              <a:rPr dirty="0"/>
              <a:t>India</a:t>
            </a:r>
            <a:r>
              <a:rPr spc="-10" dirty="0"/>
              <a:t> </a:t>
            </a:r>
            <a:r>
              <a:rPr dirty="0"/>
              <a:t>Private</a:t>
            </a:r>
            <a:r>
              <a:rPr spc="-15" dirty="0"/>
              <a:t> </a:t>
            </a:r>
            <a:r>
              <a:rPr dirty="0"/>
              <a:t>Ltd.</a:t>
            </a:r>
            <a:r>
              <a:rPr spc="-10" dirty="0"/>
              <a:t> </a:t>
            </a:r>
            <a:r>
              <a:rPr dirty="0"/>
              <a:t>All</a:t>
            </a:r>
            <a:r>
              <a:rPr spc="-15" dirty="0"/>
              <a:t> </a:t>
            </a:r>
            <a:r>
              <a:rPr dirty="0"/>
              <a:t>Rights</a:t>
            </a:r>
            <a:r>
              <a:rPr spc="-10" dirty="0"/>
              <a:t> Reserved.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2485644"/>
            <a:ext cx="9144000" cy="1385570"/>
          </a:xfrm>
          <a:custGeom>
            <a:avLst/>
            <a:gdLst/>
            <a:ahLst/>
            <a:cxnLst/>
            <a:rect l="l" t="t" r="r" b="b"/>
            <a:pathLst>
              <a:path w="9144000" h="1385570">
                <a:moveTo>
                  <a:pt x="0" y="0"/>
                </a:moveTo>
                <a:lnTo>
                  <a:pt x="0" y="1385316"/>
                </a:lnTo>
                <a:lnTo>
                  <a:pt x="9144000" y="1385316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99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0" dirty="0"/>
              <a:t> </a:t>
            </a:r>
            <a:r>
              <a:rPr dirty="0"/>
              <a:t>2024</a:t>
            </a:r>
            <a:r>
              <a:rPr spc="-15" dirty="0"/>
              <a:t> </a:t>
            </a:r>
            <a:r>
              <a:rPr dirty="0"/>
              <a:t>CMS</a:t>
            </a:r>
            <a:r>
              <a:rPr spc="-10" dirty="0"/>
              <a:t> </a:t>
            </a:r>
            <a:r>
              <a:rPr dirty="0"/>
              <a:t>Computers</a:t>
            </a:r>
            <a:r>
              <a:rPr spc="-15" dirty="0"/>
              <a:t> </a:t>
            </a:r>
            <a:r>
              <a:rPr dirty="0"/>
              <a:t>India</a:t>
            </a:r>
            <a:r>
              <a:rPr spc="-10" dirty="0"/>
              <a:t> </a:t>
            </a:r>
            <a:r>
              <a:rPr dirty="0"/>
              <a:t>Private</a:t>
            </a:r>
            <a:r>
              <a:rPr spc="-15" dirty="0"/>
              <a:t> </a:t>
            </a:r>
            <a:r>
              <a:rPr dirty="0"/>
              <a:t>Ltd.</a:t>
            </a:r>
            <a:r>
              <a:rPr spc="-10" dirty="0"/>
              <a:t> </a:t>
            </a:r>
            <a:r>
              <a:rPr dirty="0"/>
              <a:t>All</a:t>
            </a:r>
            <a:r>
              <a:rPr spc="-15" dirty="0"/>
              <a:t> </a:t>
            </a:r>
            <a:r>
              <a:rPr dirty="0"/>
              <a:t>Rights</a:t>
            </a:r>
            <a:r>
              <a:rPr spc="-10" dirty="0"/>
              <a:t> 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0" dirty="0"/>
              <a:t> </a:t>
            </a:r>
            <a:r>
              <a:rPr dirty="0"/>
              <a:t>2024</a:t>
            </a:r>
            <a:r>
              <a:rPr spc="-15" dirty="0"/>
              <a:t> </a:t>
            </a:r>
            <a:r>
              <a:rPr dirty="0"/>
              <a:t>CMS</a:t>
            </a:r>
            <a:r>
              <a:rPr spc="-10" dirty="0"/>
              <a:t> </a:t>
            </a:r>
            <a:r>
              <a:rPr dirty="0"/>
              <a:t>Computers</a:t>
            </a:r>
            <a:r>
              <a:rPr spc="-15" dirty="0"/>
              <a:t> </a:t>
            </a:r>
            <a:r>
              <a:rPr dirty="0"/>
              <a:t>India</a:t>
            </a:r>
            <a:r>
              <a:rPr spc="-10" dirty="0"/>
              <a:t> </a:t>
            </a:r>
            <a:r>
              <a:rPr dirty="0"/>
              <a:t>Private</a:t>
            </a:r>
            <a:r>
              <a:rPr spc="-15" dirty="0"/>
              <a:t> </a:t>
            </a:r>
            <a:r>
              <a:rPr dirty="0"/>
              <a:t>Ltd.</a:t>
            </a:r>
            <a:r>
              <a:rPr spc="-10" dirty="0"/>
              <a:t> </a:t>
            </a:r>
            <a:r>
              <a:rPr dirty="0"/>
              <a:t>All</a:t>
            </a:r>
            <a:r>
              <a:rPr spc="-15" dirty="0"/>
              <a:t> </a:t>
            </a:r>
            <a:r>
              <a:rPr dirty="0"/>
              <a:t>Rights</a:t>
            </a:r>
            <a:r>
              <a:rPr spc="-10" dirty="0"/>
              <a:t> 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8287" y="-42544"/>
            <a:ext cx="8307425" cy="740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99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31238" y="1371091"/>
            <a:ext cx="7078345" cy="1715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0" dirty="0"/>
              <a:t> </a:t>
            </a:r>
            <a:r>
              <a:rPr dirty="0"/>
              <a:t>2024</a:t>
            </a:r>
            <a:r>
              <a:rPr spc="-15" dirty="0"/>
              <a:t> </a:t>
            </a:r>
            <a:r>
              <a:rPr dirty="0"/>
              <a:t>CMS</a:t>
            </a:r>
            <a:r>
              <a:rPr spc="-10" dirty="0"/>
              <a:t> </a:t>
            </a:r>
            <a:r>
              <a:rPr dirty="0"/>
              <a:t>Computers</a:t>
            </a:r>
            <a:r>
              <a:rPr spc="-15" dirty="0"/>
              <a:t> </a:t>
            </a:r>
            <a:r>
              <a:rPr dirty="0"/>
              <a:t>India</a:t>
            </a:r>
            <a:r>
              <a:rPr spc="-10" dirty="0"/>
              <a:t> </a:t>
            </a:r>
            <a:r>
              <a:rPr dirty="0"/>
              <a:t>Private</a:t>
            </a:r>
            <a:r>
              <a:rPr spc="-15" dirty="0"/>
              <a:t> </a:t>
            </a:r>
            <a:r>
              <a:rPr dirty="0"/>
              <a:t>Ltd.</a:t>
            </a:r>
            <a:r>
              <a:rPr spc="-10" dirty="0"/>
              <a:t> </a:t>
            </a:r>
            <a:r>
              <a:rPr dirty="0"/>
              <a:t>All</a:t>
            </a:r>
            <a:r>
              <a:rPr spc="-15" dirty="0"/>
              <a:t> </a:t>
            </a:r>
            <a:r>
              <a:rPr dirty="0"/>
              <a:t>Rights</a:t>
            </a:r>
            <a:r>
              <a:rPr spc="-10" dirty="0"/>
              <a:t> 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36.png"/><Relationship Id="rId21" Type="http://schemas.openxmlformats.org/officeDocument/2006/relationships/image" Target="../media/image5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image" Target="../media/image71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image" Target="../media/image70.png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jpg"/><Relationship Id="rId3" Type="http://schemas.openxmlformats.org/officeDocument/2006/relationships/image" Target="../media/image92.png"/><Relationship Id="rId7" Type="http://schemas.openxmlformats.org/officeDocument/2006/relationships/image" Target="../media/image96.jp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jpg"/><Relationship Id="rId5" Type="http://schemas.openxmlformats.org/officeDocument/2006/relationships/image" Target="../media/image94.jpg"/><Relationship Id="rId4" Type="http://schemas.openxmlformats.org/officeDocument/2006/relationships/image" Target="../media/image93.png"/><Relationship Id="rId9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g"/><Relationship Id="rId3" Type="http://schemas.openxmlformats.org/officeDocument/2006/relationships/image" Target="../media/image98.jpg"/><Relationship Id="rId7" Type="http://schemas.openxmlformats.org/officeDocument/2006/relationships/image" Target="../media/image102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1.jpg"/><Relationship Id="rId5" Type="http://schemas.openxmlformats.org/officeDocument/2006/relationships/image" Target="../media/image100.png"/><Relationship Id="rId4" Type="http://schemas.openxmlformats.org/officeDocument/2006/relationships/image" Target="../media/image99.jpg"/><Relationship Id="rId9" Type="http://schemas.openxmlformats.org/officeDocument/2006/relationships/image" Target="../media/image104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jp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105.png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jpg"/><Relationship Id="rId11" Type="http://schemas.openxmlformats.org/officeDocument/2006/relationships/image" Target="../media/image114.png"/><Relationship Id="rId5" Type="http://schemas.openxmlformats.org/officeDocument/2006/relationships/image" Target="../media/image108.jp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jpg"/><Relationship Id="rId4" Type="http://schemas.openxmlformats.org/officeDocument/2006/relationships/image" Target="../media/image12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5" Type="http://schemas.openxmlformats.org/officeDocument/2006/relationships/image" Target="../media/image141.png"/><Relationship Id="rId10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18" Type="http://schemas.openxmlformats.org/officeDocument/2006/relationships/image" Target="../media/image158.png"/><Relationship Id="rId26" Type="http://schemas.openxmlformats.org/officeDocument/2006/relationships/image" Target="../media/image166.png"/><Relationship Id="rId3" Type="http://schemas.openxmlformats.org/officeDocument/2006/relationships/image" Target="../media/image143.png"/><Relationship Id="rId21" Type="http://schemas.openxmlformats.org/officeDocument/2006/relationships/image" Target="../media/image161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17" Type="http://schemas.openxmlformats.org/officeDocument/2006/relationships/image" Target="../media/image157.png"/><Relationship Id="rId25" Type="http://schemas.openxmlformats.org/officeDocument/2006/relationships/image" Target="../media/image165.png"/><Relationship Id="rId2" Type="http://schemas.openxmlformats.org/officeDocument/2006/relationships/image" Target="../media/image142.png"/><Relationship Id="rId16" Type="http://schemas.openxmlformats.org/officeDocument/2006/relationships/image" Target="../media/image156.png"/><Relationship Id="rId20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24" Type="http://schemas.openxmlformats.org/officeDocument/2006/relationships/image" Target="../media/image164.png"/><Relationship Id="rId5" Type="http://schemas.openxmlformats.org/officeDocument/2006/relationships/image" Target="../media/image145.png"/><Relationship Id="rId15" Type="http://schemas.openxmlformats.org/officeDocument/2006/relationships/image" Target="../media/image155.png"/><Relationship Id="rId23" Type="http://schemas.openxmlformats.org/officeDocument/2006/relationships/image" Target="../media/image163.png"/><Relationship Id="rId10" Type="http://schemas.openxmlformats.org/officeDocument/2006/relationships/image" Target="../media/image150.png"/><Relationship Id="rId19" Type="http://schemas.openxmlformats.org/officeDocument/2006/relationships/image" Target="../media/image159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Relationship Id="rId22" Type="http://schemas.openxmlformats.org/officeDocument/2006/relationships/image" Target="../media/image16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8.png"/><Relationship Id="rId3" Type="http://schemas.openxmlformats.org/officeDocument/2006/relationships/image" Target="../media/image168.jpg"/><Relationship Id="rId7" Type="http://schemas.openxmlformats.org/officeDocument/2006/relationships/image" Target="../media/image172.jpg"/><Relationship Id="rId12" Type="http://schemas.openxmlformats.org/officeDocument/2006/relationships/image" Target="../media/image177.png"/><Relationship Id="rId2" Type="http://schemas.openxmlformats.org/officeDocument/2006/relationships/image" Target="../media/image16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jpg"/><Relationship Id="rId11" Type="http://schemas.openxmlformats.org/officeDocument/2006/relationships/image" Target="../media/image176.jpg"/><Relationship Id="rId5" Type="http://schemas.openxmlformats.org/officeDocument/2006/relationships/image" Target="../media/image170.jpg"/><Relationship Id="rId10" Type="http://schemas.openxmlformats.org/officeDocument/2006/relationships/image" Target="../media/image175.png"/><Relationship Id="rId4" Type="http://schemas.openxmlformats.org/officeDocument/2006/relationships/image" Target="../media/image169.jpg"/><Relationship Id="rId9" Type="http://schemas.openxmlformats.org/officeDocument/2006/relationships/image" Target="../media/image174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0.png"/><Relationship Id="rId18" Type="http://schemas.openxmlformats.org/officeDocument/2006/relationships/image" Target="../media/image195.png"/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17" Type="http://schemas.openxmlformats.org/officeDocument/2006/relationships/image" Target="../media/image194.png"/><Relationship Id="rId2" Type="http://schemas.openxmlformats.org/officeDocument/2006/relationships/image" Target="../media/image179.png"/><Relationship Id="rId16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5" Type="http://schemas.openxmlformats.org/officeDocument/2006/relationships/image" Target="../media/image192.png"/><Relationship Id="rId10" Type="http://schemas.openxmlformats.org/officeDocument/2006/relationships/image" Target="../media/image187.png"/><Relationship Id="rId19" Type="http://schemas.openxmlformats.org/officeDocument/2006/relationships/image" Target="../media/image196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14" Type="http://schemas.openxmlformats.org/officeDocument/2006/relationships/image" Target="../media/image19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image" Target="../media/image208.png"/><Relationship Id="rId3" Type="http://schemas.openxmlformats.org/officeDocument/2006/relationships/image" Target="../media/image198.png"/><Relationship Id="rId7" Type="http://schemas.openxmlformats.org/officeDocument/2006/relationships/image" Target="../media/image202.png"/><Relationship Id="rId12" Type="http://schemas.openxmlformats.org/officeDocument/2006/relationships/image" Target="../media/image207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11" Type="http://schemas.openxmlformats.org/officeDocument/2006/relationships/image" Target="../media/image206.png"/><Relationship Id="rId5" Type="http://schemas.openxmlformats.org/officeDocument/2006/relationships/image" Target="../media/image200.png"/><Relationship Id="rId10" Type="http://schemas.openxmlformats.org/officeDocument/2006/relationships/image" Target="../media/image205.png"/><Relationship Id="rId4" Type="http://schemas.openxmlformats.org/officeDocument/2006/relationships/image" Target="../media/image199.png"/><Relationship Id="rId9" Type="http://schemas.openxmlformats.org/officeDocument/2006/relationships/image" Target="../media/image20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7" Type="http://schemas.openxmlformats.org/officeDocument/2006/relationships/image" Target="../media/image216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.png"/><Relationship Id="rId5" Type="http://schemas.openxmlformats.org/officeDocument/2006/relationships/image" Target="../media/image214.png"/><Relationship Id="rId4" Type="http://schemas.openxmlformats.org/officeDocument/2006/relationships/image" Target="../media/image2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727" y="2482418"/>
            <a:ext cx="6501130" cy="13106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99060" algn="ctr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</a:rPr>
              <a:t>Innovation</a:t>
            </a:r>
            <a:r>
              <a:rPr sz="4400" spc="-125" dirty="0">
                <a:solidFill>
                  <a:srgbClr val="FFFFFF"/>
                </a:solidFill>
              </a:rPr>
              <a:t> </a:t>
            </a:r>
            <a:r>
              <a:rPr sz="4400" dirty="0">
                <a:solidFill>
                  <a:srgbClr val="FFFFFF"/>
                </a:solidFill>
              </a:rPr>
              <a:t>that</a:t>
            </a:r>
            <a:r>
              <a:rPr sz="4400" spc="-110" dirty="0">
                <a:solidFill>
                  <a:srgbClr val="FFFFFF"/>
                </a:solidFill>
              </a:rPr>
              <a:t> </a:t>
            </a:r>
            <a:r>
              <a:rPr sz="4400" spc="-10" dirty="0">
                <a:solidFill>
                  <a:srgbClr val="FFFFFF"/>
                </a:solidFill>
              </a:rPr>
              <a:t>Matters</a:t>
            </a:r>
            <a:endParaRPr sz="4400" dirty="0"/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4000" spc="-10" dirty="0">
                <a:solidFill>
                  <a:schemeClr val="accent6"/>
                </a:solidFill>
              </a:rPr>
              <a:t>Energizing</a:t>
            </a:r>
            <a:r>
              <a:rPr sz="4000" spc="-95" dirty="0">
                <a:solidFill>
                  <a:schemeClr val="accent6"/>
                </a:solidFill>
              </a:rPr>
              <a:t> </a:t>
            </a:r>
            <a:r>
              <a:rPr sz="4000" dirty="0">
                <a:solidFill>
                  <a:schemeClr val="accent6"/>
                </a:solidFill>
              </a:rPr>
              <a:t>the</a:t>
            </a:r>
            <a:r>
              <a:rPr sz="4000" spc="-125" dirty="0">
                <a:solidFill>
                  <a:schemeClr val="accent6"/>
                </a:solidFill>
              </a:rPr>
              <a:t> </a:t>
            </a:r>
            <a:r>
              <a:rPr sz="4000" dirty="0">
                <a:solidFill>
                  <a:schemeClr val="accent6"/>
                </a:solidFill>
              </a:rPr>
              <a:t>Digital</a:t>
            </a:r>
            <a:r>
              <a:rPr sz="4000" spc="-105" dirty="0">
                <a:solidFill>
                  <a:schemeClr val="accent6"/>
                </a:solidFill>
              </a:rPr>
              <a:t> </a:t>
            </a:r>
            <a:r>
              <a:rPr sz="4000" spc="-10" dirty="0">
                <a:solidFill>
                  <a:schemeClr val="accent6"/>
                </a:solidFill>
              </a:rPr>
              <a:t>Economy</a:t>
            </a:r>
            <a:endParaRPr sz="4000" dirty="0">
              <a:solidFill>
                <a:schemeClr val="accent6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1231" y="0"/>
            <a:ext cx="1572768" cy="646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0778" y="143599"/>
            <a:ext cx="7572755" cy="3827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5"/>
              </a:spcBef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  </a:t>
            </a:r>
            <a:r>
              <a:rPr sz="2400" dirty="0">
                <a:solidFill>
                  <a:schemeClr val="bg1"/>
                </a:solidFill>
                <a:latin typeface="+mj-lt"/>
              </a:rPr>
              <a:t>Brief</a:t>
            </a:r>
            <a:r>
              <a:rPr sz="2400" spc="-10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Profile</a:t>
            </a:r>
            <a:endParaRPr sz="24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24621" y="1408283"/>
            <a:ext cx="6724650" cy="2429510"/>
            <a:chOff x="1924621" y="1214627"/>
            <a:chExt cx="6724650" cy="2429510"/>
          </a:xfrm>
        </p:grpSpPr>
        <p:sp>
          <p:nvSpPr>
            <p:cNvPr id="4" name="object 4"/>
            <p:cNvSpPr/>
            <p:nvPr/>
          </p:nvSpPr>
          <p:spPr>
            <a:xfrm>
              <a:off x="1929383" y="2808731"/>
              <a:ext cx="5253355" cy="638810"/>
            </a:xfrm>
            <a:custGeom>
              <a:avLst/>
              <a:gdLst/>
              <a:ahLst/>
              <a:cxnLst/>
              <a:rect l="l" t="t" r="r" b="b"/>
              <a:pathLst>
                <a:path w="5253355" h="638810">
                  <a:moveTo>
                    <a:pt x="0" y="638556"/>
                  </a:moveTo>
                  <a:lnTo>
                    <a:pt x="1883918" y="638556"/>
                  </a:lnTo>
                  <a:lnTo>
                    <a:pt x="2743454" y="0"/>
                  </a:lnTo>
                  <a:lnTo>
                    <a:pt x="5253228" y="31368"/>
                  </a:lnTo>
                </a:path>
              </a:pathLst>
            </a:custGeom>
            <a:ln w="914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929383" y="2214372"/>
              <a:ext cx="6634480" cy="870585"/>
            </a:xfrm>
            <a:custGeom>
              <a:avLst/>
              <a:gdLst/>
              <a:ahLst/>
              <a:cxnLst/>
              <a:rect l="l" t="t" r="r" b="b"/>
              <a:pathLst>
                <a:path w="6634480" h="870585">
                  <a:moveTo>
                    <a:pt x="0" y="0"/>
                  </a:moveTo>
                  <a:lnTo>
                    <a:pt x="1707514" y="0"/>
                  </a:lnTo>
                  <a:lnTo>
                    <a:pt x="2951988" y="848233"/>
                  </a:lnTo>
                  <a:lnTo>
                    <a:pt x="6633972" y="870204"/>
                  </a:lnTo>
                </a:path>
              </a:pathLst>
            </a:custGeom>
            <a:ln w="914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999487" y="1807463"/>
              <a:ext cx="6644640" cy="826135"/>
            </a:xfrm>
            <a:custGeom>
              <a:avLst/>
              <a:gdLst/>
              <a:ahLst/>
              <a:cxnLst/>
              <a:rect l="l" t="t" r="r" b="b"/>
              <a:pathLst>
                <a:path w="6644640" h="826135">
                  <a:moveTo>
                    <a:pt x="0" y="826008"/>
                  </a:moveTo>
                  <a:lnTo>
                    <a:pt x="3487166" y="826008"/>
                  </a:lnTo>
                  <a:lnTo>
                    <a:pt x="4268216" y="0"/>
                  </a:lnTo>
                  <a:lnTo>
                    <a:pt x="6644640" y="0"/>
                  </a:lnTo>
                </a:path>
              </a:pathLst>
            </a:custGeom>
            <a:ln w="9143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214371" y="1427987"/>
              <a:ext cx="5786755" cy="948055"/>
            </a:xfrm>
            <a:custGeom>
              <a:avLst/>
              <a:gdLst/>
              <a:ahLst/>
              <a:cxnLst/>
              <a:rect l="l" t="t" r="r" b="b"/>
              <a:pathLst>
                <a:path w="5786755" h="948055">
                  <a:moveTo>
                    <a:pt x="0" y="947928"/>
                  </a:moveTo>
                  <a:lnTo>
                    <a:pt x="329311" y="947928"/>
                  </a:lnTo>
                  <a:lnTo>
                    <a:pt x="616204" y="946023"/>
                  </a:lnTo>
                  <a:lnTo>
                    <a:pt x="1208532" y="11049"/>
                  </a:lnTo>
                  <a:lnTo>
                    <a:pt x="5786628" y="0"/>
                  </a:lnTo>
                </a:path>
              </a:pathLst>
            </a:custGeom>
            <a:ln w="914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42616" y="1214627"/>
              <a:ext cx="4787265" cy="2429510"/>
            </a:xfrm>
            <a:custGeom>
              <a:avLst/>
              <a:gdLst/>
              <a:ahLst/>
              <a:cxnLst/>
              <a:rect l="l" t="t" r="r" b="b"/>
              <a:pathLst>
                <a:path w="4787265" h="2429510">
                  <a:moveTo>
                    <a:pt x="358140" y="2250186"/>
                  </a:moveTo>
                  <a:lnTo>
                    <a:pt x="351739" y="2202573"/>
                  </a:lnTo>
                  <a:lnTo>
                    <a:pt x="333692" y="2159800"/>
                  </a:lnTo>
                  <a:lnTo>
                    <a:pt x="305701" y="2123554"/>
                  </a:lnTo>
                  <a:lnTo>
                    <a:pt x="269455" y="2095563"/>
                  </a:lnTo>
                  <a:lnTo>
                    <a:pt x="226682" y="2077516"/>
                  </a:lnTo>
                  <a:lnTo>
                    <a:pt x="179070" y="2071116"/>
                  </a:lnTo>
                  <a:lnTo>
                    <a:pt x="131445" y="2077516"/>
                  </a:lnTo>
                  <a:lnTo>
                    <a:pt x="88671" y="2095563"/>
                  </a:lnTo>
                  <a:lnTo>
                    <a:pt x="52425" y="2123554"/>
                  </a:lnTo>
                  <a:lnTo>
                    <a:pt x="24434" y="2159800"/>
                  </a:lnTo>
                  <a:lnTo>
                    <a:pt x="6388" y="2202573"/>
                  </a:lnTo>
                  <a:lnTo>
                    <a:pt x="0" y="2250186"/>
                  </a:lnTo>
                  <a:lnTo>
                    <a:pt x="6388" y="2297811"/>
                  </a:lnTo>
                  <a:lnTo>
                    <a:pt x="24434" y="2340584"/>
                  </a:lnTo>
                  <a:lnTo>
                    <a:pt x="52425" y="2376830"/>
                  </a:lnTo>
                  <a:lnTo>
                    <a:pt x="88671" y="2404821"/>
                  </a:lnTo>
                  <a:lnTo>
                    <a:pt x="131445" y="2422868"/>
                  </a:lnTo>
                  <a:lnTo>
                    <a:pt x="179070" y="2429256"/>
                  </a:lnTo>
                  <a:lnTo>
                    <a:pt x="226682" y="2422868"/>
                  </a:lnTo>
                  <a:lnTo>
                    <a:pt x="269455" y="2404821"/>
                  </a:lnTo>
                  <a:lnTo>
                    <a:pt x="305701" y="2376830"/>
                  </a:lnTo>
                  <a:lnTo>
                    <a:pt x="333692" y="2340584"/>
                  </a:lnTo>
                  <a:lnTo>
                    <a:pt x="351739" y="2297811"/>
                  </a:lnTo>
                  <a:lnTo>
                    <a:pt x="358140" y="2250186"/>
                  </a:lnTo>
                  <a:close/>
                </a:path>
                <a:path w="4787265" h="2429510">
                  <a:moveTo>
                    <a:pt x="1130808" y="982980"/>
                  </a:moveTo>
                  <a:lnTo>
                    <a:pt x="1124432" y="935609"/>
                  </a:lnTo>
                  <a:lnTo>
                    <a:pt x="1106449" y="893013"/>
                  </a:lnTo>
                  <a:lnTo>
                    <a:pt x="1078560" y="856919"/>
                  </a:lnTo>
                  <a:lnTo>
                    <a:pt x="1042466" y="829030"/>
                  </a:lnTo>
                  <a:lnTo>
                    <a:pt x="999871" y="811047"/>
                  </a:lnTo>
                  <a:lnTo>
                    <a:pt x="952500" y="804672"/>
                  </a:lnTo>
                  <a:lnTo>
                    <a:pt x="905116" y="811047"/>
                  </a:lnTo>
                  <a:lnTo>
                    <a:pt x="862520" y="829030"/>
                  </a:lnTo>
                  <a:lnTo>
                    <a:pt x="826427" y="856919"/>
                  </a:lnTo>
                  <a:lnTo>
                    <a:pt x="798537" y="893013"/>
                  </a:lnTo>
                  <a:lnTo>
                    <a:pt x="780554" y="935609"/>
                  </a:lnTo>
                  <a:lnTo>
                    <a:pt x="774192" y="982980"/>
                  </a:lnTo>
                  <a:lnTo>
                    <a:pt x="780554" y="1030363"/>
                  </a:lnTo>
                  <a:lnTo>
                    <a:pt x="798537" y="1072959"/>
                  </a:lnTo>
                  <a:lnTo>
                    <a:pt x="826427" y="1109052"/>
                  </a:lnTo>
                  <a:lnTo>
                    <a:pt x="862520" y="1136942"/>
                  </a:lnTo>
                  <a:lnTo>
                    <a:pt x="905116" y="1154925"/>
                  </a:lnTo>
                  <a:lnTo>
                    <a:pt x="952500" y="1161288"/>
                  </a:lnTo>
                  <a:lnTo>
                    <a:pt x="999871" y="1154925"/>
                  </a:lnTo>
                  <a:lnTo>
                    <a:pt x="1042466" y="1136942"/>
                  </a:lnTo>
                  <a:lnTo>
                    <a:pt x="1078560" y="1109052"/>
                  </a:lnTo>
                  <a:lnTo>
                    <a:pt x="1106449" y="1072959"/>
                  </a:lnTo>
                  <a:lnTo>
                    <a:pt x="1124432" y="1030363"/>
                  </a:lnTo>
                  <a:lnTo>
                    <a:pt x="1130808" y="982980"/>
                  </a:lnTo>
                  <a:close/>
                </a:path>
                <a:path w="4787265" h="2429510">
                  <a:moveTo>
                    <a:pt x="3787140" y="178308"/>
                  </a:moveTo>
                  <a:lnTo>
                    <a:pt x="3780739" y="130937"/>
                  </a:lnTo>
                  <a:lnTo>
                    <a:pt x="3762692" y="88341"/>
                  </a:lnTo>
                  <a:lnTo>
                    <a:pt x="3734701" y="52247"/>
                  </a:lnTo>
                  <a:lnTo>
                    <a:pt x="3698456" y="24358"/>
                  </a:lnTo>
                  <a:lnTo>
                    <a:pt x="3655682" y="6375"/>
                  </a:lnTo>
                  <a:lnTo>
                    <a:pt x="3608070" y="0"/>
                  </a:lnTo>
                  <a:lnTo>
                    <a:pt x="3560445" y="6375"/>
                  </a:lnTo>
                  <a:lnTo>
                    <a:pt x="3517671" y="24358"/>
                  </a:lnTo>
                  <a:lnTo>
                    <a:pt x="3481425" y="52247"/>
                  </a:lnTo>
                  <a:lnTo>
                    <a:pt x="3453434" y="88341"/>
                  </a:lnTo>
                  <a:lnTo>
                    <a:pt x="3435388" y="130937"/>
                  </a:lnTo>
                  <a:lnTo>
                    <a:pt x="3429000" y="178308"/>
                  </a:lnTo>
                  <a:lnTo>
                    <a:pt x="3435388" y="225691"/>
                  </a:lnTo>
                  <a:lnTo>
                    <a:pt x="3453434" y="268287"/>
                  </a:lnTo>
                  <a:lnTo>
                    <a:pt x="3481425" y="304380"/>
                  </a:lnTo>
                  <a:lnTo>
                    <a:pt x="3517671" y="332270"/>
                  </a:lnTo>
                  <a:lnTo>
                    <a:pt x="3560445" y="350253"/>
                  </a:lnTo>
                  <a:lnTo>
                    <a:pt x="3608070" y="356616"/>
                  </a:lnTo>
                  <a:lnTo>
                    <a:pt x="3655682" y="350253"/>
                  </a:lnTo>
                  <a:lnTo>
                    <a:pt x="3698456" y="332270"/>
                  </a:lnTo>
                  <a:lnTo>
                    <a:pt x="3734701" y="304380"/>
                  </a:lnTo>
                  <a:lnTo>
                    <a:pt x="3762692" y="268287"/>
                  </a:lnTo>
                  <a:lnTo>
                    <a:pt x="3780739" y="225691"/>
                  </a:lnTo>
                  <a:lnTo>
                    <a:pt x="3787140" y="178308"/>
                  </a:lnTo>
                  <a:close/>
                </a:path>
                <a:path w="4787265" h="2429510">
                  <a:moveTo>
                    <a:pt x="4786884" y="606552"/>
                  </a:moveTo>
                  <a:lnTo>
                    <a:pt x="4780508" y="559181"/>
                  </a:lnTo>
                  <a:lnTo>
                    <a:pt x="4762525" y="516585"/>
                  </a:lnTo>
                  <a:lnTo>
                    <a:pt x="4734636" y="480491"/>
                  </a:lnTo>
                  <a:lnTo>
                    <a:pt x="4698543" y="452602"/>
                  </a:lnTo>
                  <a:lnTo>
                    <a:pt x="4655947" y="434619"/>
                  </a:lnTo>
                  <a:lnTo>
                    <a:pt x="4608576" y="428244"/>
                  </a:lnTo>
                  <a:lnTo>
                    <a:pt x="4561192" y="434619"/>
                  </a:lnTo>
                  <a:lnTo>
                    <a:pt x="4518596" y="452602"/>
                  </a:lnTo>
                  <a:lnTo>
                    <a:pt x="4482503" y="480491"/>
                  </a:lnTo>
                  <a:lnTo>
                    <a:pt x="4454614" y="516585"/>
                  </a:lnTo>
                  <a:lnTo>
                    <a:pt x="4436630" y="559181"/>
                  </a:lnTo>
                  <a:lnTo>
                    <a:pt x="4430268" y="606552"/>
                  </a:lnTo>
                  <a:lnTo>
                    <a:pt x="4436630" y="653935"/>
                  </a:lnTo>
                  <a:lnTo>
                    <a:pt x="4454614" y="696531"/>
                  </a:lnTo>
                  <a:lnTo>
                    <a:pt x="4482503" y="732624"/>
                  </a:lnTo>
                  <a:lnTo>
                    <a:pt x="4518596" y="760514"/>
                  </a:lnTo>
                  <a:lnTo>
                    <a:pt x="4561192" y="778497"/>
                  </a:lnTo>
                  <a:lnTo>
                    <a:pt x="4608576" y="784860"/>
                  </a:lnTo>
                  <a:lnTo>
                    <a:pt x="4655947" y="778497"/>
                  </a:lnTo>
                  <a:lnTo>
                    <a:pt x="4698543" y="760514"/>
                  </a:lnTo>
                  <a:lnTo>
                    <a:pt x="4734636" y="732624"/>
                  </a:lnTo>
                  <a:lnTo>
                    <a:pt x="4762525" y="696531"/>
                  </a:lnTo>
                  <a:lnTo>
                    <a:pt x="4780508" y="653935"/>
                  </a:lnTo>
                  <a:lnTo>
                    <a:pt x="4786884" y="606552"/>
                  </a:lnTo>
                  <a:close/>
                </a:path>
              </a:pathLst>
            </a:custGeom>
            <a:solidFill>
              <a:srgbClr val="16375E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02994" y="3862051"/>
            <a:ext cx="47294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+mj-lt"/>
                <a:cs typeface="Calibri"/>
              </a:rPr>
              <a:t>Certified</a:t>
            </a:r>
            <a:r>
              <a:rPr sz="1050" spc="-45" dirty="0"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E36C09"/>
                </a:solidFill>
                <a:latin typeface="+mj-lt"/>
                <a:cs typeface="Calibri"/>
              </a:rPr>
              <a:t>CMMI</a:t>
            </a:r>
            <a:r>
              <a:rPr sz="1100" b="1" spc="-20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E36C09"/>
                </a:solidFill>
                <a:latin typeface="+mj-lt"/>
                <a:cs typeface="Calibri"/>
              </a:rPr>
              <a:t>Level</a:t>
            </a:r>
            <a:r>
              <a:rPr sz="1100" b="1" spc="-30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E36C09"/>
                </a:solidFill>
                <a:latin typeface="+mj-lt"/>
                <a:cs typeface="Calibri"/>
              </a:rPr>
              <a:t>5,</a:t>
            </a:r>
            <a:r>
              <a:rPr sz="1100" b="1" spc="-5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E36C09"/>
                </a:solidFill>
                <a:latin typeface="+mj-lt"/>
                <a:cs typeface="Calibri"/>
              </a:rPr>
              <a:t>ISO</a:t>
            </a:r>
            <a:r>
              <a:rPr sz="1100" b="1" spc="-20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E36C09"/>
                </a:solidFill>
                <a:latin typeface="+mj-lt"/>
                <a:cs typeface="Calibri"/>
              </a:rPr>
              <a:t>9001,</a:t>
            </a:r>
            <a:r>
              <a:rPr sz="1100" b="1" spc="-25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E36C09"/>
                </a:solidFill>
                <a:latin typeface="+mj-lt"/>
                <a:cs typeface="Calibri"/>
              </a:rPr>
              <a:t>ISO</a:t>
            </a:r>
            <a:r>
              <a:rPr sz="1100" b="1" spc="-20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E36C09"/>
                </a:solidFill>
                <a:latin typeface="+mj-lt"/>
                <a:cs typeface="Calibri"/>
              </a:rPr>
              <a:t>20000,</a:t>
            </a:r>
            <a:r>
              <a:rPr sz="1100" b="1" spc="-25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E36C09"/>
                </a:solidFill>
                <a:latin typeface="+mj-lt"/>
                <a:cs typeface="Calibri"/>
              </a:rPr>
              <a:t>ISO</a:t>
            </a:r>
            <a:r>
              <a:rPr sz="1100" b="1" spc="-20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E36C09"/>
                </a:solidFill>
                <a:latin typeface="+mj-lt"/>
                <a:cs typeface="Calibri"/>
              </a:rPr>
              <a:t>27001,</a:t>
            </a:r>
            <a:r>
              <a:rPr sz="1100" b="1" spc="-25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E36C09"/>
                </a:solidFill>
                <a:latin typeface="+mj-lt"/>
                <a:cs typeface="Calibri"/>
              </a:rPr>
              <a:t>ISO</a:t>
            </a:r>
            <a:r>
              <a:rPr sz="1100" b="1" spc="-20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E36C09"/>
                </a:solidFill>
                <a:latin typeface="+mj-lt"/>
                <a:cs typeface="Calibri"/>
              </a:rPr>
              <a:t>14000</a:t>
            </a:r>
            <a:r>
              <a:rPr sz="1100" b="1" spc="-20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E36C09"/>
                </a:solidFill>
                <a:latin typeface="+mj-lt"/>
                <a:cs typeface="Calibri"/>
              </a:rPr>
              <a:t>and</a:t>
            </a:r>
            <a:r>
              <a:rPr sz="1100" b="1" spc="-30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E36C09"/>
                </a:solidFill>
                <a:latin typeface="+mj-lt"/>
                <a:cs typeface="Calibri"/>
              </a:rPr>
              <a:t>ISO</a:t>
            </a:r>
            <a:r>
              <a:rPr sz="1100" b="1" spc="-20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100" b="1" spc="-10" dirty="0">
                <a:solidFill>
                  <a:srgbClr val="E36C09"/>
                </a:solidFill>
                <a:latin typeface="+mj-lt"/>
                <a:cs typeface="Calibri"/>
              </a:rPr>
              <a:t>45000</a:t>
            </a:r>
            <a:endParaRPr sz="1100">
              <a:latin typeface="+mj-lt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14244" y="1479911"/>
            <a:ext cx="3644265" cy="2291080"/>
            <a:chOff x="2714244" y="1286255"/>
            <a:chExt cx="3644265" cy="229108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4244" y="3357372"/>
              <a:ext cx="214883" cy="2194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3244" y="1286255"/>
              <a:ext cx="214884" cy="2133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0627" y="2081783"/>
              <a:ext cx="167639" cy="21336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509131" y="1005185"/>
            <a:ext cx="155321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E36C09"/>
                </a:solidFill>
                <a:latin typeface="+mj-lt"/>
                <a:cs typeface="Calibri"/>
              </a:rPr>
              <a:t>4500+</a:t>
            </a:r>
            <a:r>
              <a:rPr sz="1000" b="1" spc="-5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people</a:t>
            </a:r>
            <a:r>
              <a:rPr sz="1000" spc="-35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apply</a:t>
            </a:r>
            <a:r>
              <a:rPr sz="1000" spc="-45" dirty="0">
                <a:latin typeface="+mj-lt"/>
                <a:cs typeface="Calibri"/>
              </a:rPr>
              <a:t> </a:t>
            </a:r>
            <a:r>
              <a:rPr sz="1000" spc="-10" dirty="0">
                <a:latin typeface="+mj-lt"/>
                <a:cs typeface="Calibri"/>
              </a:rPr>
              <a:t>insights</a:t>
            </a:r>
            <a:r>
              <a:rPr sz="1000" spc="500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to</a:t>
            </a:r>
            <a:r>
              <a:rPr sz="1000" spc="-30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create</a:t>
            </a:r>
            <a:r>
              <a:rPr sz="1000" spc="-25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innovative</a:t>
            </a:r>
            <a:r>
              <a:rPr sz="1000" spc="-35" dirty="0">
                <a:latin typeface="+mj-lt"/>
                <a:cs typeface="Calibri"/>
              </a:rPr>
              <a:t> </a:t>
            </a:r>
            <a:r>
              <a:rPr sz="1000" spc="-10" dirty="0">
                <a:latin typeface="+mj-lt"/>
                <a:cs typeface="Calibri"/>
              </a:rPr>
              <a:t>solutions </a:t>
            </a:r>
            <a:r>
              <a:rPr sz="1000" dirty="0">
                <a:latin typeface="+mj-lt"/>
                <a:cs typeface="Calibri"/>
              </a:rPr>
              <a:t>to</a:t>
            </a:r>
            <a:r>
              <a:rPr sz="1000" spc="-25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your</a:t>
            </a:r>
            <a:r>
              <a:rPr sz="1000" spc="-30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business</a:t>
            </a:r>
            <a:r>
              <a:rPr sz="1000" spc="-30" dirty="0">
                <a:latin typeface="+mj-lt"/>
                <a:cs typeface="Calibri"/>
              </a:rPr>
              <a:t> </a:t>
            </a:r>
            <a:r>
              <a:rPr sz="1000" spc="-20" dirty="0">
                <a:latin typeface="+mj-lt"/>
                <a:cs typeface="Calibri"/>
              </a:rPr>
              <a:t>needs</a:t>
            </a:r>
            <a:endParaRPr sz="1000">
              <a:latin typeface="+mj-lt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09440" y="1758042"/>
            <a:ext cx="1926589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+mj-lt"/>
                <a:cs typeface="Calibri"/>
              </a:rPr>
              <a:t>For</a:t>
            </a:r>
            <a:r>
              <a:rPr sz="1000" spc="-15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close</a:t>
            </a:r>
            <a:r>
              <a:rPr sz="1000" spc="-10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to</a:t>
            </a:r>
            <a:r>
              <a:rPr sz="1000" spc="-15" dirty="0">
                <a:latin typeface="+mj-lt"/>
                <a:cs typeface="Calibri"/>
              </a:rPr>
              <a:t> </a:t>
            </a:r>
            <a:r>
              <a:rPr sz="1000" b="1" dirty="0">
                <a:solidFill>
                  <a:srgbClr val="E36C09"/>
                </a:solidFill>
                <a:latin typeface="+mj-lt"/>
                <a:cs typeface="Calibri"/>
              </a:rPr>
              <a:t>four</a:t>
            </a:r>
            <a:r>
              <a:rPr sz="1000" b="1" spc="-25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000" b="1" dirty="0">
                <a:solidFill>
                  <a:srgbClr val="E36C09"/>
                </a:solidFill>
                <a:latin typeface="+mj-lt"/>
                <a:cs typeface="Calibri"/>
              </a:rPr>
              <a:t>decades</a:t>
            </a:r>
            <a:r>
              <a:rPr sz="1000" dirty="0">
                <a:solidFill>
                  <a:srgbClr val="252525"/>
                </a:solidFill>
                <a:latin typeface="+mj-lt"/>
                <a:cs typeface="Calibri"/>
              </a:rPr>
              <a:t>,</a:t>
            </a:r>
            <a:r>
              <a:rPr sz="1000" spc="-35" dirty="0">
                <a:solidFill>
                  <a:srgbClr val="252525"/>
                </a:solidFill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we</a:t>
            </a:r>
            <a:r>
              <a:rPr sz="1000" spc="-10" dirty="0">
                <a:latin typeface="+mj-lt"/>
                <a:cs typeface="Calibri"/>
              </a:rPr>
              <a:t> </a:t>
            </a:r>
            <a:r>
              <a:rPr sz="1000" spc="-20" dirty="0">
                <a:latin typeface="+mj-lt"/>
                <a:cs typeface="Calibri"/>
              </a:rPr>
              <a:t>have </a:t>
            </a:r>
            <a:r>
              <a:rPr sz="1000" dirty="0">
                <a:latin typeface="+mj-lt"/>
                <a:cs typeface="Calibri"/>
              </a:rPr>
              <a:t>been</a:t>
            </a:r>
            <a:r>
              <a:rPr sz="1000" spc="30" dirty="0">
                <a:latin typeface="+mj-lt"/>
                <a:cs typeface="Calibri"/>
              </a:rPr>
              <a:t> </a:t>
            </a:r>
            <a:r>
              <a:rPr sz="1000" spc="-10" dirty="0">
                <a:latin typeface="+mj-lt"/>
                <a:cs typeface="Calibri"/>
              </a:rPr>
              <a:t>successfully</a:t>
            </a:r>
            <a:r>
              <a:rPr sz="1000" spc="20" dirty="0">
                <a:latin typeface="+mj-lt"/>
                <a:cs typeface="Calibri"/>
              </a:rPr>
              <a:t> </a:t>
            </a:r>
            <a:r>
              <a:rPr sz="1000" spc="-10" dirty="0">
                <a:latin typeface="+mj-lt"/>
                <a:cs typeface="Calibri"/>
              </a:rPr>
              <a:t>integrating</a:t>
            </a:r>
            <a:r>
              <a:rPr sz="1000" spc="30" dirty="0">
                <a:latin typeface="+mj-lt"/>
                <a:cs typeface="Calibri"/>
              </a:rPr>
              <a:t> </a:t>
            </a:r>
            <a:r>
              <a:rPr sz="1000" spc="-10" dirty="0">
                <a:latin typeface="+mj-lt"/>
                <a:cs typeface="Calibri"/>
              </a:rPr>
              <a:t>people, </a:t>
            </a:r>
            <a:r>
              <a:rPr sz="1000" dirty="0">
                <a:latin typeface="+mj-lt"/>
                <a:cs typeface="Calibri"/>
              </a:rPr>
              <a:t>business</a:t>
            </a:r>
            <a:r>
              <a:rPr sz="1000" spc="-40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and</a:t>
            </a:r>
            <a:r>
              <a:rPr sz="1000" spc="-35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technology</a:t>
            </a:r>
            <a:r>
              <a:rPr sz="1000" spc="-30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to</a:t>
            </a:r>
            <a:r>
              <a:rPr sz="1000" spc="-30" dirty="0">
                <a:latin typeface="+mj-lt"/>
                <a:cs typeface="Calibri"/>
              </a:rPr>
              <a:t> </a:t>
            </a:r>
            <a:r>
              <a:rPr sz="1000" spc="-10" dirty="0">
                <a:latin typeface="+mj-lt"/>
                <a:cs typeface="Calibri"/>
              </a:rPr>
              <a:t>create </a:t>
            </a:r>
            <a:r>
              <a:rPr sz="1000" dirty="0">
                <a:latin typeface="+mj-lt"/>
                <a:cs typeface="Calibri"/>
              </a:rPr>
              <a:t>effective,</a:t>
            </a:r>
            <a:r>
              <a:rPr sz="1000" spc="25" dirty="0">
                <a:latin typeface="+mj-lt"/>
                <a:cs typeface="Calibri"/>
              </a:rPr>
              <a:t> </a:t>
            </a:r>
            <a:r>
              <a:rPr sz="1000" spc="-10" dirty="0">
                <a:latin typeface="+mj-lt"/>
                <a:cs typeface="Calibri"/>
              </a:rPr>
              <a:t>sustainable</a:t>
            </a:r>
            <a:r>
              <a:rPr sz="1000" spc="-15" dirty="0">
                <a:latin typeface="+mj-lt"/>
                <a:cs typeface="Calibri"/>
              </a:rPr>
              <a:t> </a:t>
            </a:r>
            <a:r>
              <a:rPr sz="1000" spc="-10" dirty="0">
                <a:latin typeface="+mj-lt"/>
                <a:cs typeface="Calibri"/>
              </a:rPr>
              <a:t>business ecosystems</a:t>
            </a:r>
            <a:endParaRPr sz="1000">
              <a:latin typeface="+mj-lt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44511" y="1908156"/>
            <a:ext cx="213359" cy="21488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223253" y="2203557"/>
            <a:ext cx="2409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+mj-lt"/>
                <a:cs typeface="Calibri"/>
              </a:rPr>
              <a:t>We</a:t>
            </a:r>
            <a:r>
              <a:rPr sz="1000" spc="-15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deliver</a:t>
            </a:r>
            <a:r>
              <a:rPr sz="1000" spc="-5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business</a:t>
            </a:r>
            <a:r>
              <a:rPr sz="1000" spc="-10" dirty="0">
                <a:latin typeface="+mj-lt"/>
                <a:cs typeface="Calibri"/>
              </a:rPr>
              <a:t> consulting,</a:t>
            </a:r>
            <a:r>
              <a:rPr sz="1000" spc="-20" dirty="0">
                <a:latin typeface="+mj-lt"/>
                <a:cs typeface="Calibri"/>
              </a:rPr>
              <a:t> </a:t>
            </a:r>
            <a:r>
              <a:rPr sz="1000" spc="-10" dirty="0">
                <a:latin typeface="+mj-lt"/>
                <a:cs typeface="Calibri"/>
              </a:rPr>
              <a:t>systems integration,</a:t>
            </a:r>
            <a:r>
              <a:rPr sz="1000" dirty="0">
                <a:latin typeface="+mj-lt"/>
                <a:cs typeface="Calibri"/>
              </a:rPr>
              <a:t> IT</a:t>
            </a:r>
            <a:r>
              <a:rPr sz="1000" spc="-10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solutions</a:t>
            </a:r>
            <a:r>
              <a:rPr sz="1000" spc="-10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and</a:t>
            </a:r>
            <a:r>
              <a:rPr sz="1000" spc="-10" dirty="0">
                <a:latin typeface="+mj-lt"/>
                <a:cs typeface="Calibri"/>
              </a:rPr>
              <a:t> Internet</a:t>
            </a:r>
            <a:r>
              <a:rPr sz="1000" dirty="0">
                <a:latin typeface="+mj-lt"/>
                <a:cs typeface="Calibri"/>
              </a:rPr>
              <a:t> of</a:t>
            </a:r>
            <a:r>
              <a:rPr sz="1000" spc="-5" dirty="0">
                <a:latin typeface="+mj-lt"/>
                <a:cs typeface="Calibri"/>
              </a:rPr>
              <a:t> </a:t>
            </a:r>
            <a:r>
              <a:rPr sz="1000" spc="-10" dirty="0">
                <a:latin typeface="+mj-lt"/>
                <a:cs typeface="Calibri"/>
              </a:rPr>
              <a:t>Things </a:t>
            </a:r>
            <a:r>
              <a:rPr sz="1000" dirty="0">
                <a:latin typeface="+mj-lt"/>
                <a:cs typeface="Calibri"/>
              </a:rPr>
              <a:t>(IoT)</a:t>
            </a:r>
            <a:r>
              <a:rPr sz="1000" spc="-30" dirty="0">
                <a:latin typeface="+mj-lt"/>
                <a:cs typeface="Calibri"/>
              </a:rPr>
              <a:t> </a:t>
            </a:r>
            <a:r>
              <a:rPr sz="1000" spc="-10" dirty="0">
                <a:latin typeface="+mj-lt"/>
                <a:cs typeface="Calibri"/>
              </a:rPr>
              <a:t>expertise</a:t>
            </a:r>
            <a:r>
              <a:rPr sz="1000" spc="-5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across</a:t>
            </a:r>
            <a:r>
              <a:rPr sz="1000" spc="-25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industries</a:t>
            </a:r>
            <a:r>
              <a:rPr sz="1000" spc="-15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and</a:t>
            </a:r>
            <a:r>
              <a:rPr sz="1000" spc="-40" dirty="0">
                <a:latin typeface="+mj-lt"/>
                <a:cs typeface="Calibri"/>
              </a:rPr>
              <a:t> </a:t>
            </a:r>
            <a:r>
              <a:rPr sz="1000" spc="-10" dirty="0">
                <a:latin typeface="+mj-lt"/>
                <a:cs typeface="Calibri"/>
              </a:rPr>
              <a:t>business functions</a:t>
            </a:r>
            <a:endParaRPr sz="1000">
              <a:latin typeface="+mj-lt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66130" y="3291693"/>
            <a:ext cx="12706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+mj-lt"/>
                <a:cs typeface="Calibri"/>
              </a:rPr>
              <a:t>Uninterrupted</a:t>
            </a:r>
            <a:r>
              <a:rPr sz="1000" spc="-5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record</a:t>
            </a:r>
            <a:r>
              <a:rPr sz="1000" spc="15" dirty="0">
                <a:latin typeface="+mj-lt"/>
                <a:cs typeface="Calibri"/>
              </a:rPr>
              <a:t> </a:t>
            </a:r>
            <a:r>
              <a:rPr sz="1000" spc="-25" dirty="0">
                <a:latin typeface="+mj-lt"/>
                <a:cs typeface="Calibri"/>
              </a:rPr>
              <a:t>of</a:t>
            </a:r>
            <a:endParaRPr sz="1000">
              <a:latin typeface="+mj-lt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solidFill>
                  <a:srgbClr val="E36C09"/>
                </a:solidFill>
                <a:latin typeface="+mj-lt"/>
                <a:cs typeface="Calibri"/>
              </a:rPr>
              <a:t>profitable</a:t>
            </a:r>
            <a:r>
              <a:rPr sz="1000" b="1" spc="-55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000" b="1" spc="-10" dirty="0">
                <a:solidFill>
                  <a:srgbClr val="E36C09"/>
                </a:solidFill>
                <a:latin typeface="+mj-lt"/>
                <a:cs typeface="Calibri"/>
              </a:rPr>
              <a:t>growth</a:t>
            </a:r>
            <a:endParaRPr sz="1000">
              <a:latin typeface="+mj-lt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95007" y="3880973"/>
            <a:ext cx="1816735" cy="481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+mj-lt"/>
                <a:cs typeface="Calibri"/>
              </a:rPr>
              <a:t>Continuous</a:t>
            </a:r>
            <a:r>
              <a:rPr sz="1000" spc="-25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track</a:t>
            </a:r>
            <a:r>
              <a:rPr sz="1000" spc="-5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record</a:t>
            </a:r>
            <a:r>
              <a:rPr sz="1000" spc="-5" dirty="0">
                <a:latin typeface="+mj-lt"/>
                <a:cs typeface="Calibri"/>
              </a:rPr>
              <a:t> </a:t>
            </a:r>
            <a:r>
              <a:rPr sz="1000" spc="-25" dirty="0">
                <a:latin typeface="+mj-lt"/>
                <a:cs typeface="Calibri"/>
              </a:rPr>
              <a:t>of</a:t>
            </a:r>
            <a:r>
              <a:rPr sz="1000" dirty="0">
                <a:latin typeface="+mj-lt"/>
                <a:cs typeface="Calibri"/>
              </a:rPr>
              <a:t> innovation.</a:t>
            </a:r>
            <a:r>
              <a:rPr sz="1000" spc="160" dirty="0">
                <a:latin typeface="+mj-lt"/>
                <a:cs typeface="Calibri"/>
              </a:rPr>
              <a:t> </a:t>
            </a:r>
            <a:r>
              <a:rPr sz="1000" b="1" dirty="0">
                <a:solidFill>
                  <a:srgbClr val="E36C09"/>
                </a:solidFill>
                <a:latin typeface="+mj-lt"/>
                <a:cs typeface="Calibri"/>
              </a:rPr>
              <a:t>Dedicated</a:t>
            </a:r>
            <a:r>
              <a:rPr sz="1000" b="1" spc="-25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000" b="1" spc="-10" dirty="0">
                <a:solidFill>
                  <a:srgbClr val="E36C09"/>
                </a:solidFill>
                <a:latin typeface="+mj-lt"/>
                <a:cs typeface="Calibri"/>
              </a:rPr>
              <a:t>Product Development</a:t>
            </a:r>
            <a:r>
              <a:rPr sz="1000" b="1" spc="-15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000" b="1" dirty="0">
                <a:solidFill>
                  <a:srgbClr val="E36C09"/>
                </a:solidFill>
                <a:latin typeface="+mj-lt"/>
                <a:cs typeface="Calibri"/>
              </a:rPr>
              <a:t>Centre</a:t>
            </a:r>
            <a:r>
              <a:rPr sz="1000" b="1" spc="-10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since</a:t>
            </a:r>
            <a:r>
              <a:rPr sz="1000" spc="10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the</a:t>
            </a:r>
            <a:r>
              <a:rPr sz="1000" spc="-5" dirty="0">
                <a:latin typeface="+mj-lt"/>
                <a:cs typeface="Calibri"/>
              </a:rPr>
              <a:t> </a:t>
            </a:r>
            <a:r>
              <a:rPr sz="1000" spc="-25" dirty="0">
                <a:latin typeface="+mj-lt"/>
                <a:cs typeface="Calibri"/>
              </a:rPr>
              <a:t>90s</a:t>
            </a:r>
            <a:endParaRPr sz="1000">
              <a:latin typeface="+mj-lt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93873" y="647935"/>
            <a:ext cx="182689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+mj-lt"/>
                <a:cs typeface="Calibri"/>
              </a:rPr>
              <a:t>Established</a:t>
            </a:r>
            <a:r>
              <a:rPr sz="1000" spc="-20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in</a:t>
            </a:r>
            <a:r>
              <a:rPr sz="1000" spc="-15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1976,</a:t>
            </a:r>
            <a:r>
              <a:rPr sz="1000" spc="25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we</a:t>
            </a:r>
            <a:r>
              <a:rPr sz="1000" spc="10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are</a:t>
            </a:r>
            <a:r>
              <a:rPr sz="1000" spc="-10" dirty="0">
                <a:latin typeface="+mj-lt"/>
                <a:cs typeface="Calibri"/>
              </a:rPr>
              <a:t> </a:t>
            </a:r>
            <a:r>
              <a:rPr sz="1000" dirty="0">
                <a:latin typeface="+mj-lt"/>
                <a:cs typeface="Calibri"/>
              </a:rPr>
              <a:t>one</a:t>
            </a:r>
            <a:r>
              <a:rPr sz="1000" spc="-10" dirty="0">
                <a:latin typeface="+mj-lt"/>
                <a:cs typeface="Calibri"/>
              </a:rPr>
              <a:t> </a:t>
            </a:r>
            <a:r>
              <a:rPr sz="1000" spc="-25" dirty="0">
                <a:latin typeface="+mj-lt"/>
                <a:cs typeface="Calibri"/>
              </a:rPr>
              <a:t>of</a:t>
            </a:r>
            <a:r>
              <a:rPr sz="1000" dirty="0">
                <a:latin typeface="+mj-lt"/>
                <a:cs typeface="Calibri"/>
              </a:rPr>
              <a:t> </a:t>
            </a:r>
            <a:r>
              <a:rPr sz="1000" b="1" dirty="0">
                <a:solidFill>
                  <a:srgbClr val="E36C09"/>
                </a:solidFill>
                <a:latin typeface="+mj-lt"/>
                <a:cs typeface="Calibri"/>
              </a:rPr>
              <a:t>earliest</a:t>
            </a:r>
            <a:r>
              <a:rPr sz="1000" b="1" spc="-30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000" b="1" dirty="0">
                <a:solidFill>
                  <a:srgbClr val="E36C09"/>
                </a:solidFill>
                <a:latin typeface="+mj-lt"/>
                <a:cs typeface="Calibri"/>
              </a:rPr>
              <a:t>IT</a:t>
            </a:r>
            <a:r>
              <a:rPr sz="1000" b="1" spc="-40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000" b="1" dirty="0">
                <a:solidFill>
                  <a:srgbClr val="E36C09"/>
                </a:solidFill>
                <a:latin typeface="+mj-lt"/>
                <a:cs typeface="Calibri"/>
              </a:rPr>
              <a:t>companies</a:t>
            </a:r>
            <a:r>
              <a:rPr sz="1000" b="1" spc="-45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000" b="1" dirty="0">
                <a:solidFill>
                  <a:srgbClr val="E36C09"/>
                </a:solidFill>
                <a:latin typeface="+mj-lt"/>
                <a:cs typeface="Calibri"/>
              </a:rPr>
              <a:t>scripting</a:t>
            </a:r>
            <a:r>
              <a:rPr sz="1000" b="1" spc="-20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000" b="1" spc="-25" dirty="0">
                <a:solidFill>
                  <a:srgbClr val="E36C09"/>
                </a:solidFill>
                <a:latin typeface="+mj-lt"/>
                <a:cs typeface="Calibri"/>
              </a:rPr>
              <a:t>the</a:t>
            </a:r>
            <a:r>
              <a:rPr sz="1000" b="1" dirty="0">
                <a:solidFill>
                  <a:srgbClr val="E36C09"/>
                </a:solidFill>
                <a:latin typeface="+mj-lt"/>
                <a:cs typeface="Calibri"/>
              </a:rPr>
              <a:t> Digital</a:t>
            </a:r>
            <a:r>
              <a:rPr sz="1000" b="1" spc="-25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000" b="1" spc="-10" dirty="0">
                <a:solidFill>
                  <a:srgbClr val="E36C09"/>
                </a:solidFill>
                <a:latin typeface="+mj-lt"/>
                <a:cs typeface="Calibri"/>
              </a:rPr>
              <a:t>Story</a:t>
            </a:r>
            <a:endParaRPr sz="1000">
              <a:latin typeface="+mj-lt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29383" y="4258164"/>
            <a:ext cx="3500628" cy="507492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33349" y="1066908"/>
            <a:ext cx="8544306" cy="2842260"/>
            <a:chOff x="133349" y="873252"/>
            <a:chExt cx="8544306" cy="2842260"/>
          </a:xfrm>
        </p:grpSpPr>
        <p:sp>
          <p:nvSpPr>
            <p:cNvPr id="23" name="object 23"/>
            <p:cNvSpPr/>
            <p:nvPr/>
          </p:nvSpPr>
          <p:spPr>
            <a:xfrm>
              <a:off x="236981" y="1831086"/>
              <a:ext cx="1499870" cy="1499870"/>
            </a:xfrm>
            <a:custGeom>
              <a:avLst/>
              <a:gdLst/>
              <a:ahLst/>
              <a:cxnLst/>
              <a:rect l="l" t="t" r="r" b="b"/>
              <a:pathLst>
                <a:path w="1499870" h="1499870">
                  <a:moveTo>
                    <a:pt x="0" y="749807"/>
                  </a:moveTo>
                  <a:lnTo>
                    <a:pt x="1475" y="702384"/>
                  </a:lnTo>
                  <a:lnTo>
                    <a:pt x="5842" y="655745"/>
                  </a:lnTo>
                  <a:lnTo>
                    <a:pt x="13012" y="609979"/>
                  </a:lnTo>
                  <a:lnTo>
                    <a:pt x="22899" y="565172"/>
                  </a:lnTo>
                  <a:lnTo>
                    <a:pt x="35414" y="521413"/>
                  </a:lnTo>
                  <a:lnTo>
                    <a:pt x="50470" y="478790"/>
                  </a:lnTo>
                  <a:lnTo>
                    <a:pt x="67978" y="437390"/>
                  </a:lnTo>
                  <a:lnTo>
                    <a:pt x="87851" y="397302"/>
                  </a:lnTo>
                  <a:lnTo>
                    <a:pt x="110001" y="358612"/>
                  </a:lnTo>
                  <a:lnTo>
                    <a:pt x="134340" y="321409"/>
                  </a:lnTo>
                  <a:lnTo>
                    <a:pt x="160780" y="285780"/>
                  </a:lnTo>
                  <a:lnTo>
                    <a:pt x="189233" y="251814"/>
                  </a:lnTo>
                  <a:lnTo>
                    <a:pt x="219613" y="219598"/>
                  </a:lnTo>
                  <a:lnTo>
                    <a:pt x="251830" y="189220"/>
                  </a:lnTo>
                  <a:lnTo>
                    <a:pt x="285796" y="160768"/>
                  </a:lnTo>
                  <a:lnTo>
                    <a:pt x="321425" y="134329"/>
                  </a:lnTo>
                  <a:lnTo>
                    <a:pt x="358629" y="109992"/>
                  </a:lnTo>
                  <a:lnTo>
                    <a:pt x="397318" y="87843"/>
                  </a:lnTo>
                  <a:lnTo>
                    <a:pt x="437407" y="67972"/>
                  </a:lnTo>
                  <a:lnTo>
                    <a:pt x="478806" y="50465"/>
                  </a:lnTo>
                  <a:lnTo>
                    <a:pt x="521428" y="35411"/>
                  </a:lnTo>
                  <a:lnTo>
                    <a:pt x="565185" y="22897"/>
                  </a:lnTo>
                  <a:lnTo>
                    <a:pt x="609989" y="13011"/>
                  </a:lnTo>
                  <a:lnTo>
                    <a:pt x="655753" y="5841"/>
                  </a:lnTo>
                  <a:lnTo>
                    <a:pt x="702388" y="1474"/>
                  </a:lnTo>
                  <a:lnTo>
                    <a:pt x="749808" y="0"/>
                  </a:lnTo>
                  <a:lnTo>
                    <a:pt x="797231" y="1474"/>
                  </a:lnTo>
                  <a:lnTo>
                    <a:pt x="843870" y="5841"/>
                  </a:lnTo>
                  <a:lnTo>
                    <a:pt x="889636" y="13011"/>
                  </a:lnTo>
                  <a:lnTo>
                    <a:pt x="934443" y="22897"/>
                  </a:lnTo>
                  <a:lnTo>
                    <a:pt x="978202" y="35411"/>
                  </a:lnTo>
                  <a:lnTo>
                    <a:pt x="1020825" y="50465"/>
                  </a:lnTo>
                  <a:lnTo>
                    <a:pt x="1062225" y="67972"/>
                  </a:lnTo>
                  <a:lnTo>
                    <a:pt x="1102313" y="87843"/>
                  </a:lnTo>
                  <a:lnTo>
                    <a:pt x="1141003" y="109992"/>
                  </a:lnTo>
                  <a:lnTo>
                    <a:pt x="1178206" y="134329"/>
                  </a:lnTo>
                  <a:lnTo>
                    <a:pt x="1213835" y="160768"/>
                  </a:lnTo>
                  <a:lnTo>
                    <a:pt x="1247801" y="189220"/>
                  </a:lnTo>
                  <a:lnTo>
                    <a:pt x="1280017" y="219598"/>
                  </a:lnTo>
                  <a:lnTo>
                    <a:pt x="1310395" y="251814"/>
                  </a:lnTo>
                  <a:lnTo>
                    <a:pt x="1338847" y="285780"/>
                  </a:lnTo>
                  <a:lnTo>
                    <a:pt x="1365286" y="321409"/>
                  </a:lnTo>
                  <a:lnTo>
                    <a:pt x="1389623" y="358612"/>
                  </a:lnTo>
                  <a:lnTo>
                    <a:pt x="1411772" y="397302"/>
                  </a:lnTo>
                  <a:lnTo>
                    <a:pt x="1431643" y="437390"/>
                  </a:lnTo>
                  <a:lnTo>
                    <a:pt x="1449150" y="478790"/>
                  </a:lnTo>
                  <a:lnTo>
                    <a:pt x="1464204" y="521413"/>
                  </a:lnTo>
                  <a:lnTo>
                    <a:pt x="1476718" y="565172"/>
                  </a:lnTo>
                  <a:lnTo>
                    <a:pt x="1486604" y="609979"/>
                  </a:lnTo>
                  <a:lnTo>
                    <a:pt x="1493774" y="655745"/>
                  </a:lnTo>
                  <a:lnTo>
                    <a:pt x="1498141" y="702384"/>
                  </a:lnTo>
                  <a:lnTo>
                    <a:pt x="1499616" y="749807"/>
                  </a:lnTo>
                  <a:lnTo>
                    <a:pt x="1498141" y="797231"/>
                  </a:lnTo>
                  <a:lnTo>
                    <a:pt x="1493774" y="843870"/>
                  </a:lnTo>
                  <a:lnTo>
                    <a:pt x="1486604" y="889636"/>
                  </a:lnTo>
                  <a:lnTo>
                    <a:pt x="1476718" y="934443"/>
                  </a:lnTo>
                  <a:lnTo>
                    <a:pt x="1464204" y="978202"/>
                  </a:lnTo>
                  <a:lnTo>
                    <a:pt x="1449150" y="1020825"/>
                  </a:lnTo>
                  <a:lnTo>
                    <a:pt x="1431643" y="1062225"/>
                  </a:lnTo>
                  <a:lnTo>
                    <a:pt x="1411772" y="1102313"/>
                  </a:lnTo>
                  <a:lnTo>
                    <a:pt x="1389623" y="1141003"/>
                  </a:lnTo>
                  <a:lnTo>
                    <a:pt x="1365286" y="1178206"/>
                  </a:lnTo>
                  <a:lnTo>
                    <a:pt x="1338847" y="1213835"/>
                  </a:lnTo>
                  <a:lnTo>
                    <a:pt x="1310395" y="1247801"/>
                  </a:lnTo>
                  <a:lnTo>
                    <a:pt x="1280017" y="1280017"/>
                  </a:lnTo>
                  <a:lnTo>
                    <a:pt x="1247801" y="1310395"/>
                  </a:lnTo>
                  <a:lnTo>
                    <a:pt x="1213835" y="1338847"/>
                  </a:lnTo>
                  <a:lnTo>
                    <a:pt x="1178206" y="1365286"/>
                  </a:lnTo>
                  <a:lnTo>
                    <a:pt x="1141003" y="1389623"/>
                  </a:lnTo>
                  <a:lnTo>
                    <a:pt x="1102313" y="1411772"/>
                  </a:lnTo>
                  <a:lnTo>
                    <a:pt x="1062225" y="1431643"/>
                  </a:lnTo>
                  <a:lnTo>
                    <a:pt x="1020825" y="1449150"/>
                  </a:lnTo>
                  <a:lnTo>
                    <a:pt x="978202" y="1464204"/>
                  </a:lnTo>
                  <a:lnTo>
                    <a:pt x="934443" y="1476718"/>
                  </a:lnTo>
                  <a:lnTo>
                    <a:pt x="889636" y="1486604"/>
                  </a:lnTo>
                  <a:lnTo>
                    <a:pt x="843870" y="1493774"/>
                  </a:lnTo>
                  <a:lnTo>
                    <a:pt x="797231" y="1498141"/>
                  </a:lnTo>
                  <a:lnTo>
                    <a:pt x="749808" y="1499615"/>
                  </a:lnTo>
                  <a:lnTo>
                    <a:pt x="702388" y="1498141"/>
                  </a:lnTo>
                  <a:lnTo>
                    <a:pt x="655753" y="1493774"/>
                  </a:lnTo>
                  <a:lnTo>
                    <a:pt x="609989" y="1486604"/>
                  </a:lnTo>
                  <a:lnTo>
                    <a:pt x="565185" y="1476718"/>
                  </a:lnTo>
                  <a:lnTo>
                    <a:pt x="521428" y="1464204"/>
                  </a:lnTo>
                  <a:lnTo>
                    <a:pt x="478806" y="1449150"/>
                  </a:lnTo>
                  <a:lnTo>
                    <a:pt x="437407" y="1431643"/>
                  </a:lnTo>
                  <a:lnTo>
                    <a:pt x="397318" y="1411772"/>
                  </a:lnTo>
                  <a:lnTo>
                    <a:pt x="358629" y="1389623"/>
                  </a:lnTo>
                  <a:lnTo>
                    <a:pt x="321425" y="1365286"/>
                  </a:lnTo>
                  <a:lnTo>
                    <a:pt x="285796" y="1338847"/>
                  </a:lnTo>
                  <a:lnTo>
                    <a:pt x="251830" y="1310395"/>
                  </a:lnTo>
                  <a:lnTo>
                    <a:pt x="219613" y="1280017"/>
                  </a:lnTo>
                  <a:lnTo>
                    <a:pt x="189233" y="1247801"/>
                  </a:lnTo>
                  <a:lnTo>
                    <a:pt x="160780" y="1213835"/>
                  </a:lnTo>
                  <a:lnTo>
                    <a:pt x="134340" y="1178206"/>
                  </a:lnTo>
                  <a:lnTo>
                    <a:pt x="110001" y="1141003"/>
                  </a:lnTo>
                  <a:lnTo>
                    <a:pt x="87851" y="1102313"/>
                  </a:lnTo>
                  <a:lnTo>
                    <a:pt x="67978" y="1062225"/>
                  </a:lnTo>
                  <a:lnTo>
                    <a:pt x="50470" y="1020825"/>
                  </a:lnTo>
                  <a:lnTo>
                    <a:pt x="35414" y="978202"/>
                  </a:lnTo>
                  <a:lnTo>
                    <a:pt x="22899" y="934443"/>
                  </a:lnTo>
                  <a:lnTo>
                    <a:pt x="13012" y="889636"/>
                  </a:lnTo>
                  <a:lnTo>
                    <a:pt x="5842" y="843870"/>
                  </a:lnTo>
                  <a:lnTo>
                    <a:pt x="1475" y="797231"/>
                  </a:lnTo>
                  <a:lnTo>
                    <a:pt x="0" y="749807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45947" y="1929384"/>
              <a:ext cx="1286510" cy="1285240"/>
            </a:xfrm>
            <a:custGeom>
              <a:avLst/>
              <a:gdLst/>
              <a:ahLst/>
              <a:cxnLst/>
              <a:rect l="l" t="t" r="r" b="b"/>
              <a:pathLst>
                <a:path w="1286510" h="1285239">
                  <a:moveTo>
                    <a:pt x="643128" y="0"/>
                  </a:moveTo>
                  <a:lnTo>
                    <a:pt x="595130" y="1762"/>
                  </a:lnTo>
                  <a:lnTo>
                    <a:pt x="548090" y="6966"/>
                  </a:lnTo>
                  <a:lnTo>
                    <a:pt x="502133" y="15487"/>
                  </a:lnTo>
                  <a:lnTo>
                    <a:pt x="457382" y="27201"/>
                  </a:lnTo>
                  <a:lnTo>
                    <a:pt x="413963" y="41984"/>
                  </a:lnTo>
                  <a:lnTo>
                    <a:pt x="371999" y="59712"/>
                  </a:lnTo>
                  <a:lnTo>
                    <a:pt x="331615" y="80260"/>
                  </a:lnTo>
                  <a:lnTo>
                    <a:pt x="292936" y="103503"/>
                  </a:lnTo>
                  <a:lnTo>
                    <a:pt x="256085" y="129318"/>
                  </a:lnTo>
                  <a:lnTo>
                    <a:pt x="221187" y="157581"/>
                  </a:lnTo>
                  <a:lnTo>
                    <a:pt x="188366" y="188166"/>
                  </a:lnTo>
                  <a:lnTo>
                    <a:pt x="157747" y="220950"/>
                  </a:lnTo>
                  <a:lnTo>
                    <a:pt x="129453" y="255808"/>
                  </a:lnTo>
                  <a:lnTo>
                    <a:pt x="103610" y="292616"/>
                  </a:lnTo>
                  <a:lnTo>
                    <a:pt x="80342" y="331250"/>
                  </a:lnTo>
                  <a:lnTo>
                    <a:pt x="59773" y="371585"/>
                  </a:lnTo>
                  <a:lnTo>
                    <a:pt x="42027" y="413498"/>
                  </a:lnTo>
                  <a:lnTo>
                    <a:pt x="27229" y="456863"/>
                  </a:lnTo>
                  <a:lnTo>
                    <a:pt x="15502" y="501557"/>
                  </a:lnTo>
                  <a:lnTo>
                    <a:pt x="6973" y="547454"/>
                  </a:lnTo>
                  <a:lnTo>
                    <a:pt x="1763" y="594432"/>
                  </a:lnTo>
                  <a:lnTo>
                    <a:pt x="0" y="642365"/>
                  </a:lnTo>
                  <a:lnTo>
                    <a:pt x="1763" y="690299"/>
                  </a:lnTo>
                  <a:lnTo>
                    <a:pt x="6973" y="737277"/>
                  </a:lnTo>
                  <a:lnTo>
                    <a:pt x="15502" y="783174"/>
                  </a:lnTo>
                  <a:lnTo>
                    <a:pt x="27229" y="827868"/>
                  </a:lnTo>
                  <a:lnTo>
                    <a:pt x="42027" y="871233"/>
                  </a:lnTo>
                  <a:lnTo>
                    <a:pt x="59773" y="913146"/>
                  </a:lnTo>
                  <a:lnTo>
                    <a:pt x="80342" y="953481"/>
                  </a:lnTo>
                  <a:lnTo>
                    <a:pt x="103610" y="992115"/>
                  </a:lnTo>
                  <a:lnTo>
                    <a:pt x="129453" y="1028923"/>
                  </a:lnTo>
                  <a:lnTo>
                    <a:pt x="157747" y="1063781"/>
                  </a:lnTo>
                  <a:lnTo>
                    <a:pt x="188366" y="1096565"/>
                  </a:lnTo>
                  <a:lnTo>
                    <a:pt x="221187" y="1127150"/>
                  </a:lnTo>
                  <a:lnTo>
                    <a:pt x="256085" y="1155413"/>
                  </a:lnTo>
                  <a:lnTo>
                    <a:pt x="292936" y="1181228"/>
                  </a:lnTo>
                  <a:lnTo>
                    <a:pt x="331615" y="1204471"/>
                  </a:lnTo>
                  <a:lnTo>
                    <a:pt x="371999" y="1225019"/>
                  </a:lnTo>
                  <a:lnTo>
                    <a:pt x="413963" y="1242747"/>
                  </a:lnTo>
                  <a:lnTo>
                    <a:pt x="457382" y="1257530"/>
                  </a:lnTo>
                  <a:lnTo>
                    <a:pt x="502133" y="1269244"/>
                  </a:lnTo>
                  <a:lnTo>
                    <a:pt x="548090" y="1277765"/>
                  </a:lnTo>
                  <a:lnTo>
                    <a:pt x="595130" y="1282969"/>
                  </a:lnTo>
                  <a:lnTo>
                    <a:pt x="643128" y="1284731"/>
                  </a:lnTo>
                  <a:lnTo>
                    <a:pt x="691129" y="1282969"/>
                  </a:lnTo>
                  <a:lnTo>
                    <a:pt x="738171" y="1277765"/>
                  </a:lnTo>
                  <a:lnTo>
                    <a:pt x="784130" y="1269244"/>
                  </a:lnTo>
                  <a:lnTo>
                    <a:pt x="828882" y="1257530"/>
                  </a:lnTo>
                  <a:lnTo>
                    <a:pt x="872302" y="1242747"/>
                  </a:lnTo>
                  <a:lnTo>
                    <a:pt x="914267" y="1225019"/>
                  </a:lnTo>
                  <a:lnTo>
                    <a:pt x="954651" y="1204471"/>
                  </a:lnTo>
                  <a:lnTo>
                    <a:pt x="993330" y="1181228"/>
                  </a:lnTo>
                  <a:lnTo>
                    <a:pt x="1030181" y="1155413"/>
                  </a:lnTo>
                  <a:lnTo>
                    <a:pt x="1065079" y="1127150"/>
                  </a:lnTo>
                  <a:lnTo>
                    <a:pt x="1097899" y="1096565"/>
                  </a:lnTo>
                  <a:lnTo>
                    <a:pt x="1128517" y="1063781"/>
                  </a:lnTo>
                  <a:lnTo>
                    <a:pt x="1156809" y="1028923"/>
                  </a:lnTo>
                  <a:lnTo>
                    <a:pt x="1182651" y="992115"/>
                  </a:lnTo>
                  <a:lnTo>
                    <a:pt x="1205918" y="953481"/>
                  </a:lnTo>
                  <a:lnTo>
                    <a:pt x="1226486" y="913146"/>
                  </a:lnTo>
                  <a:lnTo>
                    <a:pt x="1244231" y="871233"/>
                  </a:lnTo>
                  <a:lnTo>
                    <a:pt x="1259028" y="827868"/>
                  </a:lnTo>
                  <a:lnTo>
                    <a:pt x="1270754" y="783174"/>
                  </a:lnTo>
                  <a:lnTo>
                    <a:pt x="1279283" y="737277"/>
                  </a:lnTo>
                  <a:lnTo>
                    <a:pt x="1284492" y="690299"/>
                  </a:lnTo>
                  <a:lnTo>
                    <a:pt x="1286256" y="642365"/>
                  </a:lnTo>
                  <a:lnTo>
                    <a:pt x="1284492" y="594432"/>
                  </a:lnTo>
                  <a:lnTo>
                    <a:pt x="1279283" y="547454"/>
                  </a:lnTo>
                  <a:lnTo>
                    <a:pt x="1270754" y="501557"/>
                  </a:lnTo>
                  <a:lnTo>
                    <a:pt x="1259028" y="456863"/>
                  </a:lnTo>
                  <a:lnTo>
                    <a:pt x="1244231" y="413498"/>
                  </a:lnTo>
                  <a:lnTo>
                    <a:pt x="1226486" y="371585"/>
                  </a:lnTo>
                  <a:lnTo>
                    <a:pt x="1205918" y="331250"/>
                  </a:lnTo>
                  <a:lnTo>
                    <a:pt x="1182651" y="292616"/>
                  </a:lnTo>
                  <a:lnTo>
                    <a:pt x="1156809" y="255808"/>
                  </a:lnTo>
                  <a:lnTo>
                    <a:pt x="1128517" y="220950"/>
                  </a:lnTo>
                  <a:lnTo>
                    <a:pt x="1097899" y="188166"/>
                  </a:lnTo>
                  <a:lnTo>
                    <a:pt x="1065079" y="157581"/>
                  </a:lnTo>
                  <a:lnTo>
                    <a:pt x="1030181" y="129318"/>
                  </a:lnTo>
                  <a:lnTo>
                    <a:pt x="993330" y="103503"/>
                  </a:lnTo>
                  <a:lnTo>
                    <a:pt x="954651" y="80260"/>
                  </a:lnTo>
                  <a:lnTo>
                    <a:pt x="914267" y="59712"/>
                  </a:lnTo>
                  <a:lnTo>
                    <a:pt x="872302" y="41984"/>
                  </a:lnTo>
                  <a:lnTo>
                    <a:pt x="828882" y="27201"/>
                  </a:lnTo>
                  <a:lnTo>
                    <a:pt x="784130" y="15487"/>
                  </a:lnTo>
                  <a:lnTo>
                    <a:pt x="738171" y="6966"/>
                  </a:lnTo>
                  <a:lnTo>
                    <a:pt x="691129" y="1762"/>
                  </a:lnTo>
                  <a:lnTo>
                    <a:pt x="643128" y="0"/>
                  </a:lnTo>
                  <a:close/>
                </a:path>
              </a:pathLst>
            </a:custGeom>
            <a:solidFill>
              <a:srgbClr val="DF5806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142744" y="1071372"/>
              <a:ext cx="3644265" cy="948055"/>
            </a:xfrm>
            <a:custGeom>
              <a:avLst/>
              <a:gdLst/>
              <a:ahLst/>
              <a:cxnLst/>
              <a:rect l="l" t="t" r="r" b="b"/>
              <a:pathLst>
                <a:path w="3644265" h="948055">
                  <a:moveTo>
                    <a:pt x="0" y="947927"/>
                  </a:moveTo>
                  <a:lnTo>
                    <a:pt x="356743" y="947927"/>
                  </a:lnTo>
                  <a:lnTo>
                    <a:pt x="886206" y="11048"/>
                  </a:lnTo>
                  <a:lnTo>
                    <a:pt x="3643884" y="0"/>
                  </a:lnTo>
                </a:path>
              </a:pathLst>
            </a:custGeom>
            <a:ln w="914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2357628" y="2857500"/>
              <a:ext cx="6109970" cy="661670"/>
            </a:xfrm>
            <a:custGeom>
              <a:avLst/>
              <a:gdLst/>
              <a:ahLst/>
              <a:cxnLst/>
              <a:rect l="l" t="t" r="r" b="b"/>
              <a:pathLst>
                <a:path w="6109970" h="661670">
                  <a:moveTo>
                    <a:pt x="0" y="0"/>
                  </a:moveTo>
                  <a:lnTo>
                    <a:pt x="1455039" y="0"/>
                  </a:lnTo>
                  <a:lnTo>
                    <a:pt x="2314575" y="639318"/>
                  </a:lnTo>
                  <a:lnTo>
                    <a:pt x="6109716" y="661416"/>
                  </a:lnTo>
                </a:path>
              </a:pathLst>
            </a:custGeom>
            <a:ln w="914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71116" y="1929384"/>
              <a:ext cx="143256" cy="14173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357116" y="873252"/>
              <a:ext cx="358140" cy="358140"/>
            </a:xfrm>
            <a:custGeom>
              <a:avLst/>
              <a:gdLst/>
              <a:ahLst/>
              <a:cxnLst/>
              <a:rect l="l" t="t" r="r" b="b"/>
              <a:pathLst>
                <a:path w="358139" h="358140">
                  <a:moveTo>
                    <a:pt x="179070" y="0"/>
                  </a:moveTo>
                  <a:lnTo>
                    <a:pt x="131453" y="6394"/>
                  </a:lnTo>
                  <a:lnTo>
                    <a:pt x="88674" y="24440"/>
                  </a:lnTo>
                  <a:lnTo>
                    <a:pt x="52435" y="52435"/>
                  </a:lnTo>
                  <a:lnTo>
                    <a:pt x="24440" y="88674"/>
                  </a:lnTo>
                  <a:lnTo>
                    <a:pt x="6394" y="131453"/>
                  </a:lnTo>
                  <a:lnTo>
                    <a:pt x="0" y="179070"/>
                  </a:lnTo>
                  <a:lnTo>
                    <a:pt x="6394" y="226686"/>
                  </a:lnTo>
                  <a:lnTo>
                    <a:pt x="24440" y="269465"/>
                  </a:lnTo>
                  <a:lnTo>
                    <a:pt x="52435" y="305704"/>
                  </a:lnTo>
                  <a:lnTo>
                    <a:pt x="88674" y="333699"/>
                  </a:lnTo>
                  <a:lnTo>
                    <a:pt x="131453" y="351745"/>
                  </a:lnTo>
                  <a:lnTo>
                    <a:pt x="179070" y="358140"/>
                  </a:lnTo>
                  <a:lnTo>
                    <a:pt x="226686" y="351745"/>
                  </a:lnTo>
                  <a:lnTo>
                    <a:pt x="269465" y="333699"/>
                  </a:lnTo>
                  <a:lnTo>
                    <a:pt x="305704" y="305704"/>
                  </a:lnTo>
                  <a:lnTo>
                    <a:pt x="333699" y="269465"/>
                  </a:lnTo>
                  <a:lnTo>
                    <a:pt x="351745" y="226686"/>
                  </a:lnTo>
                  <a:lnTo>
                    <a:pt x="358140" y="179070"/>
                  </a:lnTo>
                  <a:lnTo>
                    <a:pt x="351745" y="131453"/>
                  </a:lnTo>
                  <a:lnTo>
                    <a:pt x="333699" y="88674"/>
                  </a:lnTo>
                  <a:lnTo>
                    <a:pt x="305704" y="52435"/>
                  </a:lnTo>
                  <a:lnTo>
                    <a:pt x="269465" y="24440"/>
                  </a:lnTo>
                  <a:lnTo>
                    <a:pt x="226686" y="6394"/>
                  </a:lnTo>
                  <a:lnTo>
                    <a:pt x="179070" y="0"/>
                  </a:lnTo>
                  <a:close/>
                </a:path>
              </a:pathLst>
            </a:custGeom>
            <a:solidFill>
              <a:srgbClr val="16375E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86628" y="999744"/>
              <a:ext cx="143255" cy="14325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85872" y="1357884"/>
              <a:ext cx="143256" cy="14173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28743" y="947928"/>
              <a:ext cx="214884" cy="2133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42744" y="2286000"/>
              <a:ext cx="143256" cy="14325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71999" y="1357884"/>
              <a:ext cx="143255" cy="14173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29372" y="1357884"/>
              <a:ext cx="143255" cy="14173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29384" y="2572512"/>
              <a:ext cx="141731" cy="1417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85744" y="2572512"/>
              <a:ext cx="143255" cy="1417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57615" y="3429000"/>
              <a:ext cx="143255" cy="14325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05855" y="2266188"/>
              <a:ext cx="143255" cy="14325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34400" y="1732788"/>
              <a:ext cx="143255" cy="14325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500872" y="3000756"/>
              <a:ext cx="143255" cy="14325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28872" y="2929128"/>
              <a:ext cx="143255" cy="14325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86000" y="2785872"/>
              <a:ext cx="143256" cy="14325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29384" y="2142744"/>
              <a:ext cx="141731" cy="143255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905755" y="2904744"/>
              <a:ext cx="356870" cy="358140"/>
            </a:xfrm>
            <a:custGeom>
              <a:avLst/>
              <a:gdLst/>
              <a:ahLst/>
              <a:cxnLst/>
              <a:rect l="l" t="t" r="r" b="b"/>
              <a:pathLst>
                <a:path w="356870" h="358139">
                  <a:moveTo>
                    <a:pt x="178308" y="0"/>
                  </a:moveTo>
                  <a:lnTo>
                    <a:pt x="130924" y="6394"/>
                  </a:lnTo>
                  <a:lnTo>
                    <a:pt x="88335" y="24440"/>
                  </a:lnTo>
                  <a:lnTo>
                    <a:pt x="52244" y="52435"/>
                  </a:lnTo>
                  <a:lnTo>
                    <a:pt x="24355" y="88674"/>
                  </a:lnTo>
                  <a:lnTo>
                    <a:pt x="6372" y="131453"/>
                  </a:lnTo>
                  <a:lnTo>
                    <a:pt x="0" y="179069"/>
                  </a:lnTo>
                  <a:lnTo>
                    <a:pt x="6372" y="226686"/>
                  </a:lnTo>
                  <a:lnTo>
                    <a:pt x="24355" y="269465"/>
                  </a:lnTo>
                  <a:lnTo>
                    <a:pt x="52244" y="305704"/>
                  </a:lnTo>
                  <a:lnTo>
                    <a:pt x="88335" y="333699"/>
                  </a:lnTo>
                  <a:lnTo>
                    <a:pt x="130924" y="351745"/>
                  </a:lnTo>
                  <a:lnTo>
                    <a:pt x="178308" y="358139"/>
                  </a:lnTo>
                  <a:lnTo>
                    <a:pt x="225691" y="351745"/>
                  </a:lnTo>
                  <a:lnTo>
                    <a:pt x="268280" y="333699"/>
                  </a:lnTo>
                  <a:lnTo>
                    <a:pt x="304371" y="305704"/>
                  </a:lnTo>
                  <a:lnTo>
                    <a:pt x="332260" y="269465"/>
                  </a:lnTo>
                  <a:lnTo>
                    <a:pt x="350243" y="226686"/>
                  </a:lnTo>
                  <a:lnTo>
                    <a:pt x="356616" y="179069"/>
                  </a:lnTo>
                  <a:lnTo>
                    <a:pt x="350243" y="131453"/>
                  </a:lnTo>
                  <a:lnTo>
                    <a:pt x="332260" y="88674"/>
                  </a:lnTo>
                  <a:lnTo>
                    <a:pt x="304371" y="52435"/>
                  </a:lnTo>
                  <a:lnTo>
                    <a:pt x="268280" y="24440"/>
                  </a:lnTo>
                  <a:lnTo>
                    <a:pt x="225691" y="6394"/>
                  </a:lnTo>
                  <a:lnTo>
                    <a:pt x="178308" y="0"/>
                  </a:lnTo>
                  <a:close/>
                </a:path>
              </a:pathLst>
            </a:custGeom>
            <a:solidFill>
              <a:srgbClr val="16375E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45" name="object 4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77384" y="2996184"/>
              <a:ext cx="213359" cy="16306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214615" y="3357372"/>
              <a:ext cx="358140" cy="358140"/>
            </a:xfrm>
            <a:custGeom>
              <a:avLst/>
              <a:gdLst/>
              <a:ahLst/>
              <a:cxnLst/>
              <a:rect l="l" t="t" r="r" b="b"/>
              <a:pathLst>
                <a:path w="358140" h="358139">
                  <a:moveTo>
                    <a:pt x="179070" y="0"/>
                  </a:moveTo>
                  <a:lnTo>
                    <a:pt x="131453" y="6394"/>
                  </a:lnTo>
                  <a:lnTo>
                    <a:pt x="88674" y="24440"/>
                  </a:lnTo>
                  <a:lnTo>
                    <a:pt x="52435" y="52435"/>
                  </a:lnTo>
                  <a:lnTo>
                    <a:pt x="24440" y="88674"/>
                  </a:lnTo>
                  <a:lnTo>
                    <a:pt x="6394" y="131453"/>
                  </a:lnTo>
                  <a:lnTo>
                    <a:pt x="0" y="179069"/>
                  </a:lnTo>
                  <a:lnTo>
                    <a:pt x="6394" y="226686"/>
                  </a:lnTo>
                  <a:lnTo>
                    <a:pt x="24440" y="269465"/>
                  </a:lnTo>
                  <a:lnTo>
                    <a:pt x="52435" y="305704"/>
                  </a:lnTo>
                  <a:lnTo>
                    <a:pt x="88674" y="333699"/>
                  </a:lnTo>
                  <a:lnTo>
                    <a:pt x="131453" y="351745"/>
                  </a:lnTo>
                  <a:lnTo>
                    <a:pt x="179070" y="358139"/>
                  </a:lnTo>
                  <a:lnTo>
                    <a:pt x="226686" y="351745"/>
                  </a:lnTo>
                  <a:lnTo>
                    <a:pt x="269465" y="333699"/>
                  </a:lnTo>
                  <a:lnTo>
                    <a:pt x="305704" y="305704"/>
                  </a:lnTo>
                  <a:lnTo>
                    <a:pt x="333699" y="269465"/>
                  </a:lnTo>
                  <a:lnTo>
                    <a:pt x="351745" y="226686"/>
                  </a:lnTo>
                  <a:lnTo>
                    <a:pt x="358140" y="179069"/>
                  </a:lnTo>
                  <a:lnTo>
                    <a:pt x="351745" y="131453"/>
                  </a:lnTo>
                  <a:lnTo>
                    <a:pt x="333699" y="88674"/>
                  </a:lnTo>
                  <a:lnTo>
                    <a:pt x="305704" y="52435"/>
                  </a:lnTo>
                  <a:lnTo>
                    <a:pt x="269465" y="24440"/>
                  </a:lnTo>
                  <a:lnTo>
                    <a:pt x="226686" y="6394"/>
                  </a:lnTo>
                  <a:lnTo>
                    <a:pt x="179070" y="0"/>
                  </a:lnTo>
                  <a:close/>
                </a:path>
              </a:pathLst>
            </a:custGeom>
            <a:solidFill>
              <a:srgbClr val="16375E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87387" y="3429634"/>
              <a:ext cx="213105" cy="21361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76044" y="3381756"/>
              <a:ext cx="143256" cy="14325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44512" y="2785872"/>
              <a:ext cx="141731" cy="14325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85487" y="2642616"/>
              <a:ext cx="143255" cy="14325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1500" y="1819655"/>
              <a:ext cx="143256" cy="141731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42999" y="3247644"/>
              <a:ext cx="143256" cy="143255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33349" y="1715262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0" y="857250"/>
                  </a:moveTo>
                  <a:lnTo>
                    <a:pt x="1357" y="808603"/>
                  </a:lnTo>
                  <a:lnTo>
                    <a:pt x="5379" y="760669"/>
                  </a:lnTo>
                  <a:lnTo>
                    <a:pt x="11996" y="713519"/>
                  </a:lnTo>
                  <a:lnTo>
                    <a:pt x="21133" y="667226"/>
                  </a:lnTo>
                  <a:lnTo>
                    <a:pt x="32720" y="621862"/>
                  </a:lnTo>
                  <a:lnTo>
                    <a:pt x="46682" y="577499"/>
                  </a:lnTo>
                  <a:lnTo>
                    <a:pt x="62949" y="534211"/>
                  </a:lnTo>
                  <a:lnTo>
                    <a:pt x="81447" y="492068"/>
                  </a:lnTo>
                  <a:lnTo>
                    <a:pt x="102104" y="451144"/>
                  </a:lnTo>
                  <a:lnTo>
                    <a:pt x="124849" y="411512"/>
                  </a:lnTo>
                  <a:lnTo>
                    <a:pt x="149608" y="373242"/>
                  </a:lnTo>
                  <a:lnTo>
                    <a:pt x="176309" y="336408"/>
                  </a:lnTo>
                  <a:lnTo>
                    <a:pt x="204879" y="301082"/>
                  </a:lnTo>
                  <a:lnTo>
                    <a:pt x="235248" y="267336"/>
                  </a:lnTo>
                  <a:lnTo>
                    <a:pt x="267341" y="235243"/>
                  </a:lnTo>
                  <a:lnTo>
                    <a:pt x="301087" y="204875"/>
                  </a:lnTo>
                  <a:lnTo>
                    <a:pt x="336413" y="176305"/>
                  </a:lnTo>
                  <a:lnTo>
                    <a:pt x="373247" y="149604"/>
                  </a:lnTo>
                  <a:lnTo>
                    <a:pt x="411517" y="124846"/>
                  </a:lnTo>
                  <a:lnTo>
                    <a:pt x="451150" y="102102"/>
                  </a:lnTo>
                  <a:lnTo>
                    <a:pt x="492074" y="81445"/>
                  </a:lnTo>
                  <a:lnTo>
                    <a:pt x="534216" y="62947"/>
                  </a:lnTo>
                  <a:lnTo>
                    <a:pt x="577504" y="46681"/>
                  </a:lnTo>
                  <a:lnTo>
                    <a:pt x="621866" y="32719"/>
                  </a:lnTo>
                  <a:lnTo>
                    <a:pt x="667230" y="21133"/>
                  </a:lnTo>
                  <a:lnTo>
                    <a:pt x="713522" y="11995"/>
                  </a:lnTo>
                  <a:lnTo>
                    <a:pt x="760671" y="5379"/>
                  </a:lnTo>
                  <a:lnTo>
                    <a:pt x="808604" y="1357"/>
                  </a:lnTo>
                  <a:lnTo>
                    <a:pt x="857250" y="0"/>
                  </a:lnTo>
                  <a:lnTo>
                    <a:pt x="905896" y="1357"/>
                  </a:lnTo>
                  <a:lnTo>
                    <a:pt x="953830" y="5379"/>
                  </a:lnTo>
                  <a:lnTo>
                    <a:pt x="1000980" y="11995"/>
                  </a:lnTo>
                  <a:lnTo>
                    <a:pt x="1047273" y="21133"/>
                  </a:lnTo>
                  <a:lnTo>
                    <a:pt x="1092637" y="32719"/>
                  </a:lnTo>
                  <a:lnTo>
                    <a:pt x="1137000" y="46681"/>
                  </a:lnTo>
                  <a:lnTo>
                    <a:pt x="1180288" y="62947"/>
                  </a:lnTo>
                  <a:lnTo>
                    <a:pt x="1222431" y="81445"/>
                  </a:lnTo>
                  <a:lnTo>
                    <a:pt x="1263355" y="102102"/>
                  </a:lnTo>
                  <a:lnTo>
                    <a:pt x="1302987" y="124846"/>
                  </a:lnTo>
                  <a:lnTo>
                    <a:pt x="1341257" y="149604"/>
                  </a:lnTo>
                  <a:lnTo>
                    <a:pt x="1378091" y="176305"/>
                  </a:lnTo>
                  <a:lnTo>
                    <a:pt x="1413417" y="204875"/>
                  </a:lnTo>
                  <a:lnTo>
                    <a:pt x="1447163" y="235243"/>
                  </a:lnTo>
                  <a:lnTo>
                    <a:pt x="1479256" y="267336"/>
                  </a:lnTo>
                  <a:lnTo>
                    <a:pt x="1509624" y="301082"/>
                  </a:lnTo>
                  <a:lnTo>
                    <a:pt x="1538194" y="336408"/>
                  </a:lnTo>
                  <a:lnTo>
                    <a:pt x="1564895" y="373242"/>
                  </a:lnTo>
                  <a:lnTo>
                    <a:pt x="1589653" y="411512"/>
                  </a:lnTo>
                  <a:lnTo>
                    <a:pt x="1612397" y="451144"/>
                  </a:lnTo>
                  <a:lnTo>
                    <a:pt x="1633054" y="492068"/>
                  </a:lnTo>
                  <a:lnTo>
                    <a:pt x="1651552" y="534211"/>
                  </a:lnTo>
                  <a:lnTo>
                    <a:pt x="1667818" y="577499"/>
                  </a:lnTo>
                  <a:lnTo>
                    <a:pt x="1681780" y="621862"/>
                  </a:lnTo>
                  <a:lnTo>
                    <a:pt x="1693366" y="667226"/>
                  </a:lnTo>
                  <a:lnTo>
                    <a:pt x="1702504" y="713519"/>
                  </a:lnTo>
                  <a:lnTo>
                    <a:pt x="1709120" y="760669"/>
                  </a:lnTo>
                  <a:lnTo>
                    <a:pt x="1713142" y="808603"/>
                  </a:lnTo>
                  <a:lnTo>
                    <a:pt x="1714500" y="857250"/>
                  </a:lnTo>
                  <a:lnTo>
                    <a:pt x="1713142" y="905896"/>
                  </a:lnTo>
                  <a:lnTo>
                    <a:pt x="1709120" y="953830"/>
                  </a:lnTo>
                  <a:lnTo>
                    <a:pt x="1702504" y="1000980"/>
                  </a:lnTo>
                  <a:lnTo>
                    <a:pt x="1693366" y="1047273"/>
                  </a:lnTo>
                  <a:lnTo>
                    <a:pt x="1681780" y="1092637"/>
                  </a:lnTo>
                  <a:lnTo>
                    <a:pt x="1667818" y="1137000"/>
                  </a:lnTo>
                  <a:lnTo>
                    <a:pt x="1651552" y="1180288"/>
                  </a:lnTo>
                  <a:lnTo>
                    <a:pt x="1633054" y="1222431"/>
                  </a:lnTo>
                  <a:lnTo>
                    <a:pt x="1612397" y="1263355"/>
                  </a:lnTo>
                  <a:lnTo>
                    <a:pt x="1589653" y="1302987"/>
                  </a:lnTo>
                  <a:lnTo>
                    <a:pt x="1564895" y="1341257"/>
                  </a:lnTo>
                  <a:lnTo>
                    <a:pt x="1538194" y="1378091"/>
                  </a:lnTo>
                  <a:lnTo>
                    <a:pt x="1509624" y="1413417"/>
                  </a:lnTo>
                  <a:lnTo>
                    <a:pt x="1479256" y="1447163"/>
                  </a:lnTo>
                  <a:lnTo>
                    <a:pt x="1447163" y="1479256"/>
                  </a:lnTo>
                  <a:lnTo>
                    <a:pt x="1413417" y="1509624"/>
                  </a:lnTo>
                  <a:lnTo>
                    <a:pt x="1378091" y="1538194"/>
                  </a:lnTo>
                  <a:lnTo>
                    <a:pt x="1341257" y="1564895"/>
                  </a:lnTo>
                  <a:lnTo>
                    <a:pt x="1302987" y="1589653"/>
                  </a:lnTo>
                  <a:lnTo>
                    <a:pt x="1263355" y="1612397"/>
                  </a:lnTo>
                  <a:lnTo>
                    <a:pt x="1222431" y="1633054"/>
                  </a:lnTo>
                  <a:lnTo>
                    <a:pt x="1180288" y="1651552"/>
                  </a:lnTo>
                  <a:lnTo>
                    <a:pt x="1137000" y="1667818"/>
                  </a:lnTo>
                  <a:lnTo>
                    <a:pt x="1092637" y="1681780"/>
                  </a:lnTo>
                  <a:lnTo>
                    <a:pt x="1047273" y="1693366"/>
                  </a:lnTo>
                  <a:lnTo>
                    <a:pt x="1000980" y="1702504"/>
                  </a:lnTo>
                  <a:lnTo>
                    <a:pt x="953830" y="1709120"/>
                  </a:lnTo>
                  <a:lnTo>
                    <a:pt x="905896" y="1713142"/>
                  </a:lnTo>
                  <a:lnTo>
                    <a:pt x="857250" y="1714500"/>
                  </a:lnTo>
                  <a:lnTo>
                    <a:pt x="808604" y="1713142"/>
                  </a:lnTo>
                  <a:lnTo>
                    <a:pt x="760671" y="1709120"/>
                  </a:lnTo>
                  <a:lnTo>
                    <a:pt x="713522" y="1702504"/>
                  </a:lnTo>
                  <a:lnTo>
                    <a:pt x="667230" y="1693366"/>
                  </a:lnTo>
                  <a:lnTo>
                    <a:pt x="621866" y="1681780"/>
                  </a:lnTo>
                  <a:lnTo>
                    <a:pt x="577504" y="1667818"/>
                  </a:lnTo>
                  <a:lnTo>
                    <a:pt x="534216" y="1651552"/>
                  </a:lnTo>
                  <a:lnTo>
                    <a:pt x="492074" y="1633054"/>
                  </a:lnTo>
                  <a:lnTo>
                    <a:pt x="451150" y="1612397"/>
                  </a:lnTo>
                  <a:lnTo>
                    <a:pt x="411517" y="1589653"/>
                  </a:lnTo>
                  <a:lnTo>
                    <a:pt x="373247" y="1564895"/>
                  </a:lnTo>
                  <a:lnTo>
                    <a:pt x="336413" y="1538194"/>
                  </a:lnTo>
                  <a:lnTo>
                    <a:pt x="301087" y="1509624"/>
                  </a:lnTo>
                  <a:lnTo>
                    <a:pt x="267341" y="1479256"/>
                  </a:lnTo>
                  <a:lnTo>
                    <a:pt x="235248" y="1447163"/>
                  </a:lnTo>
                  <a:lnTo>
                    <a:pt x="204879" y="1413417"/>
                  </a:lnTo>
                  <a:lnTo>
                    <a:pt x="176309" y="1378091"/>
                  </a:lnTo>
                  <a:lnTo>
                    <a:pt x="149608" y="1341257"/>
                  </a:lnTo>
                  <a:lnTo>
                    <a:pt x="124849" y="1302987"/>
                  </a:lnTo>
                  <a:lnTo>
                    <a:pt x="102104" y="1263355"/>
                  </a:lnTo>
                  <a:lnTo>
                    <a:pt x="81447" y="1222431"/>
                  </a:lnTo>
                  <a:lnTo>
                    <a:pt x="62949" y="1180288"/>
                  </a:lnTo>
                  <a:lnTo>
                    <a:pt x="46682" y="1137000"/>
                  </a:lnTo>
                  <a:lnTo>
                    <a:pt x="32720" y="1092637"/>
                  </a:lnTo>
                  <a:lnTo>
                    <a:pt x="21133" y="1047273"/>
                  </a:lnTo>
                  <a:lnTo>
                    <a:pt x="11996" y="1000980"/>
                  </a:lnTo>
                  <a:lnTo>
                    <a:pt x="5379" y="953830"/>
                  </a:lnTo>
                  <a:lnTo>
                    <a:pt x="1357" y="905896"/>
                  </a:lnTo>
                  <a:lnTo>
                    <a:pt x="0" y="85725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  <p:pic>
        <p:nvPicPr>
          <p:cNvPr id="58" name="Picture 57" descr="A red and black logo&#10;&#10;Description automatically generated">
            <a:extLst>
              <a:ext uri="{FF2B5EF4-FFF2-40B4-BE49-F238E27FC236}">
                <a16:creationId xmlns:a16="http://schemas.microsoft.com/office/drawing/2014/main" id="{4472878A-63A6-E3B3-4E78-F58608173EFE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2" y="2545442"/>
            <a:ext cx="1022160" cy="4162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691" y="4868062"/>
            <a:ext cx="335280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Copyright</a:t>
            </a:r>
            <a:r>
              <a:rPr sz="800" spc="-1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©</a:t>
            </a:r>
            <a:r>
              <a:rPr sz="8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2024</a:t>
            </a:r>
            <a:r>
              <a:rPr sz="800" spc="-1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CMS</a:t>
            </a:r>
            <a:r>
              <a:rPr sz="8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Computers</a:t>
            </a:r>
            <a:r>
              <a:rPr sz="800" spc="-1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India</a:t>
            </a:r>
            <a:r>
              <a:rPr sz="8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Private</a:t>
            </a:r>
            <a:r>
              <a:rPr sz="800" spc="-1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Ltd.</a:t>
            </a:r>
            <a:r>
              <a:rPr sz="8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All</a:t>
            </a:r>
            <a:r>
              <a:rPr sz="800" spc="-1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Rights</a:t>
            </a:r>
            <a:r>
              <a:rPr sz="800" spc="-10" dirty="0">
                <a:solidFill>
                  <a:srgbClr val="FFFFFF"/>
                </a:solidFill>
                <a:latin typeface="+mj-lt"/>
                <a:cs typeface="Arial"/>
              </a:rPr>
              <a:t> Reserved.</a:t>
            </a:r>
            <a:endParaRPr sz="800">
              <a:latin typeface="+mj-lt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17244"/>
            <a:ext cx="7542212" cy="3827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5"/>
              </a:spcBef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  </a:t>
            </a:r>
            <a:r>
              <a:rPr sz="2400" dirty="0">
                <a:solidFill>
                  <a:schemeClr val="bg1"/>
                </a:solidFill>
                <a:latin typeface="+mj-lt"/>
              </a:rPr>
              <a:t>Our</a:t>
            </a:r>
            <a:r>
              <a:rPr sz="2400" spc="-3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Vision</a:t>
            </a:r>
            <a:r>
              <a:rPr sz="2400" spc="-3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and</a:t>
            </a:r>
            <a:r>
              <a:rPr sz="2400" spc="-3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Mission</a:t>
            </a:r>
            <a:endParaRPr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87282" y="5044160"/>
            <a:ext cx="83820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0" dirty="0">
                <a:latin typeface="+mj-lt"/>
                <a:cs typeface="Calibri"/>
              </a:rPr>
              <a:t>3</a:t>
            </a:r>
            <a:endParaRPr sz="900">
              <a:latin typeface="+mj-lt"/>
              <a:cs typeface="Calibri"/>
            </a:endParaRPr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F48361DB-B189-BF25-B5D5-014AC1589589}"/>
              </a:ext>
            </a:extLst>
          </p:cNvPr>
          <p:cNvSpPr txBox="1">
            <a:spLocks/>
          </p:cNvSpPr>
          <p:nvPr/>
        </p:nvSpPr>
        <p:spPr bwMode="auto">
          <a:xfrm>
            <a:off x="357188" y="2714625"/>
            <a:ext cx="2428875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IN" altLang="en-US" sz="120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To </a:t>
            </a:r>
            <a:r>
              <a:rPr lang="en-IN" altLang="en-US" sz="1200" b="1">
                <a:solidFill>
                  <a:srgbClr val="376092"/>
                </a:solidFill>
                <a:latin typeface="+mj-lt"/>
                <a:cs typeface="Calibri" panose="020F0502020204030204" pitchFamily="34" charset="0"/>
              </a:rPr>
              <a:t>simplify lives </a:t>
            </a:r>
            <a:r>
              <a:rPr lang="en-IN" altLang="en-US" sz="120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leveraging the enormous potential of </a:t>
            </a:r>
            <a:r>
              <a:rPr lang="en-IN" altLang="en-US" sz="1200" b="1">
                <a:solidFill>
                  <a:srgbClr val="376092"/>
                </a:solidFill>
                <a:latin typeface="+mj-lt"/>
                <a:cs typeface="Calibri" panose="020F0502020204030204" pitchFamily="34" charset="0"/>
              </a:rPr>
              <a:t>Information Technology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D1B4704-8EFE-FF76-CAE9-843CFB6ABCE6}"/>
              </a:ext>
            </a:extLst>
          </p:cNvPr>
          <p:cNvSpPr txBox="1">
            <a:spLocks/>
          </p:cNvSpPr>
          <p:nvPr/>
        </p:nvSpPr>
        <p:spPr bwMode="auto">
          <a:xfrm>
            <a:off x="3286125" y="1928813"/>
            <a:ext cx="5572125" cy="264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0070C0"/>
              </a:buClr>
              <a:buFontTx/>
              <a:buNone/>
            </a:pPr>
            <a:r>
              <a:rPr lang="en-IN" altLang="en-US" sz="120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To solve real world challenges by harnessing the power of technology. We will pursue innovation focused on simplifying lives </a:t>
            </a:r>
            <a:r>
              <a:rPr lang="en-IN" altLang="en-US" sz="1200" b="1">
                <a:solidFill>
                  <a:srgbClr val="376092"/>
                </a:solidFill>
                <a:latin typeface="+mj-lt"/>
                <a:cs typeface="Calibri" panose="020F0502020204030204" pitchFamily="34" charset="0"/>
              </a:rPr>
              <a:t>providing competitive advantage </a:t>
            </a:r>
            <a:r>
              <a:rPr lang="en-IN" altLang="en-US" sz="120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to our clients as the real world and IT world converges. In pursuing our mission, we will </a:t>
            </a:r>
            <a:r>
              <a:rPr lang="en-IN" altLang="en-US" sz="1200" b="1">
                <a:solidFill>
                  <a:srgbClr val="376092"/>
                </a:solidFill>
                <a:latin typeface="+mj-lt"/>
                <a:cs typeface="Calibri" panose="020F0502020204030204" pitchFamily="34" charset="0"/>
              </a:rPr>
              <a:t>deliver cost effective products &amp; services &amp; maintain sustainable growth, build mutually beneficial and enduring partnerships and create long term value </a:t>
            </a:r>
            <a:r>
              <a:rPr lang="en-IN" altLang="en-US" sz="120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by following sound business practices in dealing with our clients, partners, employees and shareholders. As a learning organisation, Team CMS will pursue continual </a:t>
            </a:r>
            <a:r>
              <a:rPr lang="en-IN" altLang="en-US" sz="1200" b="1">
                <a:solidFill>
                  <a:srgbClr val="376092"/>
                </a:solidFill>
                <a:latin typeface="+mj-lt"/>
                <a:cs typeface="Calibri" panose="020F0502020204030204" pitchFamily="34" charset="0"/>
              </a:rPr>
              <a:t>self improvement, personal excellence and accountability delivering better than expected business outcomes to our clients – right, the first time</a:t>
            </a:r>
            <a:r>
              <a:rPr lang="en-IN" altLang="en-US" sz="120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E96CFA-CD30-0B17-654C-2779877B7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2428875"/>
            <a:ext cx="1176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 b="1">
                <a:solidFill>
                  <a:srgbClr val="DF5907"/>
                </a:solidFill>
                <a:latin typeface="+mj-lt"/>
              </a:rPr>
              <a:t>The Vision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0B4385-8088-0039-E340-E11CBA9EF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1500188"/>
            <a:ext cx="1333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150"/>
              </a:spcAft>
              <a:buFontTx/>
              <a:buNone/>
            </a:pPr>
            <a:r>
              <a:rPr lang="en-IN" altLang="en-US" sz="1800" b="1">
                <a:solidFill>
                  <a:srgbClr val="DF5907"/>
                </a:solidFill>
                <a:latin typeface="+mj-lt"/>
              </a:rPr>
              <a:t>The Mission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2BE9A2-92F4-2CB1-00A5-AD178580C276}"/>
              </a:ext>
            </a:extLst>
          </p:cNvPr>
          <p:cNvCxnSpPr/>
          <p:nvPr/>
        </p:nvCxnSpPr>
        <p:spPr>
          <a:xfrm rot="5400000">
            <a:off x="1465263" y="3035300"/>
            <a:ext cx="2928938" cy="158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D:\CMS Corporate PPT\Anil Sir\images\vision.png">
            <a:extLst>
              <a:ext uri="{FF2B5EF4-FFF2-40B4-BE49-F238E27FC236}">
                <a16:creationId xmlns:a16="http://schemas.microsoft.com/office/drawing/2014/main" id="{E154F2F5-51DF-E8CC-D9FA-4067A5B91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714500"/>
            <a:ext cx="928688" cy="655638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3" descr="D:\CMS Corporate PPT\Anil Sir\images\mission.png">
            <a:extLst>
              <a:ext uri="{FF2B5EF4-FFF2-40B4-BE49-F238E27FC236}">
                <a16:creationId xmlns:a16="http://schemas.microsoft.com/office/drawing/2014/main" id="{91473588-8942-9933-5BA7-49254BDFE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5" y="1000125"/>
            <a:ext cx="1238250" cy="935038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0" y="89455"/>
            <a:ext cx="7535863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105"/>
              </a:spcBef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   </a:t>
            </a:r>
            <a:r>
              <a:rPr sz="2400" dirty="0">
                <a:solidFill>
                  <a:schemeClr val="bg1"/>
                </a:solidFill>
                <a:latin typeface="+mj-lt"/>
              </a:rPr>
              <a:t>Four</a:t>
            </a:r>
            <a:r>
              <a:rPr sz="2400" spc="-6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Decades</a:t>
            </a:r>
            <a:r>
              <a:rPr sz="2400" spc="-6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of</a:t>
            </a:r>
            <a:r>
              <a:rPr sz="2400" spc="-5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Innovation</a:t>
            </a:r>
            <a:endParaRPr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4" name="object 134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  <p:sp>
        <p:nvSpPr>
          <p:cNvPr id="135" name="타원 37">
            <a:extLst>
              <a:ext uri="{FF2B5EF4-FFF2-40B4-BE49-F238E27FC236}">
                <a16:creationId xmlns:a16="http://schemas.microsoft.com/office/drawing/2014/main" id="{6030DC0D-E58C-73E0-BA00-3890B4682381}"/>
              </a:ext>
            </a:extLst>
          </p:cNvPr>
          <p:cNvSpPr/>
          <p:nvPr/>
        </p:nvSpPr>
        <p:spPr bwMode="auto">
          <a:xfrm>
            <a:off x="796925" y="2541587"/>
            <a:ext cx="630238" cy="631825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endParaRPr lang="ko-KR" altLang="en-US" sz="1100" dirty="0">
              <a:solidFill>
                <a:prstClr val="black"/>
              </a:solidFill>
              <a:latin typeface="+mj-lt"/>
              <a:ea typeface="굴림" panose="020B0600000101010101" pitchFamily="34" charset="-127"/>
              <a:cs typeface="Arial" pitchFamily="34" charset="0"/>
            </a:endParaRPr>
          </a:p>
        </p:txBody>
      </p:sp>
      <p:cxnSp>
        <p:nvCxnSpPr>
          <p:cNvPr id="136" name="직선 연결선 96">
            <a:extLst>
              <a:ext uri="{FF2B5EF4-FFF2-40B4-BE49-F238E27FC236}">
                <a16:creationId xmlns:a16="http://schemas.microsoft.com/office/drawing/2014/main" id="{81B33651-1614-1BF8-36B2-E8E8E8E41E89}"/>
              </a:ext>
            </a:extLst>
          </p:cNvPr>
          <p:cNvCxnSpPr/>
          <p:nvPr/>
        </p:nvCxnSpPr>
        <p:spPr>
          <a:xfrm>
            <a:off x="5980113" y="2832100"/>
            <a:ext cx="4762" cy="198596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62">
            <a:extLst>
              <a:ext uri="{FF2B5EF4-FFF2-40B4-BE49-F238E27FC236}">
                <a16:creationId xmlns:a16="http://schemas.microsoft.com/office/drawing/2014/main" id="{D1C96C14-FD39-AE0F-8193-118A757C8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1047750"/>
            <a:ext cx="314325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+mj-lt"/>
              </a:rPr>
              <a:t>1976</a:t>
            </a:r>
          </a:p>
        </p:txBody>
      </p:sp>
      <p:sp>
        <p:nvSpPr>
          <p:cNvPr id="138" name="타원 37">
            <a:extLst>
              <a:ext uri="{FF2B5EF4-FFF2-40B4-BE49-F238E27FC236}">
                <a16:creationId xmlns:a16="http://schemas.microsoft.com/office/drawing/2014/main" id="{E5928101-1F9C-BBFB-3AE0-93B3ADA8C7F1}"/>
              </a:ext>
            </a:extLst>
          </p:cNvPr>
          <p:cNvSpPr/>
          <p:nvPr/>
        </p:nvSpPr>
        <p:spPr>
          <a:xfrm>
            <a:off x="71438" y="2517775"/>
            <a:ext cx="631825" cy="630237"/>
          </a:xfrm>
          <a:prstGeom prst="ellipse">
            <a:avLst/>
          </a:prstGeom>
          <a:solidFill>
            <a:srgbClr val="006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endParaRPr lang="ko-KR" altLang="en-US" sz="1100" dirty="0">
              <a:solidFill>
                <a:prstClr val="black"/>
              </a:solidFill>
              <a:latin typeface="+mj-lt"/>
              <a:ea typeface="굴림" panose="020B0600000101010101" pitchFamily="34" charset="-127"/>
              <a:cs typeface="Arial" pitchFamily="34" charset="0"/>
            </a:endParaRPr>
          </a:p>
        </p:txBody>
      </p:sp>
      <p:sp>
        <p:nvSpPr>
          <p:cNvPr id="139" name="TextBox 119">
            <a:extLst>
              <a:ext uri="{FF2B5EF4-FFF2-40B4-BE49-F238E27FC236}">
                <a16:creationId xmlns:a16="http://schemas.microsoft.com/office/drawing/2014/main" id="{1426108F-D224-D7DE-5111-B9E1B08600C1}"/>
              </a:ext>
            </a:extLst>
          </p:cNvPr>
          <p:cNvSpPr txBox="1"/>
          <p:nvPr/>
        </p:nvSpPr>
        <p:spPr>
          <a:xfrm>
            <a:off x="88900" y="2706687"/>
            <a:ext cx="568325" cy="261938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r>
              <a:rPr lang="en-US" altLang="ko-K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34" charset="-127"/>
                <a:cs typeface="Arial" pitchFamily="34" charset="0"/>
              </a:rPr>
              <a:t>1976</a:t>
            </a:r>
            <a:endParaRPr lang="ko-KR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굴림" panose="020B0600000101010101" pitchFamily="34" charset="-127"/>
              <a:cs typeface="Arial" pitchFamily="34" charset="0"/>
            </a:endParaRPr>
          </a:p>
        </p:txBody>
      </p:sp>
      <p:sp>
        <p:nvSpPr>
          <p:cNvPr id="140" name="Rectangle 153">
            <a:extLst>
              <a:ext uri="{FF2B5EF4-FFF2-40B4-BE49-F238E27FC236}">
                <a16:creationId xmlns:a16="http://schemas.microsoft.com/office/drawing/2014/main" id="{BC2EAEDC-5DDB-5A92-EDCB-70602F57A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8" y="1225550"/>
            <a:ext cx="906462" cy="830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61913" indent="-61913" defTabSz="455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b="1" dirty="0">
                <a:solidFill>
                  <a:srgbClr val="E46C0A"/>
                </a:solidFill>
                <a:latin typeface="+mj-lt"/>
              </a:rPr>
              <a:t>CMS was born</a:t>
            </a:r>
          </a:p>
          <a:p>
            <a:pPr marL="0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dirty="0">
                <a:solidFill>
                  <a:srgbClr val="000000"/>
                </a:solidFill>
                <a:latin typeface="+mj-lt"/>
              </a:rPr>
              <a:t>Mr. Ramesh D Grover started Computer Maintenance Services  </a:t>
            </a:r>
          </a:p>
        </p:txBody>
      </p:sp>
      <p:cxnSp>
        <p:nvCxnSpPr>
          <p:cNvPr id="141" name="직선 연결선 92">
            <a:extLst>
              <a:ext uri="{FF2B5EF4-FFF2-40B4-BE49-F238E27FC236}">
                <a16:creationId xmlns:a16="http://schemas.microsoft.com/office/drawing/2014/main" id="{1E37FCA7-9BD7-720F-A4FA-BE2ACB549C67}"/>
              </a:ext>
            </a:extLst>
          </p:cNvPr>
          <p:cNvCxnSpPr/>
          <p:nvPr/>
        </p:nvCxnSpPr>
        <p:spPr>
          <a:xfrm>
            <a:off x="1408113" y="2859087"/>
            <a:ext cx="6350" cy="18415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62">
            <a:extLst>
              <a:ext uri="{FF2B5EF4-FFF2-40B4-BE49-F238E27FC236}">
                <a16:creationId xmlns:a16="http://schemas.microsoft.com/office/drawing/2014/main" id="{F51419DE-6104-67C2-B754-8310A0723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713" y="3384550"/>
            <a:ext cx="368300" cy="184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+mj-lt"/>
              </a:rPr>
              <a:t>1984</a:t>
            </a:r>
            <a:endParaRPr lang="en-US" altLang="ko-KR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43" name="Rectangle 156">
            <a:extLst>
              <a:ext uri="{FF2B5EF4-FFF2-40B4-BE49-F238E27FC236}">
                <a16:creationId xmlns:a16="http://schemas.microsoft.com/office/drawing/2014/main" id="{7C8AAD22-B68D-41A1-68E2-2CD9B0D9B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5" y="3556000"/>
            <a:ext cx="1271588" cy="11080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61913" indent="-61913" defTabSz="455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b="1" dirty="0">
                <a:solidFill>
                  <a:srgbClr val="E46C0A"/>
                </a:solidFill>
                <a:latin typeface="+mj-lt"/>
              </a:rPr>
              <a:t>Acquired </a:t>
            </a:r>
            <a:r>
              <a:rPr lang="en-GB" altLang="en-US" sz="900" b="1" dirty="0" err="1">
                <a:solidFill>
                  <a:srgbClr val="E46C0A"/>
                </a:solidFill>
                <a:latin typeface="+mj-lt"/>
              </a:rPr>
              <a:t>Systime</a:t>
            </a:r>
            <a:endParaRPr lang="en-GB" altLang="en-US" sz="900" b="1" dirty="0">
              <a:solidFill>
                <a:srgbClr val="E46C0A"/>
              </a:solidFill>
              <a:latin typeface="+mj-lt"/>
            </a:endParaRPr>
          </a:p>
          <a:p>
            <a:pPr marL="0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dirty="0">
                <a:solidFill>
                  <a:srgbClr val="000000"/>
                </a:solidFill>
                <a:latin typeface="+mj-lt"/>
              </a:rPr>
              <a:t>First major acquisition. Powered CMS’s entry into Application Deployment with JDE ERP, understanding that applications are fuel to the business.</a:t>
            </a:r>
          </a:p>
        </p:txBody>
      </p:sp>
      <p:sp>
        <p:nvSpPr>
          <p:cNvPr id="144" name="TextBox 62">
            <a:extLst>
              <a:ext uri="{FF2B5EF4-FFF2-40B4-BE49-F238E27FC236}">
                <a16:creationId xmlns:a16="http://schemas.microsoft.com/office/drawing/2014/main" id="{64607E78-7CBD-4684-4029-7803EBEEB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5288" y="1047750"/>
            <a:ext cx="390525" cy="1857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+mj-lt"/>
              </a:rPr>
              <a:t>1985</a:t>
            </a:r>
          </a:p>
        </p:txBody>
      </p:sp>
      <p:sp>
        <p:nvSpPr>
          <p:cNvPr id="145" name="Rectangle 163">
            <a:extLst>
              <a:ext uri="{FF2B5EF4-FFF2-40B4-BE49-F238E27FC236}">
                <a16:creationId xmlns:a16="http://schemas.microsoft.com/office/drawing/2014/main" id="{85EB539C-CA34-8A27-3F4B-B51BDBBFE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5288" y="1225550"/>
            <a:ext cx="1162050" cy="968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342900" indent="-3429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11125" indent="-111125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1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b="1" dirty="0">
                <a:solidFill>
                  <a:srgbClr val="E46C0A"/>
                </a:solidFill>
                <a:latin typeface="+mj-lt"/>
              </a:rPr>
              <a:t>Set up Product Development </a:t>
            </a:r>
          </a:p>
          <a:p>
            <a:pPr marL="0" lvl="1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dirty="0">
                <a:solidFill>
                  <a:srgbClr val="000000"/>
                </a:solidFill>
                <a:latin typeface="+mj-lt"/>
              </a:rPr>
              <a:t>P&amp;D unit set up providing one of the earliest instance of Design in India, Make in India for the IT Industry.</a:t>
            </a:r>
          </a:p>
        </p:txBody>
      </p:sp>
      <p:sp>
        <p:nvSpPr>
          <p:cNvPr id="146" name="Rectangle 168">
            <a:extLst>
              <a:ext uri="{FF2B5EF4-FFF2-40B4-BE49-F238E27FC236}">
                <a16:creationId xmlns:a16="http://schemas.microsoft.com/office/drawing/2014/main" id="{C6A0EEC3-4DC5-2B8B-2E7D-7FB064BBD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3565525"/>
            <a:ext cx="1265237" cy="969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342900" indent="-3429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1913" indent="-61913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1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b="1" dirty="0">
                <a:solidFill>
                  <a:srgbClr val="E46C0A"/>
                </a:solidFill>
                <a:latin typeface="+mj-lt"/>
              </a:rPr>
              <a:t>Diversified into Traffic Domain</a:t>
            </a:r>
          </a:p>
          <a:p>
            <a:pPr marL="0" lvl="1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US" altLang="en-US" sz="900" dirty="0">
                <a:solidFill>
                  <a:srgbClr val="000000"/>
                </a:solidFill>
                <a:latin typeface="+mj-lt"/>
              </a:rPr>
              <a:t>Way ahead of its time, set up a dedicated Traffic organization to solve India’s Urbanization challenge.</a:t>
            </a:r>
          </a:p>
        </p:txBody>
      </p:sp>
      <p:sp>
        <p:nvSpPr>
          <p:cNvPr id="147" name="TextBox 62">
            <a:extLst>
              <a:ext uri="{FF2B5EF4-FFF2-40B4-BE49-F238E27FC236}">
                <a16:creationId xmlns:a16="http://schemas.microsoft.com/office/drawing/2014/main" id="{63F4A4A9-2FB5-72D4-5E4F-4416DBE9A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7938" y="3394075"/>
            <a:ext cx="373062" cy="184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+mj-lt"/>
              </a:rPr>
              <a:t>1988</a:t>
            </a:r>
            <a:endParaRPr lang="en-US" altLang="ko-KR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48" name="Rectangle 173">
            <a:extLst>
              <a:ext uri="{FF2B5EF4-FFF2-40B4-BE49-F238E27FC236}">
                <a16:creationId xmlns:a16="http://schemas.microsoft.com/office/drawing/2014/main" id="{4E906298-ED70-986B-9A66-178203D07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238" y="1225550"/>
            <a:ext cx="1189037" cy="830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342900" indent="-3429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1913" indent="-61913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1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b="1" dirty="0">
                <a:solidFill>
                  <a:srgbClr val="E46C0A"/>
                </a:solidFill>
                <a:latin typeface="+mj-lt"/>
              </a:rPr>
              <a:t>Securitas Formation </a:t>
            </a:r>
            <a:r>
              <a:rPr lang="en-GB" altLang="en-US" sz="900" dirty="0">
                <a:solidFill>
                  <a:srgbClr val="000000"/>
                </a:solidFill>
                <a:latin typeface="+mj-lt"/>
              </a:rPr>
              <a:t>Powering India’s ever-growing Economy and the need to move cash securely across point of sales, ATMs &amp; banks.</a:t>
            </a:r>
          </a:p>
        </p:txBody>
      </p:sp>
      <p:sp>
        <p:nvSpPr>
          <p:cNvPr id="149" name="TextBox 62">
            <a:extLst>
              <a:ext uri="{FF2B5EF4-FFF2-40B4-BE49-F238E27FC236}">
                <a16:creationId xmlns:a16="http://schemas.microsoft.com/office/drawing/2014/main" id="{11F84820-FE67-1126-205D-8527123D6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0238" y="1047750"/>
            <a:ext cx="395287" cy="1857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+mj-lt"/>
              </a:rPr>
              <a:t>1999</a:t>
            </a:r>
          </a:p>
        </p:txBody>
      </p:sp>
      <p:sp>
        <p:nvSpPr>
          <p:cNvPr id="150" name="TextBox 62">
            <a:extLst>
              <a:ext uri="{FF2B5EF4-FFF2-40B4-BE49-F238E27FC236}">
                <a16:creationId xmlns:a16="http://schemas.microsoft.com/office/drawing/2014/main" id="{0AFAE70B-F655-0146-929B-E6B146593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4325" y="3394075"/>
            <a:ext cx="346075" cy="184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+mj-lt"/>
              </a:rPr>
              <a:t>2001</a:t>
            </a:r>
          </a:p>
        </p:txBody>
      </p:sp>
      <p:sp>
        <p:nvSpPr>
          <p:cNvPr id="151" name="Rectangle 179">
            <a:extLst>
              <a:ext uri="{FF2B5EF4-FFF2-40B4-BE49-F238E27FC236}">
                <a16:creationId xmlns:a16="http://schemas.microsoft.com/office/drawing/2014/main" id="{073AEE45-2263-1C25-90F5-7CE5A4BC4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1" y="3575050"/>
            <a:ext cx="1171575" cy="830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61913" indent="-61913" defTabSz="455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b="1" dirty="0">
                <a:solidFill>
                  <a:srgbClr val="E46C0A"/>
                </a:solidFill>
                <a:latin typeface="+mj-lt"/>
              </a:rPr>
              <a:t>E-Seva Project</a:t>
            </a:r>
          </a:p>
          <a:p>
            <a:pPr marL="0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dirty="0">
                <a:solidFill>
                  <a:srgbClr val="000000"/>
                </a:solidFill>
                <a:latin typeface="+mj-lt"/>
              </a:rPr>
              <a:t>Pioneer supporting the government in delivering services for the first  E-governance project in India.</a:t>
            </a:r>
          </a:p>
        </p:txBody>
      </p:sp>
      <p:sp>
        <p:nvSpPr>
          <p:cNvPr id="152" name="TextBox 62">
            <a:extLst>
              <a:ext uri="{FF2B5EF4-FFF2-40B4-BE49-F238E27FC236}">
                <a16:creationId xmlns:a16="http://schemas.microsoft.com/office/drawing/2014/main" id="{1F199FDE-25DD-1F46-5C72-D46DF38BF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7413" y="1047750"/>
            <a:ext cx="625475" cy="1857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+mj-lt"/>
              </a:rPr>
              <a:t>2003-05</a:t>
            </a:r>
          </a:p>
        </p:txBody>
      </p:sp>
      <p:sp>
        <p:nvSpPr>
          <p:cNvPr id="153" name="Rectangle 183">
            <a:extLst>
              <a:ext uri="{FF2B5EF4-FFF2-40B4-BE49-F238E27FC236}">
                <a16:creationId xmlns:a16="http://schemas.microsoft.com/office/drawing/2014/main" id="{EC0DDC12-7F4A-A00F-AFB4-2F1C39174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7413" y="1225550"/>
            <a:ext cx="1335087" cy="968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61913" indent="-61913" defTabSz="455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3975" indent="-53975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b="1" dirty="0">
                <a:solidFill>
                  <a:srgbClr val="E46C0A"/>
                </a:solidFill>
                <a:latin typeface="+mj-lt"/>
              </a:rPr>
              <a:t>Acquired Kaycee Industries and NVL Broadcasting</a:t>
            </a:r>
          </a:p>
          <a:p>
            <a:pPr marL="0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dirty="0">
                <a:solidFill>
                  <a:srgbClr val="000000"/>
                </a:solidFill>
                <a:latin typeface="+mj-lt"/>
              </a:rPr>
              <a:t>Manufacturing Capability and foray into Media and Broadcasting domain. Early stages of Digital into CMS </a:t>
            </a:r>
          </a:p>
          <a:p>
            <a:pPr marL="0" lvl="1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endParaRPr lang="en-GB" altLang="en-US" sz="9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54" name="TextBox 119">
            <a:extLst>
              <a:ext uri="{FF2B5EF4-FFF2-40B4-BE49-F238E27FC236}">
                <a16:creationId xmlns:a16="http://schemas.microsoft.com/office/drawing/2014/main" id="{1CFA7913-A3CA-F7BB-2D2C-6DEADE251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38" y="2706687"/>
            <a:ext cx="5699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503020000020004" pitchFamily="34" charset="-127"/>
              </a:rPr>
              <a:t>1984</a:t>
            </a:r>
            <a:endParaRPr lang="ko-KR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굴림" panose="020B0503020000020004" pitchFamily="34" charset="-127"/>
            </a:endParaRPr>
          </a:p>
        </p:txBody>
      </p:sp>
      <p:sp>
        <p:nvSpPr>
          <p:cNvPr id="155" name="타원 37">
            <a:extLst>
              <a:ext uri="{FF2B5EF4-FFF2-40B4-BE49-F238E27FC236}">
                <a16:creationId xmlns:a16="http://schemas.microsoft.com/office/drawing/2014/main" id="{10259F4A-E13D-3825-49BA-63124AA5DBB3}"/>
              </a:ext>
            </a:extLst>
          </p:cNvPr>
          <p:cNvSpPr/>
          <p:nvPr/>
        </p:nvSpPr>
        <p:spPr bwMode="auto">
          <a:xfrm>
            <a:off x="1584325" y="2517775"/>
            <a:ext cx="630238" cy="631825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endParaRPr lang="ko-KR" altLang="en-US" sz="1100" dirty="0">
              <a:solidFill>
                <a:prstClr val="black"/>
              </a:solidFill>
              <a:latin typeface="+mj-lt"/>
              <a:ea typeface="굴림" panose="020B0600000101010101" pitchFamily="34" charset="-127"/>
              <a:cs typeface="Arial" pitchFamily="34" charset="0"/>
            </a:endParaRPr>
          </a:p>
        </p:txBody>
      </p:sp>
      <p:sp>
        <p:nvSpPr>
          <p:cNvPr id="156" name="TextBox 119">
            <a:extLst>
              <a:ext uri="{FF2B5EF4-FFF2-40B4-BE49-F238E27FC236}">
                <a16:creationId xmlns:a16="http://schemas.microsoft.com/office/drawing/2014/main" id="{972FB813-99E6-101F-BD6E-D92A8062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025" y="2706687"/>
            <a:ext cx="568325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503020000020004" pitchFamily="34" charset="-127"/>
              </a:rPr>
              <a:t>1985</a:t>
            </a:r>
            <a:endParaRPr lang="ko-KR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굴림" panose="020B0503020000020004" pitchFamily="34" charset="-127"/>
            </a:endParaRPr>
          </a:p>
        </p:txBody>
      </p:sp>
      <p:sp>
        <p:nvSpPr>
          <p:cNvPr id="157" name="타원 37">
            <a:extLst>
              <a:ext uri="{FF2B5EF4-FFF2-40B4-BE49-F238E27FC236}">
                <a16:creationId xmlns:a16="http://schemas.microsoft.com/office/drawing/2014/main" id="{C9C68F23-517E-6C18-DA00-2C401D87D9FC}"/>
              </a:ext>
            </a:extLst>
          </p:cNvPr>
          <p:cNvSpPr/>
          <p:nvPr/>
        </p:nvSpPr>
        <p:spPr bwMode="auto">
          <a:xfrm>
            <a:off x="2339975" y="2517775"/>
            <a:ext cx="630238" cy="631825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endParaRPr lang="ko-KR" altLang="en-US" sz="1100" dirty="0">
              <a:solidFill>
                <a:prstClr val="black"/>
              </a:solidFill>
              <a:latin typeface="+mj-lt"/>
              <a:ea typeface="굴림" panose="020B0600000101010101" pitchFamily="34" charset="-127"/>
              <a:cs typeface="Arial" pitchFamily="34" charset="0"/>
            </a:endParaRPr>
          </a:p>
        </p:txBody>
      </p:sp>
      <p:sp>
        <p:nvSpPr>
          <p:cNvPr id="158" name="TextBox 119">
            <a:extLst>
              <a:ext uri="{FF2B5EF4-FFF2-40B4-BE49-F238E27FC236}">
                <a16:creationId xmlns:a16="http://schemas.microsoft.com/office/drawing/2014/main" id="{167C82BC-EE63-2479-415D-B1BC3CED8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313" y="2706687"/>
            <a:ext cx="568325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503020000020004" pitchFamily="34" charset="-127"/>
              </a:rPr>
              <a:t>1988</a:t>
            </a:r>
            <a:endParaRPr lang="ko-KR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굴림" panose="020B0503020000020004" pitchFamily="34" charset="-127"/>
            </a:endParaRPr>
          </a:p>
        </p:txBody>
      </p:sp>
      <p:sp>
        <p:nvSpPr>
          <p:cNvPr id="159" name="타원 37">
            <a:extLst>
              <a:ext uri="{FF2B5EF4-FFF2-40B4-BE49-F238E27FC236}">
                <a16:creationId xmlns:a16="http://schemas.microsoft.com/office/drawing/2014/main" id="{CB55AF0E-1F1A-D4DD-03BA-1861EE505F7B}"/>
              </a:ext>
            </a:extLst>
          </p:cNvPr>
          <p:cNvSpPr/>
          <p:nvPr/>
        </p:nvSpPr>
        <p:spPr bwMode="auto">
          <a:xfrm>
            <a:off x="3094038" y="2517775"/>
            <a:ext cx="630237" cy="631825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endParaRPr lang="ko-KR" altLang="en-US" sz="1100" dirty="0">
              <a:solidFill>
                <a:prstClr val="black"/>
              </a:solidFill>
              <a:latin typeface="+mj-lt"/>
              <a:ea typeface="굴림" panose="020B0600000101010101" pitchFamily="34" charset="-127"/>
              <a:cs typeface="Arial" pitchFamily="34" charset="0"/>
            </a:endParaRPr>
          </a:p>
        </p:txBody>
      </p:sp>
      <p:sp>
        <p:nvSpPr>
          <p:cNvPr id="160" name="TextBox 119">
            <a:extLst>
              <a:ext uri="{FF2B5EF4-FFF2-40B4-BE49-F238E27FC236}">
                <a16:creationId xmlns:a16="http://schemas.microsoft.com/office/drawing/2014/main" id="{E6F81DBC-7927-564B-585B-4955138D0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788" y="2706687"/>
            <a:ext cx="568325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503020000020004" pitchFamily="34" charset="-127"/>
              </a:rPr>
              <a:t>1999</a:t>
            </a:r>
            <a:endParaRPr lang="ko-KR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굴림" panose="020B0503020000020004" pitchFamily="34" charset="-127"/>
            </a:endParaRPr>
          </a:p>
        </p:txBody>
      </p:sp>
      <p:sp>
        <p:nvSpPr>
          <p:cNvPr id="161" name="타원 37">
            <a:extLst>
              <a:ext uri="{FF2B5EF4-FFF2-40B4-BE49-F238E27FC236}">
                <a16:creationId xmlns:a16="http://schemas.microsoft.com/office/drawing/2014/main" id="{F2D4396B-92E5-172B-5847-F2EA015BA420}"/>
              </a:ext>
            </a:extLst>
          </p:cNvPr>
          <p:cNvSpPr/>
          <p:nvPr/>
        </p:nvSpPr>
        <p:spPr bwMode="auto">
          <a:xfrm>
            <a:off x="3849688" y="2517775"/>
            <a:ext cx="631825" cy="631825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endParaRPr lang="ko-KR" altLang="en-US" sz="1100" dirty="0">
              <a:solidFill>
                <a:prstClr val="black"/>
              </a:solidFill>
              <a:latin typeface="+mj-lt"/>
              <a:ea typeface="굴림" panose="020B0600000101010101" pitchFamily="34" charset="-127"/>
              <a:cs typeface="Arial" pitchFamily="34" charset="0"/>
            </a:endParaRPr>
          </a:p>
        </p:txBody>
      </p:sp>
      <p:sp>
        <p:nvSpPr>
          <p:cNvPr id="162" name="TextBox 119">
            <a:extLst>
              <a:ext uri="{FF2B5EF4-FFF2-40B4-BE49-F238E27FC236}">
                <a16:creationId xmlns:a16="http://schemas.microsoft.com/office/drawing/2014/main" id="{47AF2921-7CA8-9FD7-53B4-6B51749A0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6038" y="2706687"/>
            <a:ext cx="5699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503020000020004" pitchFamily="34" charset="-127"/>
              </a:rPr>
              <a:t>2001</a:t>
            </a:r>
            <a:endParaRPr lang="ko-KR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굴림" panose="020B0503020000020004" pitchFamily="34" charset="-127"/>
            </a:endParaRPr>
          </a:p>
        </p:txBody>
      </p:sp>
      <p:sp>
        <p:nvSpPr>
          <p:cNvPr id="163" name="타원 37">
            <a:extLst>
              <a:ext uri="{FF2B5EF4-FFF2-40B4-BE49-F238E27FC236}">
                <a16:creationId xmlns:a16="http://schemas.microsoft.com/office/drawing/2014/main" id="{B28B69FF-AFF8-9D16-D619-15E7519F96D5}"/>
              </a:ext>
            </a:extLst>
          </p:cNvPr>
          <p:cNvSpPr/>
          <p:nvPr/>
        </p:nvSpPr>
        <p:spPr bwMode="auto">
          <a:xfrm>
            <a:off x="4606925" y="2517775"/>
            <a:ext cx="630238" cy="631825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endParaRPr lang="ko-KR" altLang="en-US" sz="1100" dirty="0">
              <a:solidFill>
                <a:prstClr val="black"/>
              </a:solidFill>
              <a:latin typeface="+mj-lt"/>
              <a:ea typeface="굴림" panose="020B0600000101010101" pitchFamily="34" charset="-127"/>
              <a:cs typeface="Arial" pitchFamily="34" charset="0"/>
            </a:endParaRPr>
          </a:p>
        </p:txBody>
      </p:sp>
      <p:sp>
        <p:nvSpPr>
          <p:cNvPr id="164" name="TextBox 119">
            <a:extLst>
              <a:ext uri="{FF2B5EF4-FFF2-40B4-BE49-F238E27FC236}">
                <a16:creationId xmlns:a16="http://schemas.microsoft.com/office/drawing/2014/main" id="{3F3A0B34-3639-373F-DCC1-E51B6D1A1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4700" y="2706687"/>
            <a:ext cx="666750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503020000020004" pitchFamily="34" charset="-127"/>
              </a:rPr>
              <a:t>2003-05</a:t>
            </a:r>
            <a:endParaRPr lang="ko-KR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굴림" panose="020B0503020000020004" pitchFamily="34" charset="-127"/>
            </a:endParaRPr>
          </a:p>
        </p:txBody>
      </p:sp>
      <p:sp>
        <p:nvSpPr>
          <p:cNvPr id="165" name="TextBox 62">
            <a:extLst>
              <a:ext uri="{FF2B5EF4-FFF2-40B4-BE49-F238E27FC236}">
                <a16:creationId xmlns:a16="http://schemas.microsoft.com/office/drawing/2014/main" id="{67007ACB-A901-8AC1-EAED-F3AF2F1F3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0225" y="3373437"/>
            <a:ext cx="547688" cy="184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+mj-lt"/>
              </a:rPr>
              <a:t>2017-19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6CCABE6-F38D-A159-8D6E-1C13F0990139}"/>
              </a:ext>
            </a:extLst>
          </p:cNvPr>
          <p:cNvSpPr/>
          <p:nvPr/>
        </p:nvSpPr>
        <p:spPr>
          <a:xfrm>
            <a:off x="6210300" y="3565525"/>
            <a:ext cx="1295400" cy="554037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0" lvl="1" defTabSz="457189">
              <a:buClr>
                <a:srgbClr val="B3BABE"/>
              </a:buClr>
              <a:defRPr/>
            </a:pPr>
            <a:r>
              <a:rPr lang="en-GB" sz="900" b="1" dirty="0">
                <a:solidFill>
                  <a:srgbClr val="F79646">
                    <a:lumMod val="75000"/>
                  </a:srgbClr>
                </a:solidFill>
                <a:latin typeface="+mj-lt"/>
                <a:cs typeface="Aharoni" pitchFamily="2" charset="-79"/>
              </a:rPr>
              <a:t>Vadodara Smart City</a:t>
            </a:r>
          </a:p>
          <a:p>
            <a:pPr marL="0" lvl="1" defTabSz="457189">
              <a:buClr>
                <a:srgbClr val="B3BABE"/>
              </a:buClr>
              <a:defRPr/>
            </a:pPr>
            <a:r>
              <a:rPr lang="en-US" sz="900" dirty="0">
                <a:solidFill>
                  <a:prstClr val="black"/>
                </a:solidFill>
                <a:latin typeface="+mj-lt"/>
                <a:cs typeface="Aharoni" pitchFamily="2" charset="-79"/>
              </a:rPr>
              <a:t>India’s first Smart City inaugurated by the PM. CMS technology at work.</a:t>
            </a:r>
            <a:endParaRPr lang="en-GB" sz="900" dirty="0">
              <a:solidFill>
                <a:prstClr val="black"/>
              </a:solidFill>
              <a:latin typeface="+mj-lt"/>
              <a:cs typeface="Aharoni" pitchFamily="2" charset="-79"/>
            </a:endParaRPr>
          </a:p>
        </p:txBody>
      </p:sp>
      <p:sp>
        <p:nvSpPr>
          <p:cNvPr id="167" name="Rectangle 223">
            <a:extLst>
              <a:ext uri="{FF2B5EF4-FFF2-40B4-BE49-F238E27FC236}">
                <a16:creationId xmlns:a16="http://schemas.microsoft.com/office/drawing/2014/main" id="{06F1B9ED-834D-5658-0842-BEF5DE6BD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5" y="1214437"/>
            <a:ext cx="1417638" cy="276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342900" indent="-3429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defTabSz="4556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1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b="1" dirty="0">
                <a:solidFill>
                  <a:srgbClr val="E46C0A"/>
                </a:solidFill>
                <a:latin typeface="+mj-lt"/>
              </a:rPr>
              <a:t>ESIC DX</a:t>
            </a:r>
            <a:r>
              <a:rPr lang="en-GB" altLang="en-US" sz="900" dirty="0">
                <a:solidFill>
                  <a:srgbClr val="000000"/>
                </a:solidFill>
                <a:latin typeface="+mj-lt"/>
              </a:rPr>
              <a:t> journey with  largest health provider. </a:t>
            </a:r>
            <a:endParaRPr lang="en-US" altLang="en-US" sz="9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68" name="TextBox 62">
            <a:extLst>
              <a:ext uri="{FF2B5EF4-FFF2-40B4-BE49-F238E27FC236}">
                <a16:creationId xmlns:a16="http://schemas.microsoft.com/office/drawing/2014/main" id="{80E8DD96-7EC4-F283-DD53-E7521BA70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3788" y="1047750"/>
            <a:ext cx="668337" cy="1857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+mj-lt"/>
              </a:rPr>
              <a:t>2016</a:t>
            </a:r>
          </a:p>
        </p:txBody>
      </p:sp>
      <p:sp>
        <p:nvSpPr>
          <p:cNvPr id="169" name="타원 37">
            <a:extLst>
              <a:ext uri="{FF2B5EF4-FFF2-40B4-BE49-F238E27FC236}">
                <a16:creationId xmlns:a16="http://schemas.microsoft.com/office/drawing/2014/main" id="{34843766-167D-BA20-776E-9C11CE4E9558}"/>
              </a:ext>
            </a:extLst>
          </p:cNvPr>
          <p:cNvSpPr/>
          <p:nvPr/>
        </p:nvSpPr>
        <p:spPr bwMode="auto">
          <a:xfrm>
            <a:off x="6873875" y="2517775"/>
            <a:ext cx="631825" cy="631825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endParaRPr lang="ko-KR" altLang="en-US" sz="1100" dirty="0">
              <a:solidFill>
                <a:prstClr val="black"/>
              </a:solidFill>
              <a:latin typeface="+mj-lt"/>
              <a:ea typeface="굴림" panose="020B0600000101010101" pitchFamily="34" charset="-127"/>
              <a:cs typeface="Arial" pitchFamily="34" charset="0"/>
            </a:endParaRPr>
          </a:p>
        </p:txBody>
      </p:sp>
      <p:sp>
        <p:nvSpPr>
          <p:cNvPr id="170" name="TextBox 119">
            <a:extLst>
              <a:ext uri="{FF2B5EF4-FFF2-40B4-BE49-F238E27FC236}">
                <a16:creationId xmlns:a16="http://schemas.microsoft.com/office/drawing/2014/main" id="{08AFCEB5-31E6-3EB0-58C5-29198A297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1650" y="2706687"/>
            <a:ext cx="684213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503020000020004" pitchFamily="34" charset="-127"/>
              </a:rPr>
              <a:t>2017-19</a:t>
            </a:r>
            <a:endParaRPr lang="ko-KR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굴림" panose="020B0503020000020004" pitchFamily="34" charset="-127"/>
            </a:endParaRPr>
          </a:p>
        </p:txBody>
      </p:sp>
      <p:sp>
        <p:nvSpPr>
          <p:cNvPr id="171" name="타원 37">
            <a:extLst>
              <a:ext uri="{FF2B5EF4-FFF2-40B4-BE49-F238E27FC236}">
                <a16:creationId xmlns:a16="http://schemas.microsoft.com/office/drawing/2014/main" id="{0F2578EC-2C4D-2F03-8B24-9678AA508E24}"/>
              </a:ext>
            </a:extLst>
          </p:cNvPr>
          <p:cNvSpPr/>
          <p:nvPr/>
        </p:nvSpPr>
        <p:spPr bwMode="auto">
          <a:xfrm>
            <a:off x="5362575" y="2517775"/>
            <a:ext cx="628650" cy="631825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endParaRPr lang="ko-KR" altLang="en-US" sz="1100" dirty="0">
              <a:solidFill>
                <a:prstClr val="black"/>
              </a:solidFill>
              <a:latin typeface="+mj-lt"/>
              <a:ea typeface="굴림" panose="020B0600000101010101" pitchFamily="34" charset="-127"/>
              <a:cs typeface="Arial" pitchFamily="34" charset="0"/>
            </a:endParaRPr>
          </a:p>
        </p:txBody>
      </p:sp>
      <p:sp>
        <p:nvSpPr>
          <p:cNvPr id="172" name="TextBox 119">
            <a:extLst>
              <a:ext uri="{FF2B5EF4-FFF2-40B4-BE49-F238E27FC236}">
                <a16:creationId xmlns:a16="http://schemas.microsoft.com/office/drawing/2014/main" id="{7E3402DD-4C7A-24DC-D9BC-04EA3C06F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8763" y="2706687"/>
            <a:ext cx="687387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503020000020004" pitchFamily="34" charset="-127"/>
              </a:rPr>
              <a:t>2007-08</a:t>
            </a:r>
            <a:endParaRPr lang="ko-KR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굴림" panose="020B0503020000020004" pitchFamily="34" charset="-127"/>
            </a:endParaRPr>
          </a:p>
        </p:txBody>
      </p:sp>
      <p:sp>
        <p:nvSpPr>
          <p:cNvPr id="173" name="타원 37">
            <a:extLst>
              <a:ext uri="{FF2B5EF4-FFF2-40B4-BE49-F238E27FC236}">
                <a16:creationId xmlns:a16="http://schemas.microsoft.com/office/drawing/2014/main" id="{6E6BB302-1121-2E49-98EE-18E04955726E}"/>
              </a:ext>
            </a:extLst>
          </p:cNvPr>
          <p:cNvSpPr/>
          <p:nvPr/>
        </p:nvSpPr>
        <p:spPr bwMode="auto">
          <a:xfrm>
            <a:off x="7631113" y="2517775"/>
            <a:ext cx="630237" cy="631825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endParaRPr lang="ko-KR" altLang="en-US" sz="1100" dirty="0">
              <a:solidFill>
                <a:prstClr val="black"/>
              </a:solidFill>
              <a:latin typeface="+mj-lt"/>
              <a:ea typeface="굴림" panose="020B0600000101010101" pitchFamily="34" charset="-127"/>
              <a:cs typeface="Arial" pitchFamily="34" charset="0"/>
            </a:endParaRPr>
          </a:p>
        </p:txBody>
      </p:sp>
      <p:sp>
        <p:nvSpPr>
          <p:cNvPr id="174" name="TextBox 119">
            <a:extLst>
              <a:ext uri="{FF2B5EF4-FFF2-40B4-BE49-F238E27FC236}">
                <a16:creationId xmlns:a16="http://schemas.microsoft.com/office/drawing/2014/main" id="{D3BC76F0-6352-3057-2943-943B57CF9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2706687"/>
            <a:ext cx="701675" cy="2619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503020000020004" pitchFamily="34" charset="-127"/>
              </a:rPr>
              <a:t>2020-23</a:t>
            </a:r>
            <a:endParaRPr lang="ko-KR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굴림" panose="020B0503020000020004" pitchFamily="34" charset="-127"/>
            </a:endParaRPr>
          </a:p>
        </p:txBody>
      </p:sp>
      <p:sp>
        <p:nvSpPr>
          <p:cNvPr id="175" name="TextBox 62">
            <a:extLst>
              <a:ext uri="{FF2B5EF4-FFF2-40B4-BE49-F238E27FC236}">
                <a16:creationId xmlns:a16="http://schemas.microsoft.com/office/drawing/2014/main" id="{63362C57-0374-8790-3D08-3E5BBB98D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6675" y="1047750"/>
            <a:ext cx="668338" cy="1857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+mj-lt"/>
              </a:rPr>
              <a:t>2020-23</a:t>
            </a:r>
          </a:p>
        </p:txBody>
      </p:sp>
      <p:sp>
        <p:nvSpPr>
          <p:cNvPr id="176" name="Rectangle 252">
            <a:extLst>
              <a:ext uri="{FF2B5EF4-FFF2-40B4-BE49-F238E27FC236}">
                <a16:creationId xmlns:a16="http://schemas.microsoft.com/office/drawing/2014/main" id="{0EF9DD07-0492-AE63-716B-081909379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788" y="1225550"/>
            <a:ext cx="1139825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342900" indent="-3429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1913" indent="-61913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1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b="1" dirty="0">
                <a:solidFill>
                  <a:srgbClr val="E46C0A"/>
                </a:solidFill>
                <a:latin typeface="+mj-lt"/>
              </a:rPr>
              <a:t>Year of Certifications</a:t>
            </a:r>
          </a:p>
          <a:p>
            <a:pPr lvl="1"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GB" altLang="en-US" sz="900" dirty="0">
                <a:solidFill>
                  <a:srgbClr val="000000"/>
                </a:solidFill>
                <a:latin typeface="+mj-lt"/>
              </a:rPr>
              <a:t>CMMI Level 5</a:t>
            </a:r>
          </a:p>
          <a:p>
            <a:pPr lvl="1"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900" dirty="0">
                <a:solidFill>
                  <a:srgbClr val="000000"/>
                </a:solidFill>
                <a:latin typeface="+mj-lt"/>
              </a:rPr>
              <a:t>ISO 27001</a:t>
            </a:r>
          </a:p>
          <a:p>
            <a:pPr lvl="1"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900" dirty="0">
                <a:solidFill>
                  <a:srgbClr val="000000"/>
                </a:solidFill>
                <a:latin typeface="+mj-lt"/>
              </a:rPr>
              <a:t>ISO 20001</a:t>
            </a:r>
            <a:endParaRPr lang="en-GB" altLang="en-US" sz="900" dirty="0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177" name="직선 연결선 96">
            <a:extLst>
              <a:ext uri="{FF2B5EF4-FFF2-40B4-BE49-F238E27FC236}">
                <a16:creationId xmlns:a16="http://schemas.microsoft.com/office/drawing/2014/main" id="{54B9CBB2-943B-574E-B39B-7C31EE0D77E8}"/>
              </a:ext>
            </a:extLst>
          </p:cNvPr>
          <p:cNvCxnSpPr/>
          <p:nvPr/>
        </p:nvCxnSpPr>
        <p:spPr>
          <a:xfrm>
            <a:off x="7508875" y="2882900"/>
            <a:ext cx="4763" cy="198437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타원 37">
            <a:extLst>
              <a:ext uri="{FF2B5EF4-FFF2-40B4-BE49-F238E27FC236}">
                <a16:creationId xmlns:a16="http://schemas.microsoft.com/office/drawing/2014/main" id="{293FB7B8-3CD0-5AE7-77DC-4E2D9B731D4E}"/>
              </a:ext>
            </a:extLst>
          </p:cNvPr>
          <p:cNvSpPr/>
          <p:nvPr/>
        </p:nvSpPr>
        <p:spPr bwMode="auto">
          <a:xfrm>
            <a:off x="6116638" y="2517775"/>
            <a:ext cx="631825" cy="631825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endParaRPr lang="ko-KR" altLang="en-US" sz="1100" dirty="0">
              <a:solidFill>
                <a:prstClr val="black"/>
              </a:solidFill>
              <a:latin typeface="+mj-lt"/>
              <a:ea typeface="굴림" panose="020B0600000101010101" pitchFamily="34" charset="-127"/>
              <a:cs typeface="Arial" pitchFamily="34" charset="0"/>
            </a:endParaRPr>
          </a:p>
        </p:txBody>
      </p:sp>
      <p:sp>
        <p:nvSpPr>
          <p:cNvPr id="179" name="TextBox 119">
            <a:extLst>
              <a:ext uri="{FF2B5EF4-FFF2-40B4-BE49-F238E27FC236}">
                <a16:creationId xmlns:a16="http://schemas.microsoft.com/office/drawing/2014/main" id="{3B3DF076-C957-CD85-B843-33DD0A84F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88" y="2752725"/>
            <a:ext cx="441325" cy="1698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503020000020004" pitchFamily="34" charset="-127"/>
              </a:rPr>
              <a:t>2016</a:t>
            </a:r>
            <a:endParaRPr lang="ko-KR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굴림" panose="020B0503020000020004" pitchFamily="34" charset="-127"/>
            </a:endParaRPr>
          </a:p>
        </p:txBody>
      </p:sp>
      <p:sp>
        <p:nvSpPr>
          <p:cNvPr id="180" name="TextBox 62">
            <a:extLst>
              <a:ext uri="{FF2B5EF4-FFF2-40B4-BE49-F238E27FC236}">
                <a16:creationId xmlns:a16="http://schemas.microsoft.com/office/drawing/2014/main" id="{AD4C815B-8671-7E37-E286-035675F8A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3394075"/>
            <a:ext cx="568325" cy="184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+mj-lt"/>
              </a:rPr>
              <a:t>2007-08</a:t>
            </a:r>
          </a:p>
        </p:txBody>
      </p:sp>
      <p:sp>
        <p:nvSpPr>
          <p:cNvPr id="181" name="Rectangle 265">
            <a:extLst>
              <a:ext uri="{FF2B5EF4-FFF2-40B4-BE49-F238E27FC236}">
                <a16:creationId xmlns:a16="http://schemas.microsoft.com/office/drawing/2014/main" id="{B7FD22BF-59F2-6298-1C2E-7036F0460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763" y="3575050"/>
            <a:ext cx="1274762" cy="6937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61913" indent="-61913" defTabSz="455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US" altLang="en-US" sz="900" b="1" dirty="0">
                <a:solidFill>
                  <a:srgbClr val="E46C0A"/>
                </a:solidFill>
                <a:latin typeface="+mj-lt"/>
              </a:rPr>
              <a:t>CSC &amp; CMS Info with Blackstone </a:t>
            </a:r>
            <a:endParaRPr lang="en-GB" altLang="en-US" sz="900" b="1" dirty="0">
              <a:solidFill>
                <a:srgbClr val="E46C0A"/>
              </a:solidFill>
              <a:latin typeface="+mj-lt"/>
            </a:endParaRPr>
          </a:p>
          <a:p>
            <a:pPr marL="0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US" altLang="en-US" sz="900" dirty="0">
                <a:solidFill>
                  <a:srgbClr val="000000"/>
                </a:solidFill>
                <a:latin typeface="+mj-lt"/>
              </a:rPr>
              <a:t>Formed CMS Info along with Blackstone, spinning out Cash Mgt &amp; IT Ser.</a:t>
            </a:r>
            <a:endParaRPr lang="en-GB" altLang="en-US" sz="9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82" name="Rectangle 266">
            <a:extLst>
              <a:ext uri="{FF2B5EF4-FFF2-40B4-BE49-F238E27FC236}">
                <a16:creationId xmlns:a16="http://schemas.microsoft.com/office/drawing/2014/main" id="{0DB33D45-00F3-814E-2BC3-821A72A31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1700" y="4359275"/>
            <a:ext cx="1154113" cy="415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61913" indent="-61913" defTabSz="455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US" altLang="en-US" sz="900" b="1" dirty="0">
                <a:solidFill>
                  <a:srgbClr val="E46C0A"/>
                </a:solidFill>
                <a:latin typeface="+mj-lt"/>
              </a:rPr>
              <a:t>CSC Front end Citizen Service Delivery </a:t>
            </a:r>
            <a:endParaRPr lang="en-GB" altLang="en-US" sz="900" b="1" dirty="0">
              <a:solidFill>
                <a:srgbClr val="E46C0A"/>
              </a:solidFill>
              <a:latin typeface="+mj-lt"/>
            </a:endParaRPr>
          </a:p>
          <a:p>
            <a:pPr marL="0" indent="0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US" altLang="en-US" sz="900" dirty="0">
                <a:solidFill>
                  <a:srgbClr val="000000"/>
                </a:solidFill>
                <a:latin typeface="+mj-lt"/>
              </a:rPr>
              <a:t>CSCs across states.</a:t>
            </a:r>
            <a:endParaRPr lang="en-GB" altLang="en-US" sz="9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83" name="Rectangle 270">
            <a:extLst>
              <a:ext uri="{FF2B5EF4-FFF2-40B4-BE49-F238E27FC236}">
                <a16:creationId xmlns:a16="http://schemas.microsoft.com/office/drawing/2014/main" id="{ADC751B9-0C18-6073-7FDA-766B4061D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25" y="4183062"/>
            <a:ext cx="1295400" cy="692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342900" indent="-3429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defTabSz="4556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1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b="1" dirty="0">
                <a:solidFill>
                  <a:srgbClr val="E46C0A"/>
                </a:solidFill>
                <a:latin typeface="+mj-lt"/>
              </a:rPr>
              <a:t>West Bengal Smart Grid </a:t>
            </a:r>
          </a:p>
          <a:p>
            <a:pPr marL="0" lvl="1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dirty="0">
                <a:solidFill>
                  <a:srgbClr val="000000"/>
                </a:solidFill>
                <a:latin typeface="+mj-lt"/>
              </a:rPr>
              <a:t>Pioneer again. Siliguri district  lights up with End-to-End CMS technology for Utilities.</a:t>
            </a:r>
            <a:endParaRPr lang="en-US" altLang="en-US" sz="9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84" name="Rectangle 272">
            <a:extLst>
              <a:ext uri="{FF2B5EF4-FFF2-40B4-BE49-F238E27FC236}">
                <a16:creationId xmlns:a16="http://schemas.microsoft.com/office/drawing/2014/main" id="{B24D5FDE-D852-A1D0-C299-7F68DE782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5" y="1538287"/>
            <a:ext cx="1416050" cy="415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342900" indent="-3429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defTabSz="4556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1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b="1" dirty="0">
                <a:solidFill>
                  <a:srgbClr val="E46C0A"/>
                </a:solidFill>
                <a:latin typeface="+mj-lt"/>
              </a:rPr>
              <a:t>EWDS NCRMP</a:t>
            </a:r>
          </a:p>
          <a:p>
            <a:pPr marL="0" lvl="1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dirty="0" err="1">
                <a:solidFill>
                  <a:srgbClr val="000000"/>
                </a:solidFill>
                <a:latin typeface="+mj-lt"/>
              </a:rPr>
              <a:t>Kawach</a:t>
            </a:r>
            <a:r>
              <a:rPr lang="en-GB" altLang="en-US" sz="900" dirty="0">
                <a:solidFill>
                  <a:srgbClr val="000000"/>
                </a:solidFill>
                <a:latin typeface="+mj-lt"/>
              </a:rPr>
              <a:t> Disaster Management System.</a:t>
            </a:r>
            <a:endParaRPr lang="en-US" altLang="en-US" sz="9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85" name="Rectangle 274">
            <a:extLst>
              <a:ext uri="{FF2B5EF4-FFF2-40B4-BE49-F238E27FC236}">
                <a16:creationId xmlns:a16="http://schemas.microsoft.com/office/drawing/2014/main" id="{348E3C9F-BEA3-5538-6F7F-566623C7B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5" y="1982787"/>
            <a:ext cx="1417638" cy="415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342900" indent="-3429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defTabSz="4556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1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b="1" dirty="0">
                <a:solidFill>
                  <a:srgbClr val="E46C0A"/>
                </a:solidFill>
                <a:latin typeface="+mj-lt"/>
              </a:rPr>
              <a:t>GOI Cloud </a:t>
            </a:r>
            <a:r>
              <a:rPr lang="en-GB" altLang="en-US" sz="900" b="1" dirty="0" err="1">
                <a:solidFill>
                  <a:srgbClr val="E46C0A"/>
                </a:solidFill>
                <a:latin typeface="+mj-lt"/>
              </a:rPr>
              <a:t>Meghraj</a:t>
            </a:r>
            <a:r>
              <a:rPr lang="en-GB" altLang="en-US" sz="900" b="1" dirty="0">
                <a:solidFill>
                  <a:srgbClr val="E46C0A"/>
                </a:solidFill>
                <a:latin typeface="+mj-lt"/>
              </a:rPr>
              <a:t> &amp; Arogya </a:t>
            </a:r>
            <a:r>
              <a:rPr lang="en-GB" altLang="en-US" sz="900" b="1" dirty="0" err="1">
                <a:solidFill>
                  <a:srgbClr val="E46C0A"/>
                </a:solidFill>
                <a:latin typeface="+mj-lt"/>
              </a:rPr>
              <a:t>Setu</a:t>
            </a:r>
            <a:r>
              <a:rPr lang="en-GB" altLang="en-US" sz="900" b="1" dirty="0">
                <a:solidFill>
                  <a:srgbClr val="E46C0A"/>
                </a:solidFill>
                <a:latin typeface="+mj-lt"/>
              </a:rPr>
              <a:t> App </a:t>
            </a:r>
          </a:p>
          <a:p>
            <a:pPr marL="0" lvl="1">
              <a:spcBef>
                <a:spcPct val="0"/>
              </a:spcBef>
              <a:buClr>
                <a:srgbClr val="B3BABE"/>
              </a:buClr>
              <a:buFont typeface="Arial" panose="020B0604020202020204" pitchFamily="34" charset="0"/>
              <a:buNone/>
              <a:defRPr/>
            </a:pPr>
            <a:r>
              <a:rPr lang="en-GB" altLang="en-US" sz="900" dirty="0">
                <a:solidFill>
                  <a:srgbClr val="000000"/>
                </a:solidFill>
                <a:latin typeface="+mj-lt"/>
              </a:rPr>
              <a:t>National Health App.</a:t>
            </a:r>
            <a:endParaRPr lang="en-US" altLang="en-US" sz="9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86" name="타원 37">
            <a:extLst>
              <a:ext uri="{FF2B5EF4-FFF2-40B4-BE49-F238E27FC236}">
                <a16:creationId xmlns:a16="http://schemas.microsoft.com/office/drawing/2014/main" id="{7A46A963-2442-8274-B996-EE4887979EDD}"/>
              </a:ext>
            </a:extLst>
          </p:cNvPr>
          <p:cNvSpPr/>
          <p:nvPr/>
        </p:nvSpPr>
        <p:spPr bwMode="auto">
          <a:xfrm>
            <a:off x="8385175" y="2517775"/>
            <a:ext cx="630238" cy="631825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endParaRPr lang="ko-KR" altLang="en-US" sz="1100" dirty="0">
              <a:solidFill>
                <a:prstClr val="black"/>
              </a:solidFill>
              <a:latin typeface="+mj-lt"/>
              <a:ea typeface="굴림" panose="020B0600000101010101" pitchFamily="34" charset="-127"/>
              <a:cs typeface="Arial" pitchFamily="34" charset="0"/>
            </a:endParaRPr>
          </a:p>
        </p:txBody>
      </p:sp>
      <p:sp>
        <p:nvSpPr>
          <p:cNvPr id="187" name="TextBox 119">
            <a:extLst>
              <a:ext uri="{FF2B5EF4-FFF2-40B4-BE49-F238E27FC236}">
                <a16:creationId xmlns:a16="http://schemas.microsoft.com/office/drawing/2014/main" id="{0F5B55CE-8A43-6280-60A1-B23913570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7563" y="2706687"/>
            <a:ext cx="536575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503020000020004" pitchFamily="34" charset="-127"/>
              </a:rPr>
              <a:t>2024</a:t>
            </a:r>
            <a:endParaRPr lang="ko-KR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굴림" panose="020B0503020000020004" pitchFamily="34" charset="-127"/>
            </a:endParaRPr>
          </a:p>
        </p:txBody>
      </p:sp>
      <p:grpSp>
        <p:nvGrpSpPr>
          <p:cNvPr id="188" name="Group 13">
            <a:extLst>
              <a:ext uri="{FF2B5EF4-FFF2-40B4-BE49-F238E27FC236}">
                <a16:creationId xmlns:a16="http://schemas.microsoft.com/office/drawing/2014/main" id="{E53023DD-F0C1-BC4C-B9E5-95B2E266881C}"/>
              </a:ext>
            </a:extLst>
          </p:cNvPr>
          <p:cNvGrpSpPr>
            <a:grpSpLocks/>
          </p:cNvGrpSpPr>
          <p:nvPr/>
        </p:nvGrpSpPr>
        <p:grpSpPr bwMode="auto">
          <a:xfrm>
            <a:off x="147638" y="935037"/>
            <a:ext cx="635000" cy="119063"/>
            <a:chOff x="60326" y="645757"/>
            <a:chExt cx="783956" cy="146406"/>
          </a:xfrm>
        </p:grpSpPr>
        <p:sp>
          <p:nvSpPr>
            <p:cNvPr id="189" name="5-Point Star 234">
              <a:extLst>
                <a:ext uri="{FF2B5EF4-FFF2-40B4-BE49-F238E27FC236}">
                  <a16:creationId xmlns:a16="http://schemas.microsoft.com/office/drawing/2014/main" id="{A9ABFC01-BFBC-3B97-EAF4-F4AA2F2858A6}"/>
                </a:ext>
              </a:extLst>
            </p:cNvPr>
            <p:cNvSpPr/>
            <p:nvPr/>
          </p:nvSpPr>
          <p:spPr>
            <a:xfrm>
              <a:off x="60326" y="645757"/>
              <a:ext cx="168551" cy="146406"/>
            </a:xfrm>
            <a:prstGeom prst="star5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89">
                <a:defRPr/>
              </a:pPr>
              <a:endParaRPr lang="en-GB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90" name="5-Point Star 234">
              <a:extLst>
                <a:ext uri="{FF2B5EF4-FFF2-40B4-BE49-F238E27FC236}">
                  <a16:creationId xmlns:a16="http://schemas.microsoft.com/office/drawing/2014/main" id="{12C72769-C220-B009-6F0A-79196EE061F9}"/>
                </a:ext>
              </a:extLst>
            </p:cNvPr>
            <p:cNvSpPr/>
            <p:nvPr/>
          </p:nvSpPr>
          <p:spPr>
            <a:xfrm>
              <a:off x="217117" y="645757"/>
              <a:ext cx="170510" cy="146406"/>
            </a:xfrm>
            <a:prstGeom prst="star5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r" defTabSz="457189">
                <a:defRPr/>
              </a:pPr>
              <a:endParaRPr lang="en-GB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91" name="5-Point Star 234">
              <a:extLst>
                <a:ext uri="{FF2B5EF4-FFF2-40B4-BE49-F238E27FC236}">
                  <a16:creationId xmlns:a16="http://schemas.microsoft.com/office/drawing/2014/main" id="{B869AA6A-37DF-2C47-0EBC-FD03AB30D75E}"/>
                </a:ext>
              </a:extLst>
            </p:cNvPr>
            <p:cNvSpPr/>
            <p:nvPr/>
          </p:nvSpPr>
          <p:spPr>
            <a:xfrm>
              <a:off x="360189" y="645757"/>
              <a:ext cx="170511" cy="146406"/>
            </a:xfrm>
            <a:prstGeom prst="star5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89">
                <a:defRPr/>
              </a:pPr>
              <a:endParaRPr lang="en-GB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92" name="5-Point Star 234">
              <a:extLst>
                <a:ext uri="{FF2B5EF4-FFF2-40B4-BE49-F238E27FC236}">
                  <a16:creationId xmlns:a16="http://schemas.microsoft.com/office/drawing/2014/main" id="{801DBC15-F7F7-0321-686F-E2E643D414A3}"/>
                </a:ext>
              </a:extLst>
            </p:cNvPr>
            <p:cNvSpPr/>
            <p:nvPr/>
          </p:nvSpPr>
          <p:spPr>
            <a:xfrm>
              <a:off x="518940" y="645757"/>
              <a:ext cx="168551" cy="146406"/>
            </a:xfrm>
            <a:prstGeom prst="star5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r" defTabSz="457189">
                <a:defRPr/>
              </a:pPr>
              <a:endParaRPr lang="en-GB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93" name="5-Point Star 234">
              <a:extLst>
                <a:ext uri="{FF2B5EF4-FFF2-40B4-BE49-F238E27FC236}">
                  <a16:creationId xmlns:a16="http://schemas.microsoft.com/office/drawing/2014/main" id="{C1A64349-5AE5-98FB-681E-B8A9E5F6E690}"/>
                </a:ext>
              </a:extLst>
            </p:cNvPr>
            <p:cNvSpPr/>
            <p:nvPr/>
          </p:nvSpPr>
          <p:spPr>
            <a:xfrm>
              <a:off x="675731" y="645757"/>
              <a:ext cx="168551" cy="146406"/>
            </a:xfrm>
            <a:prstGeom prst="star5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89">
                <a:defRPr/>
              </a:pPr>
              <a:endParaRPr lang="en-GB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194" name="5-Point Star 234">
            <a:extLst>
              <a:ext uri="{FF2B5EF4-FFF2-40B4-BE49-F238E27FC236}">
                <a16:creationId xmlns:a16="http://schemas.microsoft.com/office/drawing/2014/main" id="{4875FE44-44B8-8C6E-6350-01DF3345CEFE}"/>
              </a:ext>
            </a:extLst>
          </p:cNvPr>
          <p:cNvSpPr/>
          <p:nvPr/>
        </p:nvSpPr>
        <p:spPr>
          <a:xfrm>
            <a:off x="1676400" y="920750"/>
            <a:ext cx="136525" cy="119062"/>
          </a:xfrm>
          <a:prstGeom prst="star5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89">
              <a:defRPr/>
            </a:pPr>
            <a:endParaRPr lang="en-GB">
              <a:solidFill>
                <a:prstClr val="black"/>
              </a:solidFill>
              <a:latin typeface="+mj-lt"/>
            </a:endParaRPr>
          </a:p>
        </p:txBody>
      </p:sp>
      <p:cxnSp>
        <p:nvCxnSpPr>
          <p:cNvPr id="195" name="직선 연결선 92">
            <a:extLst>
              <a:ext uri="{FF2B5EF4-FFF2-40B4-BE49-F238E27FC236}">
                <a16:creationId xmlns:a16="http://schemas.microsoft.com/office/drawing/2014/main" id="{16747A86-FF88-978E-7F53-B6414D1E772B}"/>
              </a:ext>
            </a:extLst>
          </p:cNvPr>
          <p:cNvCxnSpPr/>
          <p:nvPr/>
        </p:nvCxnSpPr>
        <p:spPr>
          <a:xfrm>
            <a:off x="2960688" y="2813050"/>
            <a:ext cx="6350" cy="18415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5-Point Star 234">
            <a:extLst>
              <a:ext uri="{FF2B5EF4-FFF2-40B4-BE49-F238E27FC236}">
                <a16:creationId xmlns:a16="http://schemas.microsoft.com/office/drawing/2014/main" id="{E0AD1621-7E31-DB1E-1E19-04D06F85A74B}"/>
              </a:ext>
            </a:extLst>
          </p:cNvPr>
          <p:cNvSpPr/>
          <p:nvPr/>
        </p:nvSpPr>
        <p:spPr>
          <a:xfrm>
            <a:off x="2733675" y="3267075"/>
            <a:ext cx="136525" cy="119062"/>
          </a:xfrm>
          <a:prstGeom prst="star5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89">
              <a:defRPr/>
            </a:pPr>
            <a:endParaRPr lang="en-GB">
              <a:solidFill>
                <a:prstClr val="black"/>
              </a:solidFill>
              <a:latin typeface="+mj-lt"/>
            </a:endParaRPr>
          </a:p>
        </p:txBody>
      </p:sp>
      <p:cxnSp>
        <p:nvCxnSpPr>
          <p:cNvPr id="197" name="직선 연결선 96">
            <a:extLst>
              <a:ext uri="{FF2B5EF4-FFF2-40B4-BE49-F238E27FC236}">
                <a16:creationId xmlns:a16="http://schemas.microsoft.com/office/drawing/2014/main" id="{C2D246BA-7729-1384-EE27-4DA466720B37}"/>
              </a:ext>
            </a:extLst>
          </p:cNvPr>
          <p:cNvCxnSpPr>
            <a:cxnSpLocks/>
          </p:cNvCxnSpPr>
          <p:nvPr/>
        </p:nvCxnSpPr>
        <p:spPr>
          <a:xfrm>
            <a:off x="77788" y="936625"/>
            <a:ext cx="0" cy="185102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92">
            <a:extLst>
              <a:ext uri="{FF2B5EF4-FFF2-40B4-BE49-F238E27FC236}">
                <a16:creationId xmlns:a16="http://schemas.microsoft.com/office/drawing/2014/main" id="{76D63975-B020-5E2B-93E9-4CBBBD2AA636}"/>
              </a:ext>
            </a:extLst>
          </p:cNvPr>
          <p:cNvCxnSpPr/>
          <p:nvPr/>
        </p:nvCxnSpPr>
        <p:spPr>
          <a:xfrm>
            <a:off x="4484688" y="2813050"/>
            <a:ext cx="6350" cy="18415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5-Point Star 234">
            <a:extLst>
              <a:ext uri="{FF2B5EF4-FFF2-40B4-BE49-F238E27FC236}">
                <a16:creationId xmlns:a16="http://schemas.microsoft.com/office/drawing/2014/main" id="{5D0BE3D4-DD64-08C6-F730-ABB66B48D2B6}"/>
              </a:ext>
            </a:extLst>
          </p:cNvPr>
          <p:cNvSpPr/>
          <p:nvPr/>
        </p:nvSpPr>
        <p:spPr>
          <a:xfrm>
            <a:off x="6173788" y="895350"/>
            <a:ext cx="136525" cy="119062"/>
          </a:xfrm>
          <a:prstGeom prst="star5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89">
              <a:defRPr/>
            </a:pPr>
            <a:endParaRPr lang="en-GB">
              <a:solidFill>
                <a:prstClr val="black"/>
              </a:solidFill>
              <a:latin typeface="+mj-lt"/>
            </a:endParaRPr>
          </a:p>
        </p:txBody>
      </p:sp>
      <p:sp>
        <p:nvSpPr>
          <p:cNvPr id="200" name="5-Point Star 234">
            <a:extLst>
              <a:ext uri="{FF2B5EF4-FFF2-40B4-BE49-F238E27FC236}">
                <a16:creationId xmlns:a16="http://schemas.microsoft.com/office/drawing/2014/main" id="{CE23263D-63ED-EC40-1B6B-EE4A98E48C97}"/>
              </a:ext>
            </a:extLst>
          </p:cNvPr>
          <p:cNvSpPr/>
          <p:nvPr/>
        </p:nvSpPr>
        <p:spPr>
          <a:xfrm>
            <a:off x="4289425" y="3238500"/>
            <a:ext cx="136525" cy="119062"/>
          </a:xfrm>
          <a:prstGeom prst="star5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89">
              <a:defRPr/>
            </a:pPr>
            <a:endParaRPr lang="en-GB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201" name="Group 31">
            <a:extLst>
              <a:ext uri="{FF2B5EF4-FFF2-40B4-BE49-F238E27FC236}">
                <a16:creationId xmlns:a16="http://schemas.microsoft.com/office/drawing/2014/main" id="{7422A4E7-F244-320B-FCEF-49DA55AFD058}"/>
              </a:ext>
            </a:extLst>
          </p:cNvPr>
          <p:cNvGrpSpPr>
            <a:grpSpLocks/>
          </p:cNvGrpSpPr>
          <p:nvPr/>
        </p:nvGrpSpPr>
        <p:grpSpPr bwMode="auto">
          <a:xfrm>
            <a:off x="7151688" y="3238500"/>
            <a:ext cx="263525" cy="119062"/>
            <a:chOff x="60326" y="645757"/>
            <a:chExt cx="326607" cy="146406"/>
          </a:xfrm>
        </p:grpSpPr>
        <p:sp>
          <p:nvSpPr>
            <p:cNvPr id="202" name="5-Point Star 234">
              <a:extLst>
                <a:ext uri="{FF2B5EF4-FFF2-40B4-BE49-F238E27FC236}">
                  <a16:creationId xmlns:a16="http://schemas.microsoft.com/office/drawing/2014/main" id="{A88FDC57-869D-AA56-EDD8-326ED6E936DC}"/>
                </a:ext>
              </a:extLst>
            </p:cNvPr>
            <p:cNvSpPr/>
            <p:nvPr/>
          </p:nvSpPr>
          <p:spPr>
            <a:xfrm>
              <a:off x="60326" y="645757"/>
              <a:ext cx="169206" cy="146406"/>
            </a:xfrm>
            <a:prstGeom prst="star5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89">
                <a:defRPr/>
              </a:pPr>
              <a:endParaRPr lang="en-GB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03" name="5-Point Star 234">
              <a:extLst>
                <a:ext uri="{FF2B5EF4-FFF2-40B4-BE49-F238E27FC236}">
                  <a16:creationId xmlns:a16="http://schemas.microsoft.com/office/drawing/2014/main" id="{E2C39F8C-5B45-D44E-9E4F-C80DF542E8F8}"/>
                </a:ext>
              </a:extLst>
            </p:cNvPr>
            <p:cNvSpPr/>
            <p:nvPr/>
          </p:nvSpPr>
          <p:spPr>
            <a:xfrm>
              <a:off x="217727" y="645757"/>
              <a:ext cx="169206" cy="146406"/>
            </a:xfrm>
            <a:prstGeom prst="star5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r" defTabSz="457189">
                <a:defRPr/>
              </a:pPr>
              <a:endParaRPr lang="en-GB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04" name="Group 37">
            <a:extLst>
              <a:ext uri="{FF2B5EF4-FFF2-40B4-BE49-F238E27FC236}">
                <a16:creationId xmlns:a16="http://schemas.microsoft.com/office/drawing/2014/main" id="{C7F0337E-6A37-9769-C50E-A21F16FC46F4}"/>
              </a:ext>
            </a:extLst>
          </p:cNvPr>
          <p:cNvGrpSpPr>
            <a:grpSpLocks/>
          </p:cNvGrpSpPr>
          <p:nvPr/>
        </p:nvGrpSpPr>
        <p:grpSpPr bwMode="auto">
          <a:xfrm>
            <a:off x="7651750" y="928687"/>
            <a:ext cx="379413" cy="119063"/>
            <a:chOff x="60326" y="645757"/>
            <a:chExt cx="469541" cy="146406"/>
          </a:xfrm>
        </p:grpSpPr>
        <p:sp>
          <p:nvSpPr>
            <p:cNvPr id="205" name="5-Point Star 234">
              <a:extLst>
                <a:ext uri="{FF2B5EF4-FFF2-40B4-BE49-F238E27FC236}">
                  <a16:creationId xmlns:a16="http://schemas.microsoft.com/office/drawing/2014/main" id="{3A5A7565-437D-D18D-A361-4414320FCD7D}"/>
                </a:ext>
              </a:extLst>
            </p:cNvPr>
            <p:cNvSpPr/>
            <p:nvPr/>
          </p:nvSpPr>
          <p:spPr>
            <a:xfrm>
              <a:off x="60326" y="645757"/>
              <a:ext cx="168956" cy="146406"/>
            </a:xfrm>
            <a:prstGeom prst="star5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89">
                <a:defRPr/>
              </a:pPr>
              <a:endParaRPr lang="en-GB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06" name="5-Point Star 234">
              <a:extLst>
                <a:ext uri="{FF2B5EF4-FFF2-40B4-BE49-F238E27FC236}">
                  <a16:creationId xmlns:a16="http://schemas.microsoft.com/office/drawing/2014/main" id="{B38C3637-2560-D6E0-EDAC-CFAD45C407D0}"/>
                </a:ext>
              </a:extLst>
            </p:cNvPr>
            <p:cNvSpPr/>
            <p:nvPr/>
          </p:nvSpPr>
          <p:spPr>
            <a:xfrm>
              <a:off x="217494" y="645757"/>
              <a:ext cx="168956" cy="146406"/>
            </a:xfrm>
            <a:prstGeom prst="star5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r" defTabSz="457189">
                <a:defRPr/>
              </a:pPr>
              <a:endParaRPr lang="en-GB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07" name="5-Point Star 234">
              <a:extLst>
                <a:ext uri="{FF2B5EF4-FFF2-40B4-BE49-F238E27FC236}">
                  <a16:creationId xmlns:a16="http://schemas.microsoft.com/office/drawing/2014/main" id="{AFE25222-A79A-4E8B-DE5F-801CE4EB2800}"/>
                </a:ext>
              </a:extLst>
            </p:cNvPr>
            <p:cNvSpPr/>
            <p:nvPr/>
          </p:nvSpPr>
          <p:spPr>
            <a:xfrm>
              <a:off x="360911" y="645757"/>
              <a:ext cx="168956" cy="146406"/>
            </a:xfrm>
            <a:prstGeom prst="star5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89">
                <a:defRPr/>
              </a:pPr>
              <a:endParaRPr lang="en-GB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208" name="TextBox 62">
            <a:extLst>
              <a:ext uri="{FF2B5EF4-FFF2-40B4-BE49-F238E27FC236}">
                <a16:creationId xmlns:a16="http://schemas.microsoft.com/office/drawing/2014/main" id="{CA99D776-A5EF-6BD8-9922-E2FC6B358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6788" y="3394075"/>
            <a:ext cx="338137" cy="184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+mj-lt"/>
              </a:rPr>
              <a:t>2024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6F6A243D-1DE4-A0DA-CE24-48F83314288D}"/>
              </a:ext>
            </a:extLst>
          </p:cNvPr>
          <p:cNvSpPr/>
          <p:nvPr/>
        </p:nvSpPr>
        <p:spPr>
          <a:xfrm>
            <a:off x="7900988" y="3565525"/>
            <a:ext cx="1023937" cy="41592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0" lvl="1" algn="r" defTabSz="457189">
              <a:buClr>
                <a:srgbClr val="B3BABE"/>
              </a:buClr>
              <a:defRPr/>
            </a:pPr>
            <a:r>
              <a:rPr lang="en-GB" sz="900" b="1" dirty="0">
                <a:solidFill>
                  <a:srgbClr val="F79646">
                    <a:lumMod val="75000"/>
                  </a:srgbClr>
                </a:solidFill>
                <a:latin typeface="+mj-lt"/>
                <a:cs typeface="Aharoni" pitchFamily="2" charset="-79"/>
              </a:rPr>
              <a:t>Kaveri </a:t>
            </a:r>
          </a:p>
          <a:p>
            <a:pPr marL="0" lvl="1" algn="r" defTabSz="457189">
              <a:buClr>
                <a:srgbClr val="B3BABE"/>
              </a:buClr>
              <a:defRPr/>
            </a:pPr>
            <a:r>
              <a:rPr lang="en-US" sz="900" dirty="0">
                <a:solidFill>
                  <a:prstClr val="black"/>
                </a:solidFill>
                <a:latin typeface="+mj-lt"/>
                <a:cs typeface="Aharoni" pitchFamily="2" charset="-79"/>
              </a:rPr>
              <a:t>Digitalization of land records.</a:t>
            </a:r>
            <a:endParaRPr lang="en-GB" sz="900" dirty="0">
              <a:solidFill>
                <a:prstClr val="black"/>
              </a:solidFill>
              <a:latin typeface="+mj-lt"/>
              <a:cs typeface="Aharoni" pitchFamily="2" charset="-79"/>
            </a:endParaRPr>
          </a:p>
        </p:txBody>
      </p:sp>
      <p:cxnSp>
        <p:nvCxnSpPr>
          <p:cNvPr id="210" name="직선 연결선 96">
            <a:extLst>
              <a:ext uri="{FF2B5EF4-FFF2-40B4-BE49-F238E27FC236}">
                <a16:creationId xmlns:a16="http://schemas.microsoft.com/office/drawing/2014/main" id="{A52062B2-67B6-FACF-FCE0-4E72CDF567E8}"/>
              </a:ext>
            </a:extLst>
          </p:cNvPr>
          <p:cNvCxnSpPr/>
          <p:nvPr/>
        </p:nvCxnSpPr>
        <p:spPr>
          <a:xfrm>
            <a:off x="9002713" y="2882900"/>
            <a:ext cx="4762" cy="198437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5-Point Star 234">
            <a:extLst>
              <a:ext uri="{FF2B5EF4-FFF2-40B4-BE49-F238E27FC236}">
                <a16:creationId xmlns:a16="http://schemas.microsoft.com/office/drawing/2014/main" id="{AAC310B8-5143-35D3-6CB6-E70507623569}"/>
              </a:ext>
            </a:extLst>
          </p:cNvPr>
          <p:cNvSpPr/>
          <p:nvPr/>
        </p:nvSpPr>
        <p:spPr>
          <a:xfrm>
            <a:off x="8775700" y="3267075"/>
            <a:ext cx="136525" cy="119062"/>
          </a:xfrm>
          <a:prstGeom prst="star5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89">
              <a:defRPr/>
            </a:pPr>
            <a:endParaRPr lang="en-GB">
              <a:solidFill>
                <a:prstClr val="black"/>
              </a:solidFill>
              <a:latin typeface="+mj-lt"/>
            </a:endParaRPr>
          </a:p>
        </p:txBody>
      </p:sp>
      <p:cxnSp>
        <p:nvCxnSpPr>
          <p:cNvPr id="212" name="직선 연결선 96">
            <a:extLst>
              <a:ext uri="{FF2B5EF4-FFF2-40B4-BE49-F238E27FC236}">
                <a16:creationId xmlns:a16="http://schemas.microsoft.com/office/drawing/2014/main" id="{C6C93761-F29F-C55A-0FFE-4B7E3D29ECA9}"/>
              </a:ext>
            </a:extLst>
          </p:cNvPr>
          <p:cNvCxnSpPr>
            <a:cxnSpLocks/>
          </p:cNvCxnSpPr>
          <p:nvPr/>
        </p:nvCxnSpPr>
        <p:spPr>
          <a:xfrm>
            <a:off x="1598613" y="936625"/>
            <a:ext cx="0" cy="185102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96">
            <a:extLst>
              <a:ext uri="{FF2B5EF4-FFF2-40B4-BE49-F238E27FC236}">
                <a16:creationId xmlns:a16="http://schemas.microsoft.com/office/drawing/2014/main" id="{00A29502-FFB5-8E53-F82E-3C04B7AC390A}"/>
              </a:ext>
            </a:extLst>
          </p:cNvPr>
          <p:cNvCxnSpPr>
            <a:cxnSpLocks/>
          </p:cNvCxnSpPr>
          <p:nvPr/>
        </p:nvCxnSpPr>
        <p:spPr>
          <a:xfrm>
            <a:off x="3106738" y="1022350"/>
            <a:ext cx="0" cy="185261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96">
            <a:extLst>
              <a:ext uri="{FF2B5EF4-FFF2-40B4-BE49-F238E27FC236}">
                <a16:creationId xmlns:a16="http://schemas.microsoft.com/office/drawing/2014/main" id="{0D40962B-1719-1F0D-FB10-E552FE8799BE}"/>
              </a:ext>
            </a:extLst>
          </p:cNvPr>
          <p:cNvCxnSpPr>
            <a:cxnSpLocks/>
          </p:cNvCxnSpPr>
          <p:nvPr/>
        </p:nvCxnSpPr>
        <p:spPr>
          <a:xfrm>
            <a:off x="4619625" y="1022350"/>
            <a:ext cx="0" cy="185261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96">
            <a:extLst>
              <a:ext uri="{FF2B5EF4-FFF2-40B4-BE49-F238E27FC236}">
                <a16:creationId xmlns:a16="http://schemas.microsoft.com/office/drawing/2014/main" id="{46A490E3-E813-5011-CBE6-BB04F56FD145}"/>
              </a:ext>
            </a:extLst>
          </p:cNvPr>
          <p:cNvCxnSpPr>
            <a:cxnSpLocks/>
          </p:cNvCxnSpPr>
          <p:nvPr/>
        </p:nvCxnSpPr>
        <p:spPr>
          <a:xfrm>
            <a:off x="6116638" y="1022350"/>
            <a:ext cx="0" cy="185261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96">
            <a:extLst>
              <a:ext uri="{FF2B5EF4-FFF2-40B4-BE49-F238E27FC236}">
                <a16:creationId xmlns:a16="http://schemas.microsoft.com/office/drawing/2014/main" id="{C3B2E611-4F03-7AAD-CBD0-B76BC5A6CEB8}"/>
              </a:ext>
            </a:extLst>
          </p:cNvPr>
          <p:cNvCxnSpPr>
            <a:cxnSpLocks/>
          </p:cNvCxnSpPr>
          <p:nvPr/>
        </p:nvCxnSpPr>
        <p:spPr>
          <a:xfrm>
            <a:off x="7631113" y="1022350"/>
            <a:ext cx="0" cy="185261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21771" y="106961"/>
            <a:ext cx="7575549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marL="53975" algn="l">
              <a:lnSpc>
                <a:spcPct val="100000"/>
              </a:lnSpc>
              <a:spcBef>
                <a:spcPts val="95"/>
              </a:spcBef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  </a:t>
            </a:r>
            <a:r>
              <a:rPr sz="2400" dirty="0">
                <a:solidFill>
                  <a:schemeClr val="bg1"/>
                </a:solidFill>
                <a:latin typeface="+mj-lt"/>
              </a:rPr>
              <a:t>We</a:t>
            </a:r>
            <a:r>
              <a:rPr sz="2400" spc="-6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lead</a:t>
            </a:r>
            <a:r>
              <a:rPr sz="2400" spc="-5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in</a:t>
            </a:r>
            <a:r>
              <a:rPr sz="2400" spc="-6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Thought</a:t>
            </a:r>
            <a:r>
              <a:rPr sz="2400" spc="-5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and</a:t>
            </a:r>
            <a:r>
              <a:rPr sz="2400" spc="-5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Action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  <p:pic>
        <p:nvPicPr>
          <p:cNvPr id="30" name="Picture 15" descr="world">
            <a:extLst>
              <a:ext uri="{FF2B5EF4-FFF2-40B4-BE49-F238E27FC236}">
                <a16:creationId xmlns:a16="http://schemas.microsoft.com/office/drawing/2014/main" id="{EB65BC7C-7A96-24B7-E6EB-2AD9267B9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24" y="627063"/>
            <a:ext cx="1923878" cy="1900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extBox 27">
            <a:extLst>
              <a:ext uri="{FF2B5EF4-FFF2-40B4-BE49-F238E27FC236}">
                <a16:creationId xmlns:a16="http://schemas.microsoft.com/office/drawing/2014/main" id="{A593216F-AFD6-5288-67DB-32ECF21B4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5963" y="2995613"/>
            <a:ext cx="2649537" cy="1412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26206" indent="-126206">
              <a:lnSpc>
                <a:spcPct val="90000"/>
              </a:lnSpc>
              <a:spcBef>
                <a:spcPct val="60000"/>
              </a:spcBef>
              <a:buFontTx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+mj-lt"/>
                <a:ea typeface="MS PGothic" pitchFamily="34" charset="-128"/>
              </a:rPr>
              <a:t>#1 Government transactions G2C service provider.</a:t>
            </a:r>
          </a:p>
          <a:p>
            <a:pPr marL="126206" indent="-126206">
              <a:lnSpc>
                <a:spcPct val="90000"/>
              </a:lnSpc>
              <a:spcBef>
                <a:spcPct val="60000"/>
              </a:spcBef>
              <a:buFontTx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+mj-lt"/>
                <a:ea typeface="MS PGothic" pitchFamily="34" charset="-128"/>
              </a:rPr>
              <a:t>1</a:t>
            </a:r>
            <a:r>
              <a:rPr lang="en-US" sz="1300" baseline="30000" dirty="0">
                <a:solidFill>
                  <a:prstClr val="black"/>
                </a:solidFill>
                <a:latin typeface="+mj-lt"/>
                <a:ea typeface="MS PGothic" pitchFamily="34" charset="-128"/>
              </a:rPr>
              <a:t>st</a:t>
            </a:r>
            <a:r>
              <a:rPr lang="en-US" sz="1300" dirty="0">
                <a:solidFill>
                  <a:prstClr val="black"/>
                </a:solidFill>
                <a:latin typeface="+mj-lt"/>
                <a:ea typeface="MS PGothic" pitchFamily="34" charset="-128"/>
              </a:rPr>
              <a:t> ATC system in India &amp; 1</a:t>
            </a:r>
            <a:r>
              <a:rPr lang="en-US" sz="1300" baseline="30000" dirty="0">
                <a:solidFill>
                  <a:prstClr val="black"/>
                </a:solidFill>
                <a:latin typeface="+mj-lt"/>
                <a:ea typeface="MS PGothic" pitchFamily="34" charset="-128"/>
              </a:rPr>
              <a:t>st</a:t>
            </a:r>
            <a:r>
              <a:rPr lang="en-US" sz="1300" dirty="0">
                <a:solidFill>
                  <a:prstClr val="black"/>
                </a:solidFill>
                <a:latin typeface="+mj-lt"/>
                <a:ea typeface="MS PGothic" pitchFamily="34" charset="-128"/>
              </a:rPr>
              <a:t> Smart City implementation</a:t>
            </a:r>
          </a:p>
          <a:p>
            <a:pPr marL="126206" indent="-126206">
              <a:lnSpc>
                <a:spcPct val="90000"/>
              </a:lnSpc>
              <a:spcBef>
                <a:spcPct val="60000"/>
              </a:spcBef>
              <a:buFontTx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+mj-lt"/>
                <a:ea typeface="MS PGothic" pitchFamily="34" charset="-128"/>
              </a:rPr>
              <a:t>25% of generation companies leverage CMS Grid solutions</a:t>
            </a:r>
            <a:endParaRPr lang="en-US" sz="1300" dirty="0">
              <a:solidFill>
                <a:prstClr val="black"/>
              </a:solidFill>
              <a:latin typeface="+mj-lt"/>
              <a:ea typeface="MS Gothic" pitchFamily="49" charset="-128"/>
            </a:endParaRP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6DC451D8-6E94-4364-F8F3-0685FD802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3" y="795338"/>
            <a:ext cx="2309812" cy="2260600"/>
          </a:xfrm>
          <a:prstGeom prst="rect">
            <a:avLst/>
          </a:prstGeom>
          <a:gradFill rotWithShape="1">
            <a:gsLst>
              <a:gs pos="0">
                <a:schemeClr val="bg1">
                  <a:alpha val="0"/>
                </a:schemeClr>
              </a:gs>
              <a:gs pos="50000">
                <a:srgbClr val="229901">
                  <a:alpha val="10001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defTabSz="342900">
              <a:defRPr/>
            </a:pPr>
            <a:endParaRPr lang="en-US" sz="1350">
              <a:solidFill>
                <a:srgbClr val="EEECE1"/>
              </a:solidFill>
              <a:latin typeface="+mj-lt"/>
              <a:ea typeface="MS PGothic" pitchFamily="34" charset="-128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9E5D06D4-71D2-0A77-7EFA-7174C4C4D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2925" y="1047750"/>
            <a:ext cx="2257425" cy="2171700"/>
          </a:xfrm>
          <a:prstGeom prst="rect">
            <a:avLst/>
          </a:prstGeom>
          <a:gradFill rotWithShape="1">
            <a:gsLst>
              <a:gs pos="0">
                <a:schemeClr val="bg1">
                  <a:alpha val="0"/>
                </a:schemeClr>
              </a:gs>
              <a:gs pos="50000">
                <a:srgbClr val="6600FF">
                  <a:alpha val="8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defTabSz="342900">
              <a:defRPr/>
            </a:pPr>
            <a:endParaRPr lang="en-US" sz="1350">
              <a:solidFill>
                <a:srgbClr val="EEECE1"/>
              </a:solidFill>
              <a:latin typeface="+mj-lt"/>
              <a:ea typeface="MS PGothic" pitchFamily="34" charset="-128"/>
            </a:endParaRPr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F359DC46-CE28-88C4-BFF3-07F5E852C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890588"/>
            <a:ext cx="2181225" cy="2165350"/>
          </a:xfrm>
          <a:prstGeom prst="rect">
            <a:avLst/>
          </a:prstGeom>
          <a:gradFill rotWithShape="1">
            <a:gsLst>
              <a:gs pos="0">
                <a:schemeClr val="bg1">
                  <a:alpha val="0"/>
                </a:schemeClr>
              </a:gs>
              <a:gs pos="50000">
                <a:srgbClr val="FF6600">
                  <a:alpha val="8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defTabSz="342900">
              <a:defRPr/>
            </a:pPr>
            <a:endParaRPr lang="en-US" sz="1350">
              <a:solidFill>
                <a:srgbClr val="EEECE1"/>
              </a:solidFill>
              <a:latin typeface="+mj-lt"/>
              <a:ea typeface="MS PGothic" pitchFamily="34" charset="-128"/>
            </a:endParaRPr>
          </a:p>
        </p:txBody>
      </p:sp>
      <p:sp>
        <p:nvSpPr>
          <p:cNvPr id="35" name="Text Box 27">
            <a:extLst>
              <a:ext uri="{FF2B5EF4-FFF2-40B4-BE49-F238E27FC236}">
                <a16:creationId xmlns:a16="http://schemas.microsoft.com/office/drawing/2014/main" id="{EC39D0C1-47FF-94E2-D337-8714B728D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462" y="2163524"/>
            <a:ext cx="2097086" cy="545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500" b="1">
                <a:solidFill>
                  <a:srgbClr val="C00000"/>
                </a:solidFill>
                <a:latin typeface="+mj-lt"/>
                <a:ea typeface="MS PGothic" panose="020B0600070205080204" pitchFamily="34" charset="-128"/>
              </a:rPr>
              <a:t>Thought Leadership</a:t>
            </a:r>
          </a:p>
        </p:txBody>
      </p:sp>
      <p:pic>
        <p:nvPicPr>
          <p:cNvPr id="36" name="Picture 20" descr="server world">
            <a:extLst>
              <a:ext uri="{FF2B5EF4-FFF2-40B4-BE49-F238E27FC236}">
                <a16:creationId xmlns:a16="http://schemas.microsoft.com/office/drawing/2014/main" id="{49CA5054-CE5E-7F69-674B-39E60DC97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722" y="769650"/>
            <a:ext cx="2250236" cy="1693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 Box 27">
            <a:extLst>
              <a:ext uri="{FF2B5EF4-FFF2-40B4-BE49-F238E27FC236}">
                <a16:creationId xmlns:a16="http://schemas.microsoft.com/office/drawing/2014/main" id="{8BB74AE4-1292-1E0B-08FE-77D3D48CA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418" y="2163524"/>
            <a:ext cx="2162940" cy="545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500" b="1">
                <a:solidFill>
                  <a:srgbClr val="FF9900"/>
                </a:solidFill>
                <a:latin typeface="+mj-lt"/>
                <a:ea typeface="MS PGothic" panose="020B0600070205080204" pitchFamily="34" charset="-128"/>
              </a:rPr>
              <a:t>Client Experience</a:t>
            </a:r>
          </a:p>
        </p:txBody>
      </p:sp>
      <p:grpSp>
        <p:nvGrpSpPr>
          <p:cNvPr id="38" name="Group 33">
            <a:extLst>
              <a:ext uri="{FF2B5EF4-FFF2-40B4-BE49-F238E27FC236}">
                <a16:creationId xmlns:a16="http://schemas.microsoft.com/office/drawing/2014/main" id="{3095F838-80B0-752F-6430-DF35B4A39763}"/>
              </a:ext>
            </a:extLst>
          </p:cNvPr>
          <p:cNvGrpSpPr>
            <a:grpSpLocks/>
          </p:cNvGrpSpPr>
          <p:nvPr/>
        </p:nvGrpSpPr>
        <p:grpSpPr bwMode="auto">
          <a:xfrm>
            <a:off x="5953326" y="794567"/>
            <a:ext cx="1738491" cy="1565083"/>
            <a:chOff x="16106502" y="1358537"/>
            <a:chExt cx="1881051" cy="1933303"/>
          </a:xfrm>
        </p:grpSpPr>
        <p:pic>
          <p:nvPicPr>
            <p:cNvPr id="43" name="Picture 19" descr="numbers">
              <a:extLst>
                <a:ext uri="{FF2B5EF4-FFF2-40B4-BE49-F238E27FC236}">
                  <a16:creationId xmlns:a16="http://schemas.microsoft.com/office/drawing/2014/main" id="{26FD543A-5C8A-6D87-E569-E4E1670C6E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06502" y="1358537"/>
              <a:ext cx="1881051" cy="1933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" name="Picture 15" descr="big-data">
              <a:extLst>
                <a:ext uri="{FF2B5EF4-FFF2-40B4-BE49-F238E27FC236}">
                  <a16:creationId xmlns:a16="http://schemas.microsoft.com/office/drawing/2014/main" id="{3A602D7D-DA89-D30C-EFAB-1E3F08DC58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97388" y="1465263"/>
              <a:ext cx="1666875" cy="166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9" name="Text Box 27">
            <a:extLst>
              <a:ext uri="{FF2B5EF4-FFF2-40B4-BE49-F238E27FC236}">
                <a16:creationId xmlns:a16="http://schemas.microsoft.com/office/drawing/2014/main" id="{AD3DD207-41FF-E40B-B436-B352E003B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7324" y="2164217"/>
            <a:ext cx="1737084" cy="545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500" b="1">
                <a:solidFill>
                  <a:srgbClr val="00B0F0"/>
                </a:solidFill>
                <a:latin typeface="+mj-lt"/>
                <a:ea typeface="MS PGothic" panose="020B0600070205080204" pitchFamily="34" charset="-128"/>
              </a:rPr>
              <a:t>Deep Expertise</a:t>
            </a:r>
          </a:p>
        </p:txBody>
      </p:sp>
      <p:sp>
        <p:nvSpPr>
          <p:cNvPr id="40" name="AutoShape 22">
            <a:extLst>
              <a:ext uri="{FF2B5EF4-FFF2-40B4-BE49-F238E27FC236}">
                <a16:creationId xmlns:a16="http://schemas.microsoft.com/office/drawing/2014/main" id="{97FE11A9-D0D7-17AA-B90A-A8CF7692299D}"/>
              </a:ext>
            </a:extLst>
          </p:cNvPr>
          <p:cNvSpPr>
            <a:spLocks/>
          </p:cNvSpPr>
          <p:nvPr/>
        </p:nvSpPr>
        <p:spPr bwMode="auto">
          <a:xfrm rot="5400000" flipV="1">
            <a:off x="4090988" y="-976312"/>
            <a:ext cx="482600" cy="7575550"/>
          </a:xfrm>
          <a:prstGeom prst="rightBrace">
            <a:avLst>
              <a:gd name="adj1" fmla="val 96514"/>
              <a:gd name="adj2" fmla="val 50000"/>
            </a:avLst>
          </a:prstGeom>
          <a:solidFill>
            <a:schemeClr val="bg2">
              <a:lumMod val="90000"/>
            </a:schemeClr>
          </a:solidFill>
          <a:ln w="76200">
            <a:solidFill>
              <a:srgbClr val="EAEAEA"/>
            </a:solidFill>
            <a:round/>
            <a:headEnd/>
            <a:tailEnd/>
          </a:ln>
        </p:spPr>
        <p:txBody>
          <a:bodyPr rot="10800000" wrap="none" anchor="ctr"/>
          <a:lstStyle>
            <a:lvl1pPr defTabSz="457200" eaLnBrk="0" hangingPunct="0">
              <a:defRPr sz="1600" b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defTabSz="457200" eaLnBrk="0" hangingPunct="0">
              <a:defRPr sz="1600"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 defTabSz="457200" eaLnBrk="0" hangingPunct="0">
              <a:defRPr sz="1600" b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defTabSz="457200" eaLnBrk="0" hangingPunct="0">
              <a:defRPr sz="1600" b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 defTabSz="457200" eaLnBrk="0" hangingPunct="0">
              <a:defRPr sz="1600" b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1200" b="0">
              <a:solidFill>
                <a:srgbClr val="EEECE1"/>
              </a:solidFill>
              <a:latin typeface="+mj-lt"/>
              <a:ea typeface="MS PGothic" panose="020B0600070205080204" pitchFamily="34" charset="-128"/>
            </a:endParaRPr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50EF9F7E-5574-4B71-DFFB-097FDABC6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3" y="2976563"/>
            <a:ext cx="2476500" cy="1512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26206" indent="-126206">
              <a:lnSpc>
                <a:spcPct val="90000"/>
              </a:lnSpc>
              <a:spcBef>
                <a:spcPct val="60000"/>
              </a:spcBef>
              <a:buFontTx/>
              <a:buChar char="•"/>
              <a:defRPr/>
            </a:pPr>
            <a:r>
              <a:rPr lang="en-US" sz="1300" dirty="0" err="1">
                <a:solidFill>
                  <a:prstClr val="black"/>
                </a:solidFill>
                <a:latin typeface="+mj-lt"/>
                <a:ea typeface="MS PGothic" pitchFamily="34" charset="-128"/>
              </a:rPr>
              <a:t>IoT</a:t>
            </a:r>
            <a:r>
              <a:rPr lang="en-US" sz="1300" dirty="0">
                <a:solidFill>
                  <a:prstClr val="black"/>
                </a:solidFill>
                <a:latin typeface="+mj-lt"/>
                <a:ea typeface="MS PGothic" pitchFamily="34" charset="-128"/>
              </a:rPr>
              <a:t> and IT Integration since 1990.</a:t>
            </a:r>
          </a:p>
          <a:p>
            <a:pPr marL="126206" indent="-126206">
              <a:lnSpc>
                <a:spcPct val="90000"/>
              </a:lnSpc>
              <a:spcBef>
                <a:spcPct val="40000"/>
              </a:spcBef>
              <a:buFontTx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+mj-lt"/>
                <a:ea typeface="MS Gothic" pitchFamily="49" charset="-128"/>
              </a:rPr>
              <a:t>Working with massive amounts of data since early 2000.</a:t>
            </a:r>
          </a:p>
          <a:p>
            <a:pPr marL="126206" indent="-126206">
              <a:lnSpc>
                <a:spcPct val="90000"/>
              </a:lnSpc>
              <a:spcBef>
                <a:spcPct val="40000"/>
              </a:spcBef>
              <a:buFontTx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+mj-lt"/>
                <a:ea typeface="MS Gothic" pitchFamily="49" charset="-128"/>
              </a:rPr>
              <a:t>Implementing Government digital transformations since 2001</a:t>
            </a:r>
          </a:p>
        </p:txBody>
      </p:sp>
      <p:sp>
        <p:nvSpPr>
          <p:cNvPr id="42" name="TextBox 27">
            <a:extLst>
              <a:ext uri="{FF2B5EF4-FFF2-40B4-BE49-F238E27FC236}">
                <a16:creationId xmlns:a16="http://schemas.microsoft.com/office/drawing/2014/main" id="{162809AD-54A2-D959-03D6-557FD275A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0" y="2976563"/>
            <a:ext cx="2698750" cy="1412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26206" indent="-126206">
              <a:lnSpc>
                <a:spcPct val="90000"/>
              </a:lnSpc>
              <a:spcBef>
                <a:spcPct val="60000"/>
              </a:spcBef>
              <a:buFontTx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+mj-lt"/>
                <a:ea typeface="MS PGothic" pitchFamily="34" charset="-128"/>
              </a:rPr>
              <a:t>In-house product development around Digital + Physical offering</a:t>
            </a:r>
          </a:p>
          <a:p>
            <a:pPr marL="126206" indent="-126206">
              <a:lnSpc>
                <a:spcPct val="90000"/>
              </a:lnSpc>
              <a:spcBef>
                <a:spcPct val="60000"/>
              </a:spcBef>
              <a:buFontTx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+mj-lt"/>
                <a:ea typeface="MS PGothic" pitchFamily="34" charset="-128"/>
              </a:rPr>
              <a:t>Domain experience combined with contemporary technology</a:t>
            </a:r>
          </a:p>
          <a:p>
            <a:pPr marL="126206" indent="-126206">
              <a:lnSpc>
                <a:spcPct val="90000"/>
              </a:lnSpc>
              <a:spcBef>
                <a:spcPct val="60000"/>
              </a:spcBef>
              <a:buFontTx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+mj-lt"/>
                <a:ea typeface="MS PGothic" pitchFamily="34" charset="-128"/>
              </a:rPr>
              <a:t>Multiple Digital transformation initiatives in </a:t>
            </a:r>
            <a:r>
              <a:rPr lang="en-US" sz="1300" dirty="0" err="1">
                <a:solidFill>
                  <a:prstClr val="black"/>
                </a:solidFill>
                <a:latin typeface="+mj-lt"/>
                <a:ea typeface="MS PGothic" pitchFamily="34" charset="-128"/>
              </a:rPr>
              <a:t>Govt</a:t>
            </a:r>
            <a:r>
              <a:rPr lang="en-US" sz="1300" dirty="0">
                <a:solidFill>
                  <a:prstClr val="black"/>
                </a:solidFill>
                <a:latin typeface="+mj-lt"/>
                <a:ea typeface="MS PGothic" pitchFamily="34" charset="-128"/>
              </a:rPr>
              <a:t> &amp; Public Sector</a:t>
            </a:r>
            <a:endParaRPr lang="en-US" sz="1300" dirty="0">
              <a:solidFill>
                <a:prstClr val="black"/>
              </a:solidFill>
              <a:latin typeface="+mj-lt"/>
              <a:ea typeface="MS Gothic" pitchFamily="49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3400" y="740663"/>
            <a:ext cx="1972310" cy="1449705"/>
            <a:chOff x="533400" y="740663"/>
            <a:chExt cx="1972310" cy="1449705"/>
          </a:xfrm>
        </p:grpSpPr>
        <p:sp>
          <p:nvSpPr>
            <p:cNvPr id="3" name="object 3"/>
            <p:cNvSpPr/>
            <p:nvPr/>
          </p:nvSpPr>
          <p:spPr>
            <a:xfrm>
              <a:off x="579119" y="809243"/>
              <a:ext cx="1926589" cy="1381125"/>
            </a:xfrm>
            <a:custGeom>
              <a:avLst/>
              <a:gdLst/>
              <a:ahLst/>
              <a:cxnLst/>
              <a:rect l="l" t="t" r="r" b="b"/>
              <a:pathLst>
                <a:path w="1926589" h="1381125">
                  <a:moveTo>
                    <a:pt x="1926336" y="0"/>
                  </a:moveTo>
                  <a:lnTo>
                    <a:pt x="0" y="0"/>
                  </a:lnTo>
                  <a:lnTo>
                    <a:pt x="0" y="1380743"/>
                  </a:lnTo>
                  <a:lnTo>
                    <a:pt x="1926336" y="1380743"/>
                  </a:lnTo>
                  <a:lnTo>
                    <a:pt x="1926336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533400" y="740663"/>
              <a:ext cx="485140" cy="49530"/>
            </a:xfrm>
            <a:custGeom>
              <a:avLst/>
              <a:gdLst/>
              <a:ahLst/>
              <a:cxnLst/>
              <a:rect l="l" t="t" r="r" b="b"/>
              <a:pathLst>
                <a:path w="485140" h="49529">
                  <a:moveTo>
                    <a:pt x="0" y="49530"/>
                  </a:moveTo>
                  <a:lnTo>
                    <a:pt x="484631" y="49530"/>
                  </a:lnTo>
                  <a:lnTo>
                    <a:pt x="484631" y="0"/>
                  </a:lnTo>
                  <a:lnTo>
                    <a:pt x="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-23950" y="86178"/>
            <a:ext cx="7619999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marL="53975" algn="l">
              <a:lnSpc>
                <a:spcPct val="100000"/>
              </a:lnSpc>
              <a:spcBef>
                <a:spcPts val="95"/>
              </a:spcBef>
            </a:pPr>
            <a:r>
              <a:rPr lang="en-IN" sz="2400" dirty="0">
                <a:solidFill>
                  <a:schemeClr val="bg1"/>
                </a:solidFill>
                <a:latin typeface="+mj-lt"/>
              </a:rPr>
              <a:t>  </a:t>
            </a:r>
            <a:r>
              <a:rPr sz="2400" dirty="0">
                <a:solidFill>
                  <a:schemeClr val="bg1"/>
                </a:solidFill>
                <a:latin typeface="+mj-lt"/>
              </a:rPr>
              <a:t>Industry</a:t>
            </a:r>
            <a:r>
              <a:rPr sz="2400" spc="-9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Go</a:t>
            </a:r>
            <a:r>
              <a:rPr sz="2400" spc="-9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to</a:t>
            </a:r>
            <a:r>
              <a:rPr sz="2400" spc="-9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Market</a:t>
            </a:r>
            <a:r>
              <a:rPr sz="2400" spc="-6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Presence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615529"/>
              </p:ext>
            </p:extLst>
          </p:nvPr>
        </p:nvGraphicFramePr>
        <p:xfrm>
          <a:off x="576072" y="3953255"/>
          <a:ext cx="8131173" cy="748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0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9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2430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600" b="1" spc="-10" dirty="0">
                          <a:solidFill>
                            <a:srgbClr val="009900"/>
                          </a:solidFill>
                          <a:latin typeface="Calibri"/>
                          <a:cs typeface="Calibri"/>
                        </a:rPr>
                        <a:t>Infrastructure</a:t>
                      </a:r>
                      <a:r>
                        <a:rPr sz="1600" b="1" spc="-40" dirty="0">
                          <a:solidFill>
                            <a:srgbClr val="0099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009900"/>
                          </a:solidFill>
                          <a:latin typeface="Calibri"/>
                          <a:cs typeface="Calibri"/>
                        </a:rPr>
                        <a:t>Ecosystems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9109">
                        <a:lnSpc>
                          <a:spcPts val="2100"/>
                        </a:lnSpc>
                      </a:pPr>
                      <a:r>
                        <a:rPr sz="1600" b="1" dirty="0">
                          <a:solidFill>
                            <a:srgbClr val="009900"/>
                          </a:solidFill>
                          <a:latin typeface="Calibri"/>
                          <a:cs typeface="Calibri"/>
                        </a:rPr>
                        <a:t>Digital</a:t>
                      </a:r>
                      <a:r>
                        <a:rPr sz="1600" b="1" spc="-55" dirty="0">
                          <a:solidFill>
                            <a:srgbClr val="0099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009900"/>
                          </a:solidFill>
                          <a:latin typeface="Calibri"/>
                          <a:cs typeface="Calibri"/>
                        </a:rPr>
                        <a:t>Transformation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600" b="1" dirty="0">
                          <a:solidFill>
                            <a:srgbClr val="009900"/>
                          </a:solidFill>
                          <a:latin typeface="Calibri"/>
                          <a:cs typeface="Calibri"/>
                        </a:rPr>
                        <a:t>Cyber</a:t>
                      </a:r>
                      <a:r>
                        <a:rPr sz="1600" b="1" spc="-35" dirty="0">
                          <a:solidFill>
                            <a:srgbClr val="0099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009900"/>
                          </a:solidFill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600" b="1" spc="-40" dirty="0">
                          <a:solidFill>
                            <a:srgbClr val="0099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009900"/>
                          </a:solidFill>
                          <a:latin typeface="Calibri"/>
                          <a:cs typeface="Calibri"/>
                        </a:rPr>
                        <a:t>everywhere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35">
                <a:tc gridSpan="5"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000" b="1" spc="-1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SIMPLIFYING</a:t>
                      </a:r>
                      <a:r>
                        <a:rPr sz="2000" b="1" spc="-55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LIFE</a:t>
                      </a:r>
                      <a:r>
                        <a:rPr sz="2000" b="1" spc="-1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through</a:t>
                      </a:r>
                      <a:r>
                        <a:rPr sz="2000" b="1" spc="-3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INNOVATION</a:t>
                      </a:r>
                      <a:endParaRPr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4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3563" y="938021"/>
            <a:ext cx="886460" cy="899922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77595" y="789051"/>
          <a:ext cx="8133712" cy="3094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9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75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69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431165" marR="461645" indent="-66040">
                        <a:lnSpc>
                          <a:spcPts val="1340"/>
                        </a:lnSpc>
                      </a:pPr>
                      <a:r>
                        <a:rPr sz="14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Government</a:t>
                      </a:r>
                      <a:r>
                        <a:rPr sz="1400" b="1" spc="-2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&amp; </a:t>
                      </a:r>
                      <a:r>
                        <a:rPr sz="14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r>
                        <a:rPr sz="14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Sector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>
                      <a:solidFill>
                        <a:srgbClr val="FF99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624205" marR="490855" indent="-212090">
                        <a:lnSpc>
                          <a:spcPts val="1340"/>
                        </a:lnSpc>
                      </a:pPr>
                      <a:r>
                        <a:rPr sz="14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Smart</a:t>
                      </a:r>
                      <a:r>
                        <a:rPr sz="1400" b="1" spc="-4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Cities</a:t>
                      </a:r>
                      <a:r>
                        <a:rPr sz="1400" b="1" spc="-4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&amp; </a:t>
                      </a:r>
                      <a:r>
                        <a:rPr sz="14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Mobility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solidFill>
                      <a:srgbClr val="DCE6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>
                      <a:solidFill>
                        <a:srgbClr val="FF99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48970" marR="144145" indent="-393700">
                        <a:lnSpc>
                          <a:spcPct val="80000"/>
                        </a:lnSpc>
                      </a:pPr>
                      <a:r>
                        <a:rPr sz="14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Energy</a:t>
                      </a:r>
                      <a:r>
                        <a:rPr sz="1400" b="1" spc="-5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Management </a:t>
                      </a:r>
                      <a:r>
                        <a:rPr sz="14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Utilities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>
                      <a:solidFill>
                        <a:srgbClr val="FF99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87985">
                        <a:lnSpc>
                          <a:spcPts val="1510"/>
                        </a:lnSpc>
                      </a:pPr>
                      <a:r>
                        <a:rPr sz="14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r>
                        <a:rPr sz="1400" b="1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Safety</a:t>
                      </a:r>
                      <a:r>
                        <a:rPr sz="1400" b="1" spc="-3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70205">
                        <a:lnSpc>
                          <a:spcPts val="1510"/>
                        </a:lnSpc>
                      </a:pPr>
                      <a:r>
                        <a:rPr sz="14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Climate</a:t>
                      </a:r>
                      <a:r>
                        <a:rPr sz="1400" b="1" spc="-5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Change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5930">
                <a:tc>
                  <a:txBody>
                    <a:bodyPr/>
                    <a:lstStyle/>
                    <a:p>
                      <a:pPr marL="85725">
                        <a:lnSpc>
                          <a:spcPts val="1555"/>
                        </a:lnSpc>
                        <a:spcBef>
                          <a:spcPts val="175"/>
                        </a:spcBef>
                      </a:pPr>
                      <a:r>
                        <a:rPr sz="1400" b="1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50</a:t>
                      </a:r>
                      <a:r>
                        <a:rPr sz="1400" b="1" spc="-2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Million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8572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G2C</a:t>
                      </a:r>
                      <a:r>
                        <a:rPr sz="110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transactions annually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85725">
                        <a:lnSpc>
                          <a:spcPts val="1555"/>
                        </a:lnSpc>
                        <a:spcBef>
                          <a:spcPts val="120"/>
                        </a:spcBef>
                      </a:pPr>
                      <a:r>
                        <a:rPr sz="1400" b="1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300</a:t>
                      </a:r>
                      <a:r>
                        <a:rPr sz="1400" b="1" spc="-35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Million</a:t>
                      </a:r>
                      <a:r>
                        <a:rPr sz="1400" b="1" spc="-3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Citizens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8572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Served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Healthcare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85725" marR="332740">
                        <a:lnSpc>
                          <a:spcPts val="1060"/>
                        </a:lnSpc>
                        <a:spcBef>
                          <a:spcPts val="1045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Expertise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across</a:t>
                      </a:r>
                      <a:r>
                        <a:rPr sz="11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financial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models,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Operations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100" spc="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Mgt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85725" marR="170815">
                        <a:lnSpc>
                          <a:spcPct val="80000"/>
                        </a:lnSpc>
                        <a:spcBef>
                          <a:spcPts val="106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Solution</a:t>
                      </a:r>
                      <a:r>
                        <a:rPr sz="11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Service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Delivery,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Revenue,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Social</a:t>
                      </a:r>
                      <a:r>
                        <a:rPr sz="11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programs,</a:t>
                      </a:r>
                      <a:r>
                        <a:rPr sz="11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FI,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Judiciary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Crime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Tracking.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3175">
                      <a:solidFill>
                        <a:srgbClr val="000000"/>
                      </a:solidFill>
                      <a:prstDash val="solid"/>
                    </a:lnT>
                    <a:solidFill>
                      <a:srgbClr val="375F9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57150">
                      <a:solidFill>
                        <a:srgbClr val="FF99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1555"/>
                        </a:lnSpc>
                        <a:spcBef>
                          <a:spcPts val="120"/>
                        </a:spcBef>
                      </a:pPr>
                      <a:r>
                        <a:rPr sz="1400" b="1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20+</a:t>
                      </a:r>
                      <a:r>
                        <a:rPr sz="1400" b="1" spc="-35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Deployments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123189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Smart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Cities</a:t>
                      </a:r>
                      <a:r>
                        <a:rPr sz="11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Traffic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38430">
                        <a:lnSpc>
                          <a:spcPts val="1555"/>
                        </a:lnSpc>
                        <a:spcBef>
                          <a:spcPts val="204"/>
                        </a:spcBef>
                      </a:pPr>
                      <a:r>
                        <a:rPr sz="1400" b="1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200+</a:t>
                      </a:r>
                      <a:r>
                        <a:rPr sz="1400" b="1" spc="-35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Smart</a:t>
                      </a:r>
                      <a:r>
                        <a:rPr sz="1400" b="1" spc="-3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Elements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138430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deployment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38430" marR="186055">
                        <a:lnSpc>
                          <a:spcPct val="80000"/>
                        </a:lnSpc>
                        <a:spcBef>
                          <a:spcPts val="1055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Expertise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ITMS,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ICCC,</a:t>
                      </a:r>
                      <a:r>
                        <a:rPr sz="11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ATC,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Safety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Enforcement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38430" marR="151765">
                        <a:lnSpc>
                          <a:spcPct val="80000"/>
                        </a:lnSpc>
                        <a:spcBef>
                          <a:spcPts val="106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Indigenous</a:t>
                      </a:r>
                      <a:r>
                        <a:rPr sz="110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technologies</a:t>
                      </a:r>
                      <a:r>
                        <a:rPr sz="1100" spc="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ATC,</a:t>
                      </a:r>
                      <a:r>
                        <a:rPr sz="11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Signals,</a:t>
                      </a:r>
                      <a:r>
                        <a:rPr sz="11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VMS,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CDT,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ICCC,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38430">
                        <a:lnSpc>
                          <a:spcPts val="1055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ECB/PA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solidFill>
                      <a:srgbClr val="375F9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57150">
                      <a:solidFill>
                        <a:srgbClr val="FF99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5"/>
                        </a:lnSpc>
                        <a:spcBef>
                          <a:spcPts val="150"/>
                        </a:spcBef>
                      </a:pPr>
                      <a:r>
                        <a:rPr sz="1400" b="1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75000+</a:t>
                      </a:r>
                      <a:r>
                        <a:rPr sz="1400" b="1" spc="-6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Megawatts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715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Power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monitored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12395">
                        <a:lnSpc>
                          <a:spcPts val="1555"/>
                        </a:lnSpc>
                        <a:spcBef>
                          <a:spcPts val="204"/>
                        </a:spcBef>
                      </a:pPr>
                      <a:r>
                        <a:rPr sz="1400" b="1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100+</a:t>
                      </a:r>
                      <a:r>
                        <a:rPr sz="1400" b="1" spc="-35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Energy</a:t>
                      </a:r>
                      <a:r>
                        <a:rPr sz="1400" b="1" spc="-55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Systems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11239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Managed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12395" marR="276225">
                        <a:lnSpc>
                          <a:spcPct val="80000"/>
                        </a:lnSpc>
                        <a:spcBef>
                          <a:spcPts val="106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Expertise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Metering,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ABT,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Smart</a:t>
                      </a:r>
                      <a:r>
                        <a:rPr sz="11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Grid,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Renewables.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12395" marR="151130">
                        <a:lnSpc>
                          <a:spcPct val="80100"/>
                        </a:lnSpc>
                        <a:spcBef>
                          <a:spcPts val="105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Indigenous</a:t>
                      </a:r>
                      <a:r>
                        <a:rPr sz="110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technologies</a:t>
                      </a:r>
                      <a:r>
                        <a:rPr sz="1100" spc="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Smart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Meters,</a:t>
                      </a:r>
                      <a:r>
                        <a:rPr sz="11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Grid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Software,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Energy</a:t>
                      </a:r>
                      <a:r>
                        <a:rPr sz="1100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Accounting,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DSM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T w="3175">
                      <a:solidFill>
                        <a:srgbClr val="000000"/>
                      </a:solidFill>
                      <a:prstDash val="solid"/>
                    </a:lnT>
                    <a:solidFill>
                      <a:srgbClr val="375F9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57150">
                      <a:solidFill>
                        <a:srgbClr val="FF99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1555"/>
                        </a:lnSpc>
                        <a:spcBef>
                          <a:spcPts val="210"/>
                        </a:spcBef>
                      </a:pPr>
                      <a:r>
                        <a:rPr sz="1400" b="1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50+</a:t>
                      </a:r>
                      <a:r>
                        <a:rPr sz="1400" b="1" spc="-25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400" b="1" spc="-4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Projects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  <a:p>
                      <a:pPr marL="88900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critical</a:t>
                      </a:r>
                      <a:r>
                        <a:rPr sz="11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infrastructures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  <a:p>
                      <a:pPr marL="104139" marR="244475">
                        <a:lnSpc>
                          <a:spcPct val="80100"/>
                        </a:lnSpc>
                        <a:spcBef>
                          <a:spcPts val="420"/>
                        </a:spcBef>
                      </a:pPr>
                      <a:r>
                        <a:rPr sz="1400" b="1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Early</a:t>
                      </a:r>
                      <a:r>
                        <a:rPr sz="1400" b="1" spc="-5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Warning</a:t>
                      </a:r>
                      <a:r>
                        <a:rPr sz="1400" b="1" spc="-5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Disaster Management</a:t>
                      </a:r>
                      <a:r>
                        <a:rPr sz="1400" b="1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System Kerala</a:t>
                      </a:r>
                      <a:r>
                        <a:rPr sz="1400" b="1" spc="-4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C000"/>
                          </a:solidFill>
                          <a:latin typeface="Calibri"/>
                          <a:cs typeface="Calibri"/>
                        </a:rPr>
                        <a:t>/NDMA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  <a:p>
                      <a:pPr marL="104139" marR="175260">
                        <a:lnSpc>
                          <a:spcPct val="80000"/>
                        </a:lnSpc>
                        <a:spcBef>
                          <a:spcPts val="107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Expertise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Surveillance,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VMS,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Analytics,</a:t>
                      </a:r>
                      <a:r>
                        <a:rPr sz="11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Safety.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Indigenous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ECB/PA</a:t>
                      </a:r>
                      <a:r>
                        <a:rPr sz="11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T w="3175">
                      <a:solidFill>
                        <a:srgbClr val="000000"/>
                      </a:solidFill>
                      <a:prstDash val="solid"/>
                    </a:lnT>
                    <a:solidFill>
                      <a:srgbClr val="375F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2567939" y="751331"/>
            <a:ext cx="485140" cy="49530"/>
          </a:xfrm>
          <a:custGeom>
            <a:avLst/>
            <a:gdLst/>
            <a:ahLst/>
            <a:cxnLst/>
            <a:rect l="l" t="t" r="r" b="b"/>
            <a:pathLst>
              <a:path w="485139" h="49529">
                <a:moveTo>
                  <a:pt x="0" y="49530"/>
                </a:moveTo>
                <a:lnTo>
                  <a:pt x="484631" y="49530"/>
                </a:lnTo>
                <a:lnTo>
                  <a:pt x="484631" y="0"/>
                </a:ln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02479" y="751331"/>
            <a:ext cx="485140" cy="49530"/>
          </a:xfrm>
          <a:custGeom>
            <a:avLst/>
            <a:gdLst/>
            <a:ahLst/>
            <a:cxnLst/>
            <a:rect l="l" t="t" r="r" b="b"/>
            <a:pathLst>
              <a:path w="485139" h="49529">
                <a:moveTo>
                  <a:pt x="0" y="49530"/>
                </a:moveTo>
                <a:lnTo>
                  <a:pt x="484632" y="49530"/>
                </a:lnTo>
                <a:lnTo>
                  <a:pt x="484632" y="0"/>
                </a:ln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35495" y="748283"/>
            <a:ext cx="485140" cy="49530"/>
          </a:xfrm>
          <a:custGeom>
            <a:avLst/>
            <a:gdLst/>
            <a:ahLst/>
            <a:cxnLst/>
            <a:rect l="l" t="t" r="r" b="b"/>
            <a:pathLst>
              <a:path w="485140" h="49529">
                <a:moveTo>
                  <a:pt x="0" y="49530"/>
                </a:moveTo>
                <a:lnTo>
                  <a:pt x="484631" y="49530"/>
                </a:lnTo>
                <a:lnTo>
                  <a:pt x="484631" y="0"/>
                </a:ln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4199" y="1047750"/>
            <a:ext cx="850843" cy="6598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39000" y="938021"/>
            <a:ext cx="811437" cy="7414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68959" y="938021"/>
            <a:ext cx="811437" cy="747522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426" y="697170"/>
            <a:ext cx="5545974" cy="2859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6520">
              <a:lnSpc>
                <a:spcPts val="2235"/>
              </a:lnSpc>
            </a:pPr>
            <a:r>
              <a:rPr lang="en-US" sz="1800" b="0" dirty="0">
                <a:solidFill>
                  <a:srgbClr val="244060"/>
                </a:solidFill>
                <a:latin typeface="+mj-lt"/>
                <a:cs typeface="Calibri"/>
              </a:rPr>
              <a:t>Simplifying</a:t>
            </a:r>
            <a:r>
              <a:rPr lang="en-US" sz="1800" b="0" spc="-45" dirty="0">
                <a:solidFill>
                  <a:srgbClr val="244060"/>
                </a:solidFill>
                <a:latin typeface="+mj-lt"/>
                <a:cs typeface="Calibri"/>
              </a:rPr>
              <a:t> </a:t>
            </a:r>
            <a:r>
              <a:rPr lang="en-US" sz="1800" b="0" dirty="0">
                <a:solidFill>
                  <a:srgbClr val="244060"/>
                </a:solidFill>
                <a:latin typeface="+mj-lt"/>
                <a:cs typeface="Calibri"/>
              </a:rPr>
              <a:t>Life</a:t>
            </a:r>
            <a:r>
              <a:rPr lang="en-US" sz="1800" b="0" spc="-40" dirty="0">
                <a:solidFill>
                  <a:srgbClr val="244060"/>
                </a:solidFill>
                <a:latin typeface="+mj-lt"/>
                <a:cs typeface="Calibri"/>
              </a:rPr>
              <a:t> </a:t>
            </a:r>
            <a:r>
              <a:rPr lang="en-US" sz="1800" b="0" dirty="0">
                <a:solidFill>
                  <a:srgbClr val="244060"/>
                </a:solidFill>
                <a:latin typeface="+mj-lt"/>
                <a:cs typeface="Calibri"/>
              </a:rPr>
              <a:t>by</a:t>
            </a:r>
            <a:r>
              <a:rPr lang="en-US" sz="1800" b="0" spc="-55" dirty="0">
                <a:solidFill>
                  <a:srgbClr val="244060"/>
                </a:solidFill>
                <a:latin typeface="+mj-lt"/>
                <a:cs typeface="Calibri"/>
              </a:rPr>
              <a:t> </a:t>
            </a:r>
            <a:r>
              <a:rPr lang="en-US" sz="1800" b="0" spc="-10" dirty="0">
                <a:solidFill>
                  <a:srgbClr val="244060"/>
                </a:solidFill>
                <a:latin typeface="+mj-lt"/>
                <a:cs typeface="Calibri"/>
              </a:rPr>
              <a:t>integrating</a:t>
            </a:r>
            <a:r>
              <a:rPr lang="en-US" sz="1800" b="0" spc="-35" dirty="0">
                <a:solidFill>
                  <a:srgbClr val="244060"/>
                </a:solidFill>
                <a:latin typeface="+mj-lt"/>
                <a:cs typeface="Calibri"/>
              </a:rPr>
              <a:t> </a:t>
            </a:r>
            <a:r>
              <a:rPr lang="en-US" sz="1800" b="0" dirty="0">
                <a:solidFill>
                  <a:srgbClr val="244060"/>
                </a:solidFill>
                <a:latin typeface="+mj-lt"/>
                <a:cs typeface="Calibri"/>
              </a:rPr>
              <a:t>the</a:t>
            </a:r>
            <a:r>
              <a:rPr lang="en-US" sz="1800" b="0" spc="-40" dirty="0">
                <a:solidFill>
                  <a:srgbClr val="244060"/>
                </a:solidFill>
                <a:latin typeface="+mj-lt"/>
                <a:cs typeface="Calibri"/>
              </a:rPr>
              <a:t> </a:t>
            </a:r>
            <a:r>
              <a:rPr lang="en-US" sz="1800" b="0" dirty="0">
                <a:solidFill>
                  <a:srgbClr val="244060"/>
                </a:solidFill>
                <a:latin typeface="+mj-lt"/>
                <a:cs typeface="Calibri"/>
              </a:rPr>
              <a:t>Real</a:t>
            </a:r>
            <a:r>
              <a:rPr lang="en-US" sz="1800" b="0" spc="-45" dirty="0">
                <a:solidFill>
                  <a:srgbClr val="244060"/>
                </a:solidFill>
                <a:latin typeface="+mj-lt"/>
                <a:cs typeface="Calibri"/>
              </a:rPr>
              <a:t> </a:t>
            </a:r>
            <a:r>
              <a:rPr lang="en-US" sz="1800" b="0" dirty="0">
                <a:solidFill>
                  <a:srgbClr val="244060"/>
                </a:solidFill>
                <a:latin typeface="+mj-lt"/>
                <a:cs typeface="Calibri"/>
              </a:rPr>
              <a:t>and</a:t>
            </a:r>
            <a:r>
              <a:rPr lang="en-US" sz="1800" b="0" spc="-40" dirty="0">
                <a:solidFill>
                  <a:srgbClr val="244060"/>
                </a:solidFill>
                <a:latin typeface="+mj-lt"/>
                <a:cs typeface="Calibri"/>
              </a:rPr>
              <a:t> </a:t>
            </a:r>
            <a:r>
              <a:rPr lang="en-US" sz="1800" b="0" dirty="0">
                <a:solidFill>
                  <a:srgbClr val="244060"/>
                </a:solidFill>
                <a:latin typeface="+mj-lt"/>
                <a:cs typeface="Calibri"/>
              </a:rPr>
              <a:t>Digital</a:t>
            </a:r>
            <a:r>
              <a:rPr lang="en-US" sz="1800" b="0" spc="-35" dirty="0">
                <a:solidFill>
                  <a:srgbClr val="244060"/>
                </a:solidFill>
                <a:latin typeface="+mj-lt"/>
                <a:cs typeface="Calibri"/>
              </a:rPr>
              <a:t> </a:t>
            </a:r>
            <a:r>
              <a:rPr lang="en-US" sz="1800" b="0" spc="-10" dirty="0">
                <a:solidFill>
                  <a:srgbClr val="244060"/>
                </a:solidFill>
                <a:latin typeface="+mj-lt"/>
                <a:cs typeface="Calibri"/>
              </a:rPr>
              <a:t>world</a:t>
            </a:r>
            <a:endParaRPr lang="en-US" sz="1800" dirty="0">
              <a:latin typeface="+mj-lt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92452" y="1307402"/>
            <a:ext cx="690500" cy="680847"/>
          </a:xfrm>
          <a:custGeom>
            <a:avLst/>
            <a:gdLst/>
            <a:ahLst/>
            <a:cxnLst/>
            <a:rect l="l" t="t" r="r" b="b"/>
            <a:pathLst>
              <a:path w="791210" h="744219">
                <a:moveTo>
                  <a:pt x="395478" y="0"/>
                </a:moveTo>
                <a:lnTo>
                  <a:pt x="345865" y="2897"/>
                </a:lnTo>
                <a:lnTo>
                  <a:pt x="298093" y="11357"/>
                </a:lnTo>
                <a:lnTo>
                  <a:pt x="252531" y="25031"/>
                </a:lnTo>
                <a:lnTo>
                  <a:pt x="209551" y="43571"/>
                </a:lnTo>
                <a:lnTo>
                  <a:pt x="169522" y="66627"/>
                </a:lnTo>
                <a:lnTo>
                  <a:pt x="132815" y="93851"/>
                </a:lnTo>
                <a:lnTo>
                  <a:pt x="99801" y="124896"/>
                </a:lnTo>
                <a:lnTo>
                  <a:pt x="70850" y="159411"/>
                </a:lnTo>
                <a:lnTo>
                  <a:pt x="46331" y="197049"/>
                </a:lnTo>
                <a:lnTo>
                  <a:pt x="26617" y="237461"/>
                </a:lnTo>
                <a:lnTo>
                  <a:pt x="12076" y="280299"/>
                </a:lnTo>
                <a:lnTo>
                  <a:pt x="3080" y="325213"/>
                </a:lnTo>
                <a:lnTo>
                  <a:pt x="0" y="371856"/>
                </a:lnTo>
                <a:lnTo>
                  <a:pt x="3080" y="418498"/>
                </a:lnTo>
                <a:lnTo>
                  <a:pt x="12076" y="463412"/>
                </a:lnTo>
                <a:lnTo>
                  <a:pt x="26617" y="506250"/>
                </a:lnTo>
                <a:lnTo>
                  <a:pt x="46331" y="546662"/>
                </a:lnTo>
                <a:lnTo>
                  <a:pt x="70850" y="584300"/>
                </a:lnTo>
                <a:lnTo>
                  <a:pt x="99801" y="618815"/>
                </a:lnTo>
                <a:lnTo>
                  <a:pt x="132815" y="649860"/>
                </a:lnTo>
                <a:lnTo>
                  <a:pt x="169522" y="677084"/>
                </a:lnTo>
                <a:lnTo>
                  <a:pt x="209551" y="700140"/>
                </a:lnTo>
                <a:lnTo>
                  <a:pt x="252531" y="718680"/>
                </a:lnTo>
                <a:lnTo>
                  <a:pt x="298093" y="732354"/>
                </a:lnTo>
                <a:lnTo>
                  <a:pt x="345865" y="740814"/>
                </a:lnTo>
                <a:lnTo>
                  <a:pt x="395478" y="743712"/>
                </a:lnTo>
                <a:lnTo>
                  <a:pt x="445090" y="740814"/>
                </a:lnTo>
                <a:lnTo>
                  <a:pt x="492862" y="732354"/>
                </a:lnTo>
                <a:lnTo>
                  <a:pt x="538424" y="718680"/>
                </a:lnTo>
                <a:lnTo>
                  <a:pt x="581404" y="700140"/>
                </a:lnTo>
                <a:lnTo>
                  <a:pt x="621433" y="677084"/>
                </a:lnTo>
                <a:lnTo>
                  <a:pt x="658140" y="649860"/>
                </a:lnTo>
                <a:lnTo>
                  <a:pt x="691154" y="618815"/>
                </a:lnTo>
                <a:lnTo>
                  <a:pt x="720105" y="584300"/>
                </a:lnTo>
                <a:lnTo>
                  <a:pt x="744624" y="546662"/>
                </a:lnTo>
                <a:lnTo>
                  <a:pt x="764338" y="506250"/>
                </a:lnTo>
                <a:lnTo>
                  <a:pt x="778879" y="463412"/>
                </a:lnTo>
                <a:lnTo>
                  <a:pt x="787875" y="418498"/>
                </a:lnTo>
                <a:lnTo>
                  <a:pt x="790956" y="371856"/>
                </a:lnTo>
                <a:lnTo>
                  <a:pt x="787875" y="325213"/>
                </a:lnTo>
                <a:lnTo>
                  <a:pt x="778879" y="280299"/>
                </a:lnTo>
                <a:lnTo>
                  <a:pt x="764338" y="237461"/>
                </a:lnTo>
                <a:lnTo>
                  <a:pt x="744624" y="197049"/>
                </a:lnTo>
                <a:lnTo>
                  <a:pt x="720105" y="159411"/>
                </a:lnTo>
                <a:lnTo>
                  <a:pt x="691154" y="124896"/>
                </a:lnTo>
                <a:lnTo>
                  <a:pt x="658140" y="93851"/>
                </a:lnTo>
                <a:lnTo>
                  <a:pt x="621433" y="66627"/>
                </a:lnTo>
                <a:lnTo>
                  <a:pt x="581404" y="43571"/>
                </a:lnTo>
                <a:lnTo>
                  <a:pt x="538424" y="25031"/>
                </a:lnTo>
                <a:lnTo>
                  <a:pt x="492862" y="11357"/>
                </a:lnTo>
                <a:lnTo>
                  <a:pt x="445090" y="2897"/>
                </a:lnTo>
                <a:lnTo>
                  <a:pt x="395478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0331" y="2214372"/>
            <a:ext cx="8713470" cy="0"/>
          </a:xfrm>
          <a:custGeom>
            <a:avLst/>
            <a:gdLst/>
            <a:ahLst/>
            <a:cxnLst/>
            <a:rect l="l" t="t" r="r" b="b"/>
            <a:pathLst>
              <a:path w="8713470">
                <a:moveTo>
                  <a:pt x="0" y="0"/>
                </a:moveTo>
                <a:lnTo>
                  <a:pt x="8712962" y="0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7952" y="3400044"/>
            <a:ext cx="8713470" cy="0"/>
          </a:xfrm>
          <a:custGeom>
            <a:avLst/>
            <a:gdLst/>
            <a:ahLst/>
            <a:cxnLst/>
            <a:rect l="l" t="t" r="r" b="b"/>
            <a:pathLst>
              <a:path w="8713470">
                <a:moveTo>
                  <a:pt x="0" y="0"/>
                </a:moveTo>
                <a:lnTo>
                  <a:pt x="8712962" y="0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10639" y="1164336"/>
            <a:ext cx="0" cy="936625"/>
          </a:xfrm>
          <a:custGeom>
            <a:avLst/>
            <a:gdLst/>
            <a:ahLst/>
            <a:cxnLst/>
            <a:rect l="l" t="t" r="r" b="b"/>
            <a:pathLst>
              <a:path h="936625">
                <a:moveTo>
                  <a:pt x="0" y="936116"/>
                </a:moveTo>
                <a:lnTo>
                  <a:pt x="0" y="0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10639" y="2398776"/>
            <a:ext cx="0" cy="936625"/>
          </a:xfrm>
          <a:custGeom>
            <a:avLst/>
            <a:gdLst/>
            <a:ahLst/>
            <a:cxnLst/>
            <a:rect l="l" t="t" r="r" b="b"/>
            <a:pathLst>
              <a:path h="936625">
                <a:moveTo>
                  <a:pt x="0" y="936117"/>
                </a:moveTo>
                <a:lnTo>
                  <a:pt x="0" y="0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18260" y="3563111"/>
            <a:ext cx="0" cy="936625"/>
          </a:xfrm>
          <a:custGeom>
            <a:avLst/>
            <a:gdLst/>
            <a:ahLst/>
            <a:cxnLst/>
            <a:rect l="l" t="t" r="r" b="b"/>
            <a:pathLst>
              <a:path h="936625">
                <a:moveTo>
                  <a:pt x="0" y="936104"/>
                </a:moveTo>
                <a:lnTo>
                  <a:pt x="0" y="0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7258" y="1171194"/>
            <a:ext cx="1818639" cy="925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9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6F2F9F"/>
                </a:solidFill>
                <a:latin typeface="+mj-lt"/>
                <a:cs typeface="Calibri"/>
              </a:rPr>
              <a:t>Transformation</a:t>
            </a:r>
            <a:endParaRPr sz="1800" dirty="0">
              <a:latin typeface="+mj-lt"/>
              <a:cs typeface="Calibri"/>
            </a:endParaRPr>
          </a:p>
          <a:p>
            <a:pPr marL="51435">
              <a:lnSpc>
                <a:spcPts val="1250"/>
              </a:lnSpc>
            </a:pPr>
            <a:r>
              <a:rPr sz="1100" b="1" dirty="0">
                <a:solidFill>
                  <a:srgbClr val="404040"/>
                </a:solidFill>
                <a:latin typeface="+mj-lt"/>
                <a:cs typeface="Calibri"/>
              </a:rPr>
              <a:t>Business</a:t>
            </a:r>
            <a:r>
              <a:rPr sz="1100" b="1" spc="-4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404040"/>
                </a:solidFill>
                <a:latin typeface="+mj-lt"/>
                <a:cs typeface="Calibri"/>
              </a:rPr>
              <a:t>Value</a:t>
            </a:r>
            <a:r>
              <a:rPr sz="1100" b="1" spc="-2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100" b="1" spc="-10" dirty="0">
                <a:solidFill>
                  <a:srgbClr val="404040"/>
                </a:solidFill>
                <a:latin typeface="+mj-lt"/>
                <a:cs typeface="Calibri"/>
              </a:rPr>
              <a:t>Creation</a:t>
            </a:r>
            <a:endParaRPr sz="1100" dirty="0">
              <a:latin typeface="+mj-lt"/>
              <a:cs typeface="Calibri"/>
            </a:endParaRPr>
          </a:p>
          <a:p>
            <a:pPr marL="40005" marR="5080">
              <a:lnSpc>
                <a:spcPct val="80000"/>
              </a:lnSpc>
              <a:spcBef>
                <a:spcPts val="715"/>
              </a:spcBef>
            </a:pP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Orchestrate</a:t>
            </a:r>
            <a:r>
              <a:rPr sz="1050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Data,</a:t>
            </a:r>
            <a:r>
              <a:rPr sz="1050" spc="-3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spc="-10" dirty="0">
                <a:solidFill>
                  <a:srgbClr val="404040"/>
                </a:solidFill>
                <a:latin typeface="+mj-lt"/>
                <a:cs typeface="Calibri"/>
              </a:rPr>
              <a:t>Internet,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Mobility</a:t>
            </a:r>
            <a:r>
              <a:rPr sz="1050" spc="-2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and</a:t>
            </a:r>
            <a:r>
              <a:rPr sz="1050" spc="-2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digital</a:t>
            </a:r>
            <a:r>
              <a:rPr sz="1050" spc="-2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spc="-10" dirty="0">
                <a:solidFill>
                  <a:srgbClr val="404040"/>
                </a:solidFill>
                <a:latin typeface="+mj-lt"/>
                <a:cs typeface="Calibri"/>
              </a:rPr>
              <a:t>technologies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to</a:t>
            </a:r>
            <a:r>
              <a:rPr sz="1050" spc="-1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enable</a:t>
            </a:r>
            <a:r>
              <a:rPr sz="1050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new</a:t>
            </a:r>
            <a:r>
              <a:rPr sz="1050" spc="-2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business</a:t>
            </a:r>
            <a:r>
              <a:rPr sz="1050" spc="-10" dirty="0">
                <a:solidFill>
                  <a:srgbClr val="404040"/>
                </a:solidFill>
                <a:latin typeface="+mj-lt"/>
                <a:cs typeface="Calibri"/>
              </a:rPr>
              <a:t> models</a:t>
            </a:r>
            <a:endParaRPr sz="1050" dirty="0">
              <a:latin typeface="+mj-lt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7258" y="2333955"/>
            <a:ext cx="2167255" cy="926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50"/>
              </a:lnSpc>
              <a:spcBef>
                <a:spcPts val="100"/>
              </a:spcBef>
            </a:pPr>
            <a:r>
              <a:rPr sz="1800" b="1" dirty="0">
                <a:solidFill>
                  <a:srgbClr val="E36C09"/>
                </a:solidFill>
                <a:latin typeface="+mj-lt"/>
                <a:cs typeface="Calibri"/>
              </a:rPr>
              <a:t>Digital</a:t>
            </a:r>
            <a:r>
              <a:rPr sz="1800" b="1" spc="-40" dirty="0">
                <a:solidFill>
                  <a:srgbClr val="E36C09"/>
                </a:solidFill>
                <a:latin typeface="+mj-lt"/>
                <a:cs typeface="Calibri"/>
              </a:rPr>
              <a:t> </a:t>
            </a:r>
            <a:r>
              <a:rPr sz="1800" b="1" spc="-10" dirty="0">
                <a:solidFill>
                  <a:srgbClr val="E36C09"/>
                </a:solidFill>
                <a:latin typeface="+mj-lt"/>
                <a:cs typeface="Calibri"/>
              </a:rPr>
              <a:t>Platform</a:t>
            </a:r>
            <a:endParaRPr sz="1800" dirty="0">
              <a:latin typeface="+mj-lt"/>
              <a:cs typeface="Calibri"/>
            </a:endParaRPr>
          </a:p>
          <a:p>
            <a:pPr marL="22860">
              <a:lnSpc>
                <a:spcPts val="1310"/>
              </a:lnSpc>
            </a:pPr>
            <a:r>
              <a:rPr sz="1100" b="1" dirty="0">
                <a:solidFill>
                  <a:srgbClr val="404040"/>
                </a:solidFill>
                <a:latin typeface="+mj-lt"/>
                <a:cs typeface="Calibri"/>
              </a:rPr>
              <a:t>Creating</a:t>
            </a:r>
            <a:r>
              <a:rPr sz="1100" b="1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404040"/>
                </a:solidFill>
                <a:latin typeface="+mj-lt"/>
                <a:cs typeface="Calibri"/>
              </a:rPr>
              <a:t>a</a:t>
            </a:r>
            <a:r>
              <a:rPr sz="1100" b="1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404040"/>
                </a:solidFill>
                <a:latin typeface="+mj-lt"/>
                <a:cs typeface="Calibri"/>
              </a:rPr>
              <a:t>Digital</a:t>
            </a:r>
            <a:r>
              <a:rPr sz="1100" b="1" spc="-2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100" b="1" spc="-10" dirty="0">
                <a:solidFill>
                  <a:srgbClr val="404040"/>
                </a:solidFill>
                <a:latin typeface="+mj-lt"/>
                <a:cs typeface="Calibri"/>
              </a:rPr>
              <a:t>Workplace</a:t>
            </a:r>
            <a:endParaRPr sz="1100" dirty="0">
              <a:latin typeface="+mj-lt"/>
              <a:cs typeface="Calibri"/>
            </a:endParaRPr>
          </a:p>
          <a:p>
            <a:pPr marL="40005" marR="5080">
              <a:lnSpc>
                <a:spcPts val="1010"/>
              </a:lnSpc>
              <a:spcBef>
                <a:spcPts val="595"/>
              </a:spcBef>
            </a:pP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Enhance</a:t>
            </a:r>
            <a:r>
              <a:rPr sz="1050" spc="-1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user</a:t>
            </a:r>
            <a:r>
              <a:rPr sz="1050" spc="-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spc="-10" dirty="0">
                <a:solidFill>
                  <a:srgbClr val="404040"/>
                </a:solidFill>
                <a:latin typeface="+mj-lt"/>
                <a:cs typeface="Calibri"/>
              </a:rPr>
              <a:t>experience</a:t>
            </a:r>
            <a:r>
              <a:rPr sz="1050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to</a:t>
            </a:r>
            <a:r>
              <a:rPr sz="1050" spc="-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clients</a:t>
            </a:r>
            <a:r>
              <a:rPr sz="1050" spc="-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spc="-25" dirty="0">
                <a:solidFill>
                  <a:srgbClr val="404040"/>
                </a:solidFill>
                <a:latin typeface="+mj-lt"/>
                <a:cs typeface="Calibri"/>
              </a:rPr>
              <a:t>and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employees</a:t>
            </a:r>
            <a:r>
              <a:rPr sz="1050" spc="-4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by</a:t>
            </a:r>
            <a:r>
              <a:rPr sz="1050" spc="-2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deploying</a:t>
            </a:r>
            <a:r>
              <a:rPr sz="1050" spc="-2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spc="-10" dirty="0">
                <a:solidFill>
                  <a:srgbClr val="404040"/>
                </a:solidFill>
                <a:latin typeface="+mj-lt"/>
                <a:cs typeface="Calibri"/>
              </a:rPr>
              <a:t>applications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delivering</a:t>
            </a:r>
            <a:r>
              <a:rPr sz="1050" spc="-4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agility</a:t>
            </a:r>
            <a:r>
              <a:rPr sz="1050" spc="-2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and</a:t>
            </a:r>
            <a:r>
              <a:rPr sz="1050" spc="-2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spc="-10" dirty="0">
                <a:solidFill>
                  <a:srgbClr val="404040"/>
                </a:solidFill>
                <a:latin typeface="+mj-lt"/>
                <a:cs typeface="Calibri"/>
              </a:rPr>
              <a:t>reliability</a:t>
            </a:r>
            <a:endParaRPr sz="1050" dirty="0">
              <a:latin typeface="+mj-lt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3608" y="3519042"/>
            <a:ext cx="229044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</a:pPr>
            <a:r>
              <a:rPr sz="1800" b="1" dirty="0">
                <a:solidFill>
                  <a:srgbClr val="548ED4"/>
                </a:solidFill>
                <a:latin typeface="+mj-lt"/>
                <a:cs typeface="Calibri"/>
              </a:rPr>
              <a:t>Core</a:t>
            </a:r>
            <a:r>
              <a:rPr sz="1800" b="1" spc="-45" dirty="0">
                <a:solidFill>
                  <a:srgbClr val="548ED4"/>
                </a:solidFill>
                <a:latin typeface="+mj-lt"/>
                <a:cs typeface="Calibri"/>
              </a:rPr>
              <a:t> </a:t>
            </a:r>
            <a:r>
              <a:rPr sz="1800" b="1" dirty="0">
                <a:solidFill>
                  <a:srgbClr val="548ED4"/>
                </a:solidFill>
                <a:latin typeface="+mj-lt"/>
                <a:cs typeface="Calibri"/>
              </a:rPr>
              <a:t>Enterprise</a:t>
            </a:r>
            <a:r>
              <a:rPr sz="1800" b="1" spc="-40" dirty="0">
                <a:solidFill>
                  <a:srgbClr val="548ED4"/>
                </a:solidFill>
                <a:latin typeface="+mj-lt"/>
                <a:cs typeface="Calibri"/>
              </a:rPr>
              <a:t> </a:t>
            </a:r>
            <a:r>
              <a:rPr sz="1800" b="1" dirty="0">
                <a:solidFill>
                  <a:srgbClr val="548ED4"/>
                </a:solidFill>
                <a:latin typeface="+mj-lt"/>
                <a:cs typeface="Calibri"/>
              </a:rPr>
              <a:t>&amp;</a:t>
            </a:r>
            <a:r>
              <a:rPr sz="1800" b="1" spc="-60" dirty="0">
                <a:solidFill>
                  <a:srgbClr val="548ED4"/>
                </a:solidFill>
                <a:latin typeface="+mj-lt"/>
                <a:cs typeface="Calibri"/>
              </a:rPr>
              <a:t> </a:t>
            </a:r>
            <a:r>
              <a:rPr sz="1800" b="1" spc="-10" dirty="0">
                <a:solidFill>
                  <a:srgbClr val="548ED4"/>
                </a:solidFill>
                <a:latin typeface="+mj-lt"/>
                <a:cs typeface="Calibri"/>
              </a:rPr>
              <a:t>Cloud</a:t>
            </a:r>
            <a:endParaRPr sz="1800" dirty="0">
              <a:latin typeface="+mj-lt"/>
              <a:cs typeface="Calibri"/>
            </a:endParaRPr>
          </a:p>
          <a:p>
            <a:pPr marL="22860">
              <a:lnSpc>
                <a:spcPts val="1210"/>
              </a:lnSpc>
            </a:pPr>
            <a:r>
              <a:rPr sz="1100" b="1" dirty="0">
                <a:solidFill>
                  <a:srgbClr val="404040"/>
                </a:solidFill>
                <a:latin typeface="+mj-lt"/>
                <a:cs typeface="Calibri"/>
              </a:rPr>
              <a:t>Secure</a:t>
            </a:r>
            <a:r>
              <a:rPr sz="1100" b="1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404040"/>
                </a:solidFill>
                <a:latin typeface="+mj-lt"/>
                <a:cs typeface="Calibri"/>
              </a:rPr>
              <a:t>Operations</a:t>
            </a:r>
            <a:r>
              <a:rPr sz="1100" b="1" spc="-2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404040"/>
                </a:solidFill>
                <a:latin typeface="+mj-lt"/>
                <a:cs typeface="Calibri"/>
              </a:rPr>
              <a:t>in</a:t>
            </a:r>
            <a:r>
              <a:rPr sz="1100" b="1" spc="-2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100" b="1" dirty="0">
                <a:solidFill>
                  <a:srgbClr val="404040"/>
                </a:solidFill>
                <a:latin typeface="+mj-lt"/>
                <a:cs typeface="Calibri"/>
              </a:rPr>
              <a:t>the</a:t>
            </a:r>
            <a:r>
              <a:rPr sz="1100" b="1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100" b="1" spc="-20" dirty="0">
                <a:solidFill>
                  <a:srgbClr val="404040"/>
                </a:solidFill>
                <a:latin typeface="+mj-lt"/>
                <a:cs typeface="Calibri"/>
              </a:rPr>
              <a:t>Cloud</a:t>
            </a:r>
            <a:endParaRPr sz="1100" dirty="0">
              <a:latin typeface="+mj-lt"/>
              <a:cs typeface="Calibri"/>
            </a:endParaRPr>
          </a:p>
          <a:p>
            <a:pPr marL="40005" marR="261620">
              <a:lnSpc>
                <a:spcPct val="80100"/>
              </a:lnSpc>
              <a:spcBef>
                <a:spcPts val="800"/>
              </a:spcBef>
            </a:pP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Deliver</a:t>
            </a:r>
            <a:r>
              <a:rPr sz="1050" spc="-4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seamless,</a:t>
            </a:r>
            <a:r>
              <a:rPr sz="1050" spc="-3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integrated,</a:t>
            </a:r>
            <a:r>
              <a:rPr sz="1050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spc="-10" dirty="0">
                <a:solidFill>
                  <a:srgbClr val="404040"/>
                </a:solidFill>
                <a:latin typeface="+mj-lt"/>
                <a:cs typeface="Calibri"/>
              </a:rPr>
              <a:t>Secure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Hybrid</a:t>
            </a:r>
            <a:r>
              <a:rPr sz="1050" spc="-4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cloud</a:t>
            </a:r>
            <a:r>
              <a:rPr sz="1050" spc="229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with</a:t>
            </a:r>
            <a:r>
              <a:rPr sz="1050" spc="-1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a</a:t>
            </a:r>
            <a:r>
              <a:rPr sz="1050" spc="-1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full</a:t>
            </a:r>
            <a:r>
              <a:rPr sz="1050" spc="-1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line</a:t>
            </a:r>
            <a:r>
              <a:rPr sz="1050" spc="-1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of</a:t>
            </a:r>
            <a:r>
              <a:rPr sz="1050" spc="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spc="-20" dirty="0">
                <a:solidFill>
                  <a:srgbClr val="404040"/>
                </a:solidFill>
                <a:latin typeface="+mj-lt"/>
                <a:cs typeface="Calibri"/>
              </a:rPr>
              <a:t>cyber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security,</a:t>
            </a:r>
            <a:r>
              <a:rPr sz="1050" spc="-4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business</a:t>
            </a:r>
            <a:r>
              <a:rPr sz="1050" spc="-4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continuity</a:t>
            </a:r>
            <a:r>
              <a:rPr sz="1050" spc="-4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spc="-25" dirty="0">
                <a:solidFill>
                  <a:srgbClr val="404040"/>
                </a:solidFill>
                <a:latin typeface="+mj-lt"/>
                <a:cs typeface="Calibri"/>
              </a:rPr>
              <a:t>and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disaster</a:t>
            </a:r>
            <a:r>
              <a:rPr sz="1050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dirty="0">
                <a:solidFill>
                  <a:srgbClr val="404040"/>
                </a:solidFill>
                <a:latin typeface="+mj-lt"/>
                <a:cs typeface="Calibri"/>
              </a:rPr>
              <a:t>recovery</a:t>
            </a:r>
            <a:r>
              <a:rPr sz="1050" spc="-5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spc="-10" dirty="0">
                <a:solidFill>
                  <a:srgbClr val="404040"/>
                </a:solidFill>
                <a:latin typeface="+mj-lt"/>
                <a:cs typeface="Calibri"/>
              </a:rPr>
              <a:t>services</a:t>
            </a:r>
            <a:endParaRPr sz="1050" dirty="0">
              <a:latin typeface="+mj-lt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98389" y="1308353"/>
            <a:ext cx="746760" cy="2724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860"/>
              </a:lnSpc>
              <a:spcBef>
                <a:spcPts val="310"/>
              </a:spcBef>
            </a:pP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Business</a:t>
            </a:r>
            <a:r>
              <a:rPr sz="900" spc="50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Transformation</a:t>
            </a:r>
            <a:endParaRPr sz="900" dirty="0">
              <a:latin typeface="+mj-lt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98389" y="1833498"/>
            <a:ext cx="83185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Internet</a:t>
            </a:r>
            <a:r>
              <a:rPr sz="900" spc="-2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of</a:t>
            </a:r>
            <a:r>
              <a:rPr sz="900" spc="-4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things</a:t>
            </a:r>
            <a:endParaRPr sz="900">
              <a:latin typeface="+mj-lt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74891" y="1308353"/>
            <a:ext cx="570865" cy="2724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860"/>
              </a:lnSpc>
              <a:spcBef>
                <a:spcPts val="310"/>
              </a:spcBef>
            </a:pP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Data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 Driven</a:t>
            </a:r>
            <a:r>
              <a:rPr sz="900" spc="50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Insights</a:t>
            </a:r>
            <a:endParaRPr sz="900" dirty="0">
              <a:latin typeface="+mj-lt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85433" y="1813432"/>
            <a:ext cx="533400" cy="273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75"/>
              </a:lnSpc>
              <a:spcBef>
                <a:spcPts val="100"/>
              </a:spcBef>
            </a:pP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Customer</a:t>
            </a:r>
            <a:endParaRPr sz="900" dirty="0">
              <a:latin typeface="+mj-lt"/>
              <a:cs typeface="Calibri"/>
            </a:endParaRPr>
          </a:p>
          <a:p>
            <a:pPr marL="12700">
              <a:lnSpc>
                <a:spcPts val="975"/>
              </a:lnSpc>
            </a:pP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Experience</a:t>
            </a:r>
            <a:endParaRPr sz="900" dirty="0">
              <a:latin typeface="+mj-lt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16009" y="1308353"/>
            <a:ext cx="571500" cy="2724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860"/>
              </a:lnSpc>
              <a:spcBef>
                <a:spcPts val="310"/>
              </a:spcBef>
            </a:pP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Big</a:t>
            </a:r>
            <a:r>
              <a:rPr sz="900" spc="-20" dirty="0">
                <a:solidFill>
                  <a:srgbClr val="404040"/>
                </a:solidFill>
                <a:latin typeface="+mj-lt"/>
                <a:cs typeface="Calibri"/>
              </a:rPr>
              <a:t> Data</a:t>
            </a:r>
            <a:r>
              <a:rPr sz="900" spc="50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Engineering</a:t>
            </a:r>
            <a:endParaRPr sz="900" dirty="0">
              <a:latin typeface="+mj-lt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03087" y="2375853"/>
            <a:ext cx="550545" cy="27241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315"/>
              </a:spcBef>
            </a:pP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Application</a:t>
            </a:r>
            <a:r>
              <a:rPr sz="900" spc="50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Services</a:t>
            </a:r>
            <a:endParaRPr sz="900" dirty="0">
              <a:latin typeface="+mj-lt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71780" y="2373820"/>
            <a:ext cx="560705" cy="27241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315"/>
              </a:spcBef>
            </a:pP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Block</a:t>
            </a:r>
            <a:r>
              <a:rPr sz="900" spc="-4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Chain</a:t>
            </a:r>
            <a:r>
              <a:rPr sz="900" spc="50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Services</a:t>
            </a:r>
            <a:endParaRPr sz="900" dirty="0">
              <a:latin typeface="+mj-lt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40648" y="2370201"/>
            <a:ext cx="541020" cy="27241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315"/>
              </a:spcBef>
            </a:pP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Digital</a:t>
            </a:r>
            <a:r>
              <a:rPr sz="900" spc="50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Integration</a:t>
            </a:r>
            <a:endParaRPr sz="900" dirty="0">
              <a:latin typeface="+mj-lt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98389" y="2743186"/>
            <a:ext cx="704215" cy="27241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315"/>
              </a:spcBef>
            </a:pP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Application</a:t>
            </a:r>
            <a:r>
              <a:rPr sz="900" spc="50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modernization</a:t>
            </a:r>
            <a:endParaRPr sz="900" dirty="0">
              <a:latin typeface="+mj-lt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61429" y="2779712"/>
            <a:ext cx="68897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SaaS</a:t>
            </a:r>
            <a:r>
              <a:rPr sz="900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Offerings</a:t>
            </a:r>
            <a:endParaRPr sz="900" dirty="0">
              <a:latin typeface="+mj-lt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42807" y="2809748"/>
            <a:ext cx="744220" cy="272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9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Digital</a:t>
            </a:r>
            <a:r>
              <a:rPr sz="900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Business</a:t>
            </a:r>
            <a:endParaRPr sz="900" dirty="0">
              <a:latin typeface="+mj-lt"/>
              <a:cs typeface="Calibri"/>
            </a:endParaRPr>
          </a:p>
          <a:p>
            <a:pPr marL="12700">
              <a:lnSpc>
                <a:spcPts val="969"/>
              </a:lnSpc>
            </a:pP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Operations</a:t>
            </a:r>
            <a:endParaRPr sz="900" dirty="0">
              <a:latin typeface="+mj-lt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66192" y="3611309"/>
            <a:ext cx="807720" cy="27241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315"/>
              </a:spcBef>
            </a:pP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Cloud</a:t>
            </a:r>
            <a:r>
              <a:rPr sz="900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Consulting</a:t>
            </a:r>
            <a:r>
              <a:rPr sz="900" spc="50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&amp;</a:t>
            </a:r>
            <a:r>
              <a:rPr sz="900" spc="-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Advisory</a:t>
            </a:r>
            <a:endParaRPr sz="900" dirty="0">
              <a:latin typeface="+mj-lt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84732" y="3631914"/>
            <a:ext cx="735965" cy="27241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315"/>
              </a:spcBef>
            </a:pP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Cloud</a:t>
            </a:r>
            <a:r>
              <a:rPr sz="900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Design</a:t>
            </a:r>
            <a:r>
              <a:rPr sz="900" spc="-2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50" dirty="0">
                <a:solidFill>
                  <a:srgbClr val="404040"/>
                </a:solidFill>
                <a:latin typeface="+mj-lt"/>
                <a:cs typeface="Calibri"/>
              </a:rPr>
              <a:t>&amp;</a:t>
            </a:r>
            <a:r>
              <a:rPr sz="900" spc="50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build</a:t>
            </a:r>
            <a:r>
              <a:rPr sz="900" spc="-2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Services</a:t>
            </a:r>
            <a:endParaRPr sz="900" dirty="0">
              <a:latin typeface="+mj-lt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67336" y="4046092"/>
            <a:ext cx="925194" cy="2724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860"/>
              </a:lnSpc>
              <a:spcBef>
                <a:spcPts val="310"/>
              </a:spcBef>
            </a:pP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Cloud</a:t>
            </a:r>
            <a:r>
              <a:rPr sz="900" spc="-4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operations</a:t>
            </a:r>
            <a:r>
              <a:rPr sz="900" spc="-3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50" dirty="0">
                <a:solidFill>
                  <a:srgbClr val="404040"/>
                </a:solidFill>
                <a:latin typeface="+mj-lt"/>
                <a:cs typeface="Calibri"/>
              </a:rPr>
              <a:t>&amp;</a:t>
            </a:r>
            <a:r>
              <a:rPr sz="900" spc="50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Managed</a:t>
            </a:r>
            <a:r>
              <a:rPr sz="900" spc="1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services</a:t>
            </a:r>
            <a:endParaRPr sz="900" dirty="0">
              <a:latin typeface="+mj-lt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897056" y="2442972"/>
            <a:ext cx="681293" cy="639191"/>
          </a:xfrm>
          <a:custGeom>
            <a:avLst/>
            <a:gdLst/>
            <a:ahLst/>
            <a:cxnLst/>
            <a:rect l="l" t="t" r="r" b="b"/>
            <a:pathLst>
              <a:path w="791210" h="742314">
                <a:moveTo>
                  <a:pt x="395478" y="0"/>
                </a:moveTo>
                <a:lnTo>
                  <a:pt x="345865" y="2890"/>
                </a:lnTo>
                <a:lnTo>
                  <a:pt x="298093" y="11331"/>
                </a:lnTo>
                <a:lnTo>
                  <a:pt x="252531" y="24975"/>
                </a:lnTo>
                <a:lnTo>
                  <a:pt x="209551" y="43473"/>
                </a:lnTo>
                <a:lnTo>
                  <a:pt x="169522" y="66479"/>
                </a:lnTo>
                <a:lnTo>
                  <a:pt x="132815" y="93645"/>
                </a:lnTo>
                <a:lnTo>
                  <a:pt x="99801" y="124624"/>
                </a:lnTo>
                <a:lnTo>
                  <a:pt x="70850" y="159067"/>
                </a:lnTo>
                <a:lnTo>
                  <a:pt x="46331" y="196628"/>
                </a:lnTo>
                <a:lnTo>
                  <a:pt x="26617" y="236958"/>
                </a:lnTo>
                <a:lnTo>
                  <a:pt x="12076" y="279711"/>
                </a:lnTo>
                <a:lnTo>
                  <a:pt x="3080" y="324539"/>
                </a:lnTo>
                <a:lnTo>
                  <a:pt x="0" y="371094"/>
                </a:lnTo>
                <a:lnTo>
                  <a:pt x="3080" y="417648"/>
                </a:lnTo>
                <a:lnTo>
                  <a:pt x="12076" y="462476"/>
                </a:lnTo>
                <a:lnTo>
                  <a:pt x="26617" y="505229"/>
                </a:lnTo>
                <a:lnTo>
                  <a:pt x="46331" y="545559"/>
                </a:lnTo>
                <a:lnTo>
                  <a:pt x="70850" y="583120"/>
                </a:lnTo>
                <a:lnTo>
                  <a:pt x="99801" y="617563"/>
                </a:lnTo>
                <a:lnTo>
                  <a:pt x="132815" y="648542"/>
                </a:lnTo>
                <a:lnTo>
                  <a:pt x="169522" y="675708"/>
                </a:lnTo>
                <a:lnTo>
                  <a:pt x="209551" y="698714"/>
                </a:lnTo>
                <a:lnTo>
                  <a:pt x="252531" y="717212"/>
                </a:lnTo>
                <a:lnTo>
                  <a:pt x="298093" y="730856"/>
                </a:lnTo>
                <a:lnTo>
                  <a:pt x="345865" y="739297"/>
                </a:lnTo>
                <a:lnTo>
                  <a:pt x="395478" y="742188"/>
                </a:lnTo>
                <a:lnTo>
                  <a:pt x="445090" y="739297"/>
                </a:lnTo>
                <a:lnTo>
                  <a:pt x="492862" y="730856"/>
                </a:lnTo>
                <a:lnTo>
                  <a:pt x="538424" y="717212"/>
                </a:lnTo>
                <a:lnTo>
                  <a:pt x="581404" y="698714"/>
                </a:lnTo>
                <a:lnTo>
                  <a:pt x="621433" y="675708"/>
                </a:lnTo>
                <a:lnTo>
                  <a:pt x="658140" y="648542"/>
                </a:lnTo>
                <a:lnTo>
                  <a:pt x="691154" y="617563"/>
                </a:lnTo>
                <a:lnTo>
                  <a:pt x="720105" y="583120"/>
                </a:lnTo>
                <a:lnTo>
                  <a:pt x="744624" y="545559"/>
                </a:lnTo>
                <a:lnTo>
                  <a:pt x="764338" y="505229"/>
                </a:lnTo>
                <a:lnTo>
                  <a:pt x="778879" y="462476"/>
                </a:lnTo>
                <a:lnTo>
                  <a:pt x="787875" y="417648"/>
                </a:lnTo>
                <a:lnTo>
                  <a:pt x="790956" y="371094"/>
                </a:lnTo>
                <a:lnTo>
                  <a:pt x="787875" y="324539"/>
                </a:lnTo>
                <a:lnTo>
                  <a:pt x="778879" y="279711"/>
                </a:lnTo>
                <a:lnTo>
                  <a:pt x="764338" y="236958"/>
                </a:lnTo>
                <a:lnTo>
                  <a:pt x="744624" y="196628"/>
                </a:lnTo>
                <a:lnTo>
                  <a:pt x="720105" y="159067"/>
                </a:lnTo>
                <a:lnTo>
                  <a:pt x="691154" y="124624"/>
                </a:lnTo>
                <a:lnTo>
                  <a:pt x="658140" y="93645"/>
                </a:lnTo>
                <a:lnTo>
                  <a:pt x="621433" y="66479"/>
                </a:lnTo>
                <a:lnTo>
                  <a:pt x="581404" y="43473"/>
                </a:lnTo>
                <a:lnTo>
                  <a:pt x="538424" y="24975"/>
                </a:lnTo>
                <a:lnTo>
                  <a:pt x="492862" y="11331"/>
                </a:lnTo>
                <a:lnTo>
                  <a:pt x="445090" y="2890"/>
                </a:lnTo>
                <a:lnTo>
                  <a:pt x="395478" y="0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923283" y="3631914"/>
            <a:ext cx="659669" cy="655417"/>
          </a:xfrm>
          <a:custGeom>
            <a:avLst/>
            <a:gdLst/>
            <a:ahLst/>
            <a:cxnLst/>
            <a:rect l="l" t="t" r="r" b="b"/>
            <a:pathLst>
              <a:path w="791210" h="742314">
                <a:moveTo>
                  <a:pt x="395478" y="0"/>
                </a:moveTo>
                <a:lnTo>
                  <a:pt x="345865" y="2890"/>
                </a:lnTo>
                <a:lnTo>
                  <a:pt x="298093" y="11331"/>
                </a:lnTo>
                <a:lnTo>
                  <a:pt x="252531" y="24975"/>
                </a:lnTo>
                <a:lnTo>
                  <a:pt x="209551" y="43473"/>
                </a:lnTo>
                <a:lnTo>
                  <a:pt x="169522" y="66479"/>
                </a:lnTo>
                <a:lnTo>
                  <a:pt x="132815" y="93645"/>
                </a:lnTo>
                <a:lnTo>
                  <a:pt x="99801" y="124624"/>
                </a:lnTo>
                <a:lnTo>
                  <a:pt x="70850" y="159067"/>
                </a:lnTo>
                <a:lnTo>
                  <a:pt x="46331" y="196628"/>
                </a:lnTo>
                <a:lnTo>
                  <a:pt x="26617" y="236958"/>
                </a:lnTo>
                <a:lnTo>
                  <a:pt x="12076" y="279711"/>
                </a:lnTo>
                <a:lnTo>
                  <a:pt x="3080" y="324539"/>
                </a:lnTo>
                <a:lnTo>
                  <a:pt x="0" y="371093"/>
                </a:lnTo>
                <a:lnTo>
                  <a:pt x="3080" y="417643"/>
                </a:lnTo>
                <a:lnTo>
                  <a:pt x="12076" y="462468"/>
                </a:lnTo>
                <a:lnTo>
                  <a:pt x="26617" y="505218"/>
                </a:lnTo>
                <a:lnTo>
                  <a:pt x="46331" y="545548"/>
                </a:lnTo>
                <a:lnTo>
                  <a:pt x="70850" y="583109"/>
                </a:lnTo>
                <a:lnTo>
                  <a:pt x="99801" y="617553"/>
                </a:lnTo>
                <a:lnTo>
                  <a:pt x="132815" y="648533"/>
                </a:lnTo>
                <a:lnTo>
                  <a:pt x="169522" y="675701"/>
                </a:lnTo>
                <a:lnTo>
                  <a:pt x="209551" y="698709"/>
                </a:lnTo>
                <a:lnTo>
                  <a:pt x="252531" y="717209"/>
                </a:lnTo>
                <a:lnTo>
                  <a:pt x="298093" y="730854"/>
                </a:lnTo>
                <a:lnTo>
                  <a:pt x="345865" y="739296"/>
                </a:lnTo>
                <a:lnTo>
                  <a:pt x="395478" y="742187"/>
                </a:lnTo>
                <a:lnTo>
                  <a:pt x="445090" y="739296"/>
                </a:lnTo>
                <a:lnTo>
                  <a:pt x="492862" y="730854"/>
                </a:lnTo>
                <a:lnTo>
                  <a:pt x="538424" y="717209"/>
                </a:lnTo>
                <a:lnTo>
                  <a:pt x="581404" y="698709"/>
                </a:lnTo>
                <a:lnTo>
                  <a:pt x="621433" y="675701"/>
                </a:lnTo>
                <a:lnTo>
                  <a:pt x="658140" y="648533"/>
                </a:lnTo>
                <a:lnTo>
                  <a:pt x="691154" y="617553"/>
                </a:lnTo>
                <a:lnTo>
                  <a:pt x="720105" y="583109"/>
                </a:lnTo>
                <a:lnTo>
                  <a:pt x="744624" y="545548"/>
                </a:lnTo>
                <a:lnTo>
                  <a:pt x="764338" y="505218"/>
                </a:lnTo>
                <a:lnTo>
                  <a:pt x="778879" y="462468"/>
                </a:lnTo>
                <a:lnTo>
                  <a:pt x="787875" y="417643"/>
                </a:lnTo>
                <a:lnTo>
                  <a:pt x="790956" y="371093"/>
                </a:lnTo>
                <a:lnTo>
                  <a:pt x="787875" y="324539"/>
                </a:lnTo>
                <a:lnTo>
                  <a:pt x="778879" y="279711"/>
                </a:lnTo>
                <a:lnTo>
                  <a:pt x="764338" y="236958"/>
                </a:lnTo>
                <a:lnTo>
                  <a:pt x="744624" y="196628"/>
                </a:lnTo>
                <a:lnTo>
                  <a:pt x="720105" y="159067"/>
                </a:lnTo>
                <a:lnTo>
                  <a:pt x="691154" y="124624"/>
                </a:lnTo>
                <a:lnTo>
                  <a:pt x="658140" y="93645"/>
                </a:lnTo>
                <a:lnTo>
                  <a:pt x="621433" y="66479"/>
                </a:lnTo>
                <a:lnTo>
                  <a:pt x="581404" y="43473"/>
                </a:lnTo>
                <a:lnTo>
                  <a:pt x="538424" y="24975"/>
                </a:lnTo>
                <a:lnTo>
                  <a:pt x="492862" y="11331"/>
                </a:lnTo>
                <a:lnTo>
                  <a:pt x="445090" y="2890"/>
                </a:lnTo>
                <a:lnTo>
                  <a:pt x="395478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91084" y="3535679"/>
            <a:ext cx="887094" cy="887094"/>
            <a:chOff x="291084" y="3535679"/>
            <a:chExt cx="887094" cy="887094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084" y="3535679"/>
              <a:ext cx="886968" cy="88696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84810" y="3574541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80" h="754379">
                  <a:moveTo>
                    <a:pt x="377190" y="0"/>
                  </a:moveTo>
                  <a:lnTo>
                    <a:pt x="329875" y="2939"/>
                  </a:lnTo>
                  <a:lnTo>
                    <a:pt x="284315" y="11521"/>
                  </a:lnTo>
                  <a:lnTo>
                    <a:pt x="240862" y="25393"/>
                  </a:lnTo>
                  <a:lnTo>
                    <a:pt x="199870" y="44200"/>
                  </a:lnTo>
                  <a:lnTo>
                    <a:pt x="161692" y="67589"/>
                  </a:lnTo>
                  <a:lnTo>
                    <a:pt x="126682" y="95206"/>
                  </a:lnTo>
                  <a:lnTo>
                    <a:pt x="95193" y="126697"/>
                  </a:lnTo>
                  <a:lnTo>
                    <a:pt x="67579" y="161709"/>
                  </a:lnTo>
                  <a:lnTo>
                    <a:pt x="44193" y="199887"/>
                  </a:lnTo>
                  <a:lnTo>
                    <a:pt x="25388" y="240878"/>
                  </a:lnTo>
                  <a:lnTo>
                    <a:pt x="11519" y="284327"/>
                  </a:lnTo>
                  <a:lnTo>
                    <a:pt x="2938" y="329883"/>
                  </a:lnTo>
                  <a:lnTo>
                    <a:pt x="0" y="377190"/>
                  </a:lnTo>
                  <a:lnTo>
                    <a:pt x="2938" y="424504"/>
                  </a:lnTo>
                  <a:lnTo>
                    <a:pt x="11519" y="470064"/>
                  </a:lnTo>
                  <a:lnTo>
                    <a:pt x="25388" y="513517"/>
                  </a:lnTo>
                  <a:lnTo>
                    <a:pt x="44193" y="554509"/>
                  </a:lnTo>
                  <a:lnTo>
                    <a:pt x="67579" y="592687"/>
                  </a:lnTo>
                  <a:lnTo>
                    <a:pt x="95193" y="627697"/>
                  </a:lnTo>
                  <a:lnTo>
                    <a:pt x="126682" y="659186"/>
                  </a:lnTo>
                  <a:lnTo>
                    <a:pt x="161692" y="686800"/>
                  </a:lnTo>
                  <a:lnTo>
                    <a:pt x="199870" y="710186"/>
                  </a:lnTo>
                  <a:lnTo>
                    <a:pt x="240862" y="728991"/>
                  </a:lnTo>
                  <a:lnTo>
                    <a:pt x="284315" y="742860"/>
                  </a:lnTo>
                  <a:lnTo>
                    <a:pt x="329875" y="751441"/>
                  </a:lnTo>
                  <a:lnTo>
                    <a:pt x="377190" y="754380"/>
                  </a:lnTo>
                  <a:lnTo>
                    <a:pt x="424504" y="751441"/>
                  </a:lnTo>
                  <a:lnTo>
                    <a:pt x="470064" y="742860"/>
                  </a:lnTo>
                  <a:lnTo>
                    <a:pt x="513517" y="728991"/>
                  </a:lnTo>
                  <a:lnTo>
                    <a:pt x="554509" y="710186"/>
                  </a:lnTo>
                  <a:lnTo>
                    <a:pt x="592687" y="686800"/>
                  </a:lnTo>
                  <a:lnTo>
                    <a:pt x="627697" y="659186"/>
                  </a:lnTo>
                  <a:lnTo>
                    <a:pt x="659186" y="627697"/>
                  </a:lnTo>
                  <a:lnTo>
                    <a:pt x="686800" y="592687"/>
                  </a:lnTo>
                  <a:lnTo>
                    <a:pt x="710186" y="554509"/>
                  </a:lnTo>
                  <a:lnTo>
                    <a:pt x="728991" y="513517"/>
                  </a:lnTo>
                  <a:lnTo>
                    <a:pt x="742860" y="470064"/>
                  </a:lnTo>
                  <a:lnTo>
                    <a:pt x="751441" y="424504"/>
                  </a:lnTo>
                  <a:lnTo>
                    <a:pt x="754380" y="377190"/>
                  </a:lnTo>
                  <a:lnTo>
                    <a:pt x="751441" y="329883"/>
                  </a:lnTo>
                  <a:lnTo>
                    <a:pt x="742860" y="284327"/>
                  </a:lnTo>
                  <a:lnTo>
                    <a:pt x="728991" y="240878"/>
                  </a:lnTo>
                  <a:lnTo>
                    <a:pt x="710186" y="199887"/>
                  </a:lnTo>
                  <a:lnTo>
                    <a:pt x="686800" y="161709"/>
                  </a:lnTo>
                  <a:lnTo>
                    <a:pt x="659186" y="126697"/>
                  </a:lnTo>
                  <a:lnTo>
                    <a:pt x="627697" y="95206"/>
                  </a:lnTo>
                  <a:lnTo>
                    <a:pt x="592687" y="67589"/>
                  </a:lnTo>
                  <a:lnTo>
                    <a:pt x="554509" y="44200"/>
                  </a:lnTo>
                  <a:lnTo>
                    <a:pt x="513517" y="25393"/>
                  </a:lnTo>
                  <a:lnTo>
                    <a:pt x="470064" y="11521"/>
                  </a:lnTo>
                  <a:lnTo>
                    <a:pt x="424504" y="2939"/>
                  </a:lnTo>
                  <a:lnTo>
                    <a:pt x="3771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384810" y="3574541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80" h="754379">
                  <a:moveTo>
                    <a:pt x="0" y="377190"/>
                  </a:moveTo>
                  <a:lnTo>
                    <a:pt x="2938" y="329883"/>
                  </a:lnTo>
                  <a:lnTo>
                    <a:pt x="11519" y="284327"/>
                  </a:lnTo>
                  <a:lnTo>
                    <a:pt x="25388" y="240878"/>
                  </a:lnTo>
                  <a:lnTo>
                    <a:pt x="44193" y="199887"/>
                  </a:lnTo>
                  <a:lnTo>
                    <a:pt x="67579" y="161709"/>
                  </a:lnTo>
                  <a:lnTo>
                    <a:pt x="95193" y="126697"/>
                  </a:lnTo>
                  <a:lnTo>
                    <a:pt x="126682" y="95206"/>
                  </a:lnTo>
                  <a:lnTo>
                    <a:pt x="161692" y="67589"/>
                  </a:lnTo>
                  <a:lnTo>
                    <a:pt x="199870" y="44200"/>
                  </a:lnTo>
                  <a:lnTo>
                    <a:pt x="240862" y="25393"/>
                  </a:lnTo>
                  <a:lnTo>
                    <a:pt x="284315" y="11521"/>
                  </a:lnTo>
                  <a:lnTo>
                    <a:pt x="329875" y="2939"/>
                  </a:lnTo>
                  <a:lnTo>
                    <a:pt x="377190" y="0"/>
                  </a:lnTo>
                  <a:lnTo>
                    <a:pt x="424504" y="2939"/>
                  </a:lnTo>
                  <a:lnTo>
                    <a:pt x="470064" y="11521"/>
                  </a:lnTo>
                  <a:lnTo>
                    <a:pt x="513517" y="25393"/>
                  </a:lnTo>
                  <a:lnTo>
                    <a:pt x="554509" y="44200"/>
                  </a:lnTo>
                  <a:lnTo>
                    <a:pt x="592687" y="67589"/>
                  </a:lnTo>
                  <a:lnTo>
                    <a:pt x="627697" y="95206"/>
                  </a:lnTo>
                  <a:lnTo>
                    <a:pt x="659186" y="126697"/>
                  </a:lnTo>
                  <a:lnTo>
                    <a:pt x="686800" y="161709"/>
                  </a:lnTo>
                  <a:lnTo>
                    <a:pt x="710186" y="199887"/>
                  </a:lnTo>
                  <a:lnTo>
                    <a:pt x="728991" y="240878"/>
                  </a:lnTo>
                  <a:lnTo>
                    <a:pt x="742860" y="284327"/>
                  </a:lnTo>
                  <a:lnTo>
                    <a:pt x="751441" y="329883"/>
                  </a:lnTo>
                  <a:lnTo>
                    <a:pt x="754380" y="377190"/>
                  </a:lnTo>
                  <a:lnTo>
                    <a:pt x="751441" y="424504"/>
                  </a:lnTo>
                  <a:lnTo>
                    <a:pt x="742860" y="470064"/>
                  </a:lnTo>
                  <a:lnTo>
                    <a:pt x="728991" y="513517"/>
                  </a:lnTo>
                  <a:lnTo>
                    <a:pt x="710186" y="554509"/>
                  </a:lnTo>
                  <a:lnTo>
                    <a:pt x="686800" y="592687"/>
                  </a:lnTo>
                  <a:lnTo>
                    <a:pt x="659186" y="627697"/>
                  </a:lnTo>
                  <a:lnTo>
                    <a:pt x="627697" y="659186"/>
                  </a:lnTo>
                  <a:lnTo>
                    <a:pt x="592687" y="686800"/>
                  </a:lnTo>
                  <a:lnTo>
                    <a:pt x="554509" y="710186"/>
                  </a:lnTo>
                  <a:lnTo>
                    <a:pt x="513517" y="728991"/>
                  </a:lnTo>
                  <a:lnTo>
                    <a:pt x="470064" y="742860"/>
                  </a:lnTo>
                  <a:lnTo>
                    <a:pt x="424504" y="751441"/>
                  </a:lnTo>
                  <a:lnTo>
                    <a:pt x="377190" y="754380"/>
                  </a:lnTo>
                  <a:lnTo>
                    <a:pt x="329875" y="751441"/>
                  </a:lnTo>
                  <a:lnTo>
                    <a:pt x="284315" y="742860"/>
                  </a:lnTo>
                  <a:lnTo>
                    <a:pt x="240862" y="728991"/>
                  </a:lnTo>
                  <a:lnTo>
                    <a:pt x="199870" y="710186"/>
                  </a:lnTo>
                  <a:lnTo>
                    <a:pt x="161692" y="686800"/>
                  </a:lnTo>
                  <a:lnTo>
                    <a:pt x="126682" y="659186"/>
                  </a:lnTo>
                  <a:lnTo>
                    <a:pt x="95193" y="627697"/>
                  </a:lnTo>
                  <a:lnTo>
                    <a:pt x="67579" y="592687"/>
                  </a:lnTo>
                  <a:lnTo>
                    <a:pt x="44193" y="554509"/>
                  </a:lnTo>
                  <a:lnTo>
                    <a:pt x="25388" y="513517"/>
                  </a:lnTo>
                  <a:lnTo>
                    <a:pt x="11519" y="470064"/>
                  </a:lnTo>
                  <a:lnTo>
                    <a:pt x="2938" y="424504"/>
                  </a:lnTo>
                  <a:lnTo>
                    <a:pt x="0" y="377190"/>
                  </a:lnTo>
                  <a:close/>
                </a:path>
              </a:pathLst>
            </a:custGeom>
            <a:ln w="25908">
              <a:solidFill>
                <a:srgbClr val="548ED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3735323"/>
              <a:ext cx="435864" cy="435863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284988" y="1246632"/>
            <a:ext cx="885825" cy="887094"/>
            <a:chOff x="284988" y="1246632"/>
            <a:chExt cx="885825" cy="887094"/>
          </a:xfrm>
        </p:grpSpPr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988" y="1246632"/>
              <a:ext cx="885444" cy="88696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78714" y="1285494"/>
              <a:ext cx="753110" cy="754380"/>
            </a:xfrm>
            <a:custGeom>
              <a:avLst/>
              <a:gdLst/>
              <a:ahLst/>
              <a:cxnLst/>
              <a:rect l="l" t="t" r="r" b="b"/>
              <a:pathLst>
                <a:path w="753110" h="754380">
                  <a:moveTo>
                    <a:pt x="376428" y="0"/>
                  </a:moveTo>
                  <a:lnTo>
                    <a:pt x="329208" y="2939"/>
                  </a:lnTo>
                  <a:lnTo>
                    <a:pt x="283740" y="11521"/>
                  </a:lnTo>
                  <a:lnTo>
                    <a:pt x="240375" y="25393"/>
                  </a:lnTo>
                  <a:lnTo>
                    <a:pt x="199465" y="44200"/>
                  </a:lnTo>
                  <a:lnTo>
                    <a:pt x="161365" y="67589"/>
                  </a:lnTo>
                  <a:lnTo>
                    <a:pt x="126425" y="95206"/>
                  </a:lnTo>
                  <a:lnTo>
                    <a:pt x="95000" y="126697"/>
                  </a:lnTo>
                  <a:lnTo>
                    <a:pt x="67442" y="161709"/>
                  </a:lnTo>
                  <a:lnTo>
                    <a:pt x="44103" y="199887"/>
                  </a:lnTo>
                  <a:lnTo>
                    <a:pt x="25337" y="240878"/>
                  </a:lnTo>
                  <a:lnTo>
                    <a:pt x="11496" y="284327"/>
                  </a:lnTo>
                  <a:lnTo>
                    <a:pt x="2932" y="329883"/>
                  </a:lnTo>
                  <a:lnTo>
                    <a:pt x="0" y="377189"/>
                  </a:lnTo>
                  <a:lnTo>
                    <a:pt x="2932" y="424496"/>
                  </a:lnTo>
                  <a:lnTo>
                    <a:pt x="11496" y="470052"/>
                  </a:lnTo>
                  <a:lnTo>
                    <a:pt x="25337" y="513501"/>
                  </a:lnTo>
                  <a:lnTo>
                    <a:pt x="44103" y="554492"/>
                  </a:lnTo>
                  <a:lnTo>
                    <a:pt x="67442" y="592670"/>
                  </a:lnTo>
                  <a:lnTo>
                    <a:pt x="95000" y="627682"/>
                  </a:lnTo>
                  <a:lnTo>
                    <a:pt x="126425" y="659173"/>
                  </a:lnTo>
                  <a:lnTo>
                    <a:pt x="161365" y="686790"/>
                  </a:lnTo>
                  <a:lnTo>
                    <a:pt x="199465" y="710179"/>
                  </a:lnTo>
                  <a:lnTo>
                    <a:pt x="240375" y="728986"/>
                  </a:lnTo>
                  <a:lnTo>
                    <a:pt x="283740" y="742858"/>
                  </a:lnTo>
                  <a:lnTo>
                    <a:pt x="329208" y="751440"/>
                  </a:lnTo>
                  <a:lnTo>
                    <a:pt x="376428" y="754379"/>
                  </a:lnTo>
                  <a:lnTo>
                    <a:pt x="423647" y="751440"/>
                  </a:lnTo>
                  <a:lnTo>
                    <a:pt x="469115" y="742858"/>
                  </a:lnTo>
                  <a:lnTo>
                    <a:pt x="512480" y="728986"/>
                  </a:lnTo>
                  <a:lnTo>
                    <a:pt x="553390" y="710179"/>
                  </a:lnTo>
                  <a:lnTo>
                    <a:pt x="591490" y="686790"/>
                  </a:lnTo>
                  <a:lnTo>
                    <a:pt x="626430" y="659173"/>
                  </a:lnTo>
                  <a:lnTo>
                    <a:pt x="657855" y="627682"/>
                  </a:lnTo>
                  <a:lnTo>
                    <a:pt x="685413" y="592670"/>
                  </a:lnTo>
                  <a:lnTo>
                    <a:pt x="708752" y="554492"/>
                  </a:lnTo>
                  <a:lnTo>
                    <a:pt x="727518" y="513501"/>
                  </a:lnTo>
                  <a:lnTo>
                    <a:pt x="741359" y="470052"/>
                  </a:lnTo>
                  <a:lnTo>
                    <a:pt x="749923" y="424496"/>
                  </a:lnTo>
                  <a:lnTo>
                    <a:pt x="752856" y="377189"/>
                  </a:lnTo>
                  <a:lnTo>
                    <a:pt x="749923" y="329883"/>
                  </a:lnTo>
                  <a:lnTo>
                    <a:pt x="741359" y="284327"/>
                  </a:lnTo>
                  <a:lnTo>
                    <a:pt x="727518" y="240878"/>
                  </a:lnTo>
                  <a:lnTo>
                    <a:pt x="708752" y="199887"/>
                  </a:lnTo>
                  <a:lnTo>
                    <a:pt x="685413" y="161709"/>
                  </a:lnTo>
                  <a:lnTo>
                    <a:pt x="657855" y="126697"/>
                  </a:lnTo>
                  <a:lnTo>
                    <a:pt x="626430" y="95206"/>
                  </a:lnTo>
                  <a:lnTo>
                    <a:pt x="591490" y="67589"/>
                  </a:lnTo>
                  <a:lnTo>
                    <a:pt x="553390" y="44200"/>
                  </a:lnTo>
                  <a:lnTo>
                    <a:pt x="512480" y="25393"/>
                  </a:lnTo>
                  <a:lnTo>
                    <a:pt x="469115" y="11521"/>
                  </a:lnTo>
                  <a:lnTo>
                    <a:pt x="423647" y="2939"/>
                  </a:lnTo>
                  <a:lnTo>
                    <a:pt x="3764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378714" y="1285494"/>
              <a:ext cx="753110" cy="754380"/>
            </a:xfrm>
            <a:custGeom>
              <a:avLst/>
              <a:gdLst/>
              <a:ahLst/>
              <a:cxnLst/>
              <a:rect l="l" t="t" r="r" b="b"/>
              <a:pathLst>
                <a:path w="753110" h="754380">
                  <a:moveTo>
                    <a:pt x="0" y="377189"/>
                  </a:moveTo>
                  <a:lnTo>
                    <a:pt x="2932" y="329883"/>
                  </a:lnTo>
                  <a:lnTo>
                    <a:pt x="11496" y="284327"/>
                  </a:lnTo>
                  <a:lnTo>
                    <a:pt x="25337" y="240878"/>
                  </a:lnTo>
                  <a:lnTo>
                    <a:pt x="44103" y="199887"/>
                  </a:lnTo>
                  <a:lnTo>
                    <a:pt x="67442" y="161709"/>
                  </a:lnTo>
                  <a:lnTo>
                    <a:pt x="95000" y="126697"/>
                  </a:lnTo>
                  <a:lnTo>
                    <a:pt x="126425" y="95206"/>
                  </a:lnTo>
                  <a:lnTo>
                    <a:pt x="161365" y="67589"/>
                  </a:lnTo>
                  <a:lnTo>
                    <a:pt x="199465" y="44200"/>
                  </a:lnTo>
                  <a:lnTo>
                    <a:pt x="240375" y="25393"/>
                  </a:lnTo>
                  <a:lnTo>
                    <a:pt x="283740" y="11521"/>
                  </a:lnTo>
                  <a:lnTo>
                    <a:pt x="329208" y="2939"/>
                  </a:lnTo>
                  <a:lnTo>
                    <a:pt x="376428" y="0"/>
                  </a:lnTo>
                  <a:lnTo>
                    <a:pt x="423647" y="2939"/>
                  </a:lnTo>
                  <a:lnTo>
                    <a:pt x="469115" y="11521"/>
                  </a:lnTo>
                  <a:lnTo>
                    <a:pt x="512480" y="25393"/>
                  </a:lnTo>
                  <a:lnTo>
                    <a:pt x="553390" y="44200"/>
                  </a:lnTo>
                  <a:lnTo>
                    <a:pt x="591490" y="67589"/>
                  </a:lnTo>
                  <a:lnTo>
                    <a:pt x="626430" y="95206"/>
                  </a:lnTo>
                  <a:lnTo>
                    <a:pt x="657855" y="126697"/>
                  </a:lnTo>
                  <a:lnTo>
                    <a:pt x="685413" y="161709"/>
                  </a:lnTo>
                  <a:lnTo>
                    <a:pt x="708752" y="199887"/>
                  </a:lnTo>
                  <a:lnTo>
                    <a:pt x="727518" y="240878"/>
                  </a:lnTo>
                  <a:lnTo>
                    <a:pt x="741359" y="284327"/>
                  </a:lnTo>
                  <a:lnTo>
                    <a:pt x="749923" y="329883"/>
                  </a:lnTo>
                  <a:lnTo>
                    <a:pt x="752856" y="377189"/>
                  </a:lnTo>
                  <a:lnTo>
                    <a:pt x="749923" y="424496"/>
                  </a:lnTo>
                  <a:lnTo>
                    <a:pt x="741359" y="470052"/>
                  </a:lnTo>
                  <a:lnTo>
                    <a:pt x="727518" y="513501"/>
                  </a:lnTo>
                  <a:lnTo>
                    <a:pt x="708752" y="554492"/>
                  </a:lnTo>
                  <a:lnTo>
                    <a:pt x="685413" y="592670"/>
                  </a:lnTo>
                  <a:lnTo>
                    <a:pt x="657855" y="627682"/>
                  </a:lnTo>
                  <a:lnTo>
                    <a:pt x="626430" y="659173"/>
                  </a:lnTo>
                  <a:lnTo>
                    <a:pt x="591490" y="686790"/>
                  </a:lnTo>
                  <a:lnTo>
                    <a:pt x="553390" y="710179"/>
                  </a:lnTo>
                  <a:lnTo>
                    <a:pt x="512480" y="728986"/>
                  </a:lnTo>
                  <a:lnTo>
                    <a:pt x="469115" y="742858"/>
                  </a:lnTo>
                  <a:lnTo>
                    <a:pt x="423647" y="751440"/>
                  </a:lnTo>
                  <a:lnTo>
                    <a:pt x="376428" y="754379"/>
                  </a:lnTo>
                  <a:lnTo>
                    <a:pt x="329208" y="751440"/>
                  </a:lnTo>
                  <a:lnTo>
                    <a:pt x="283740" y="742858"/>
                  </a:lnTo>
                  <a:lnTo>
                    <a:pt x="240375" y="728986"/>
                  </a:lnTo>
                  <a:lnTo>
                    <a:pt x="199465" y="710179"/>
                  </a:lnTo>
                  <a:lnTo>
                    <a:pt x="161365" y="686790"/>
                  </a:lnTo>
                  <a:lnTo>
                    <a:pt x="126425" y="659173"/>
                  </a:lnTo>
                  <a:lnTo>
                    <a:pt x="95000" y="627682"/>
                  </a:lnTo>
                  <a:lnTo>
                    <a:pt x="67442" y="592670"/>
                  </a:lnTo>
                  <a:lnTo>
                    <a:pt x="44103" y="554492"/>
                  </a:lnTo>
                  <a:lnTo>
                    <a:pt x="25337" y="513501"/>
                  </a:lnTo>
                  <a:lnTo>
                    <a:pt x="11496" y="470052"/>
                  </a:lnTo>
                  <a:lnTo>
                    <a:pt x="2932" y="424496"/>
                  </a:lnTo>
                  <a:lnTo>
                    <a:pt x="0" y="377189"/>
                  </a:lnTo>
                  <a:close/>
                </a:path>
              </a:pathLst>
            </a:custGeom>
            <a:ln w="25908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2544" y="1470660"/>
              <a:ext cx="406907" cy="376427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6437376" y="1272539"/>
            <a:ext cx="388620" cy="372110"/>
            <a:chOff x="6437376" y="1272539"/>
            <a:chExt cx="388620" cy="372110"/>
          </a:xfrm>
        </p:grpSpPr>
        <p:sp>
          <p:nvSpPr>
            <p:cNvPr id="39" name="object 39"/>
            <p:cNvSpPr/>
            <p:nvPr/>
          </p:nvSpPr>
          <p:spPr>
            <a:xfrm>
              <a:off x="6443472" y="1278635"/>
              <a:ext cx="376555" cy="360045"/>
            </a:xfrm>
            <a:custGeom>
              <a:avLst/>
              <a:gdLst/>
              <a:ahLst/>
              <a:cxnLst/>
              <a:rect l="l" t="t" r="r" b="b"/>
              <a:pathLst>
                <a:path w="376554" h="360044">
                  <a:moveTo>
                    <a:pt x="0" y="179832"/>
                  </a:moveTo>
                  <a:lnTo>
                    <a:pt x="6727" y="132027"/>
                  </a:lnTo>
                  <a:lnTo>
                    <a:pt x="25710" y="89069"/>
                  </a:lnTo>
                  <a:lnTo>
                    <a:pt x="55149" y="52673"/>
                  </a:lnTo>
                  <a:lnTo>
                    <a:pt x="93246" y="24553"/>
                  </a:lnTo>
                  <a:lnTo>
                    <a:pt x="138200" y="6424"/>
                  </a:lnTo>
                  <a:lnTo>
                    <a:pt x="188214" y="0"/>
                  </a:lnTo>
                  <a:lnTo>
                    <a:pt x="238227" y="6424"/>
                  </a:lnTo>
                  <a:lnTo>
                    <a:pt x="283181" y="24553"/>
                  </a:lnTo>
                  <a:lnTo>
                    <a:pt x="321278" y="52673"/>
                  </a:lnTo>
                  <a:lnTo>
                    <a:pt x="350717" y="89069"/>
                  </a:lnTo>
                  <a:lnTo>
                    <a:pt x="369700" y="132027"/>
                  </a:lnTo>
                  <a:lnTo>
                    <a:pt x="376428" y="179832"/>
                  </a:lnTo>
                  <a:lnTo>
                    <a:pt x="369700" y="227636"/>
                  </a:lnTo>
                  <a:lnTo>
                    <a:pt x="350717" y="270594"/>
                  </a:lnTo>
                  <a:lnTo>
                    <a:pt x="321278" y="306990"/>
                  </a:lnTo>
                  <a:lnTo>
                    <a:pt x="283181" y="335110"/>
                  </a:lnTo>
                  <a:lnTo>
                    <a:pt x="238227" y="353239"/>
                  </a:lnTo>
                  <a:lnTo>
                    <a:pt x="188214" y="359664"/>
                  </a:lnTo>
                  <a:lnTo>
                    <a:pt x="138200" y="353239"/>
                  </a:lnTo>
                  <a:lnTo>
                    <a:pt x="93246" y="335110"/>
                  </a:lnTo>
                  <a:lnTo>
                    <a:pt x="55149" y="306990"/>
                  </a:lnTo>
                  <a:lnTo>
                    <a:pt x="25710" y="270594"/>
                  </a:lnTo>
                  <a:lnTo>
                    <a:pt x="6727" y="227636"/>
                  </a:lnTo>
                  <a:lnTo>
                    <a:pt x="0" y="179832"/>
                  </a:lnTo>
                  <a:close/>
                </a:path>
              </a:pathLst>
            </a:custGeom>
            <a:ln w="12192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22720" y="1344167"/>
              <a:ext cx="220979" cy="219455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4945379" y="1272539"/>
            <a:ext cx="388620" cy="372110"/>
            <a:chOff x="4945379" y="1272539"/>
            <a:chExt cx="388620" cy="372110"/>
          </a:xfrm>
        </p:grpSpPr>
        <p:sp>
          <p:nvSpPr>
            <p:cNvPr id="42" name="object 42"/>
            <p:cNvSpPr/>
            <p:nvPr/>
          </p:nvSpPr>
          <p:spPr>
            <a:xfrm>
              <a:off x="4951475" y="1278635"/>
              <a:ext cx="376555" cy="360045"/>
            </a:xfrm>
            <a:custGeom>
              <a:avLst/>
              <a:gdLst/>
              <a:ahLst/>
              <a:cxnLst/>
              <a:rect l="l" t="t" r="r" b="b"/>
              <a:pathLst>
                <a:path w="376554" h="360044">
                  <a:moveTo>
                    <a:pt x="0" y="179832"/>
                  </a:moveTo>
                  <a:lnTo>
                    <a:pt x="6727" y="132027"/>
                  </a:lnTo>
                  <a:lnTo>
                    <a:pt x="25710" y="89069"/>
                  </a:lnTo>
                  <a:lnTo>
                    <a:pt x="55149" y="52673"/>
                  </a:lnTo>
                  <a:lnTo>
                    <a:pt x="93246" y="24553"/>
                  </a:lnTo>
                  <a:lnTo>
                    <a:pt x="138200" y="6424"/>
                  </a:lnTo>
                  <a:lnTo>
                    <a:pt x="188214" y="0"/>
                  </a:lnTo>
                  <a:lnTo>
                    <a:pt x="238227" y="6424"/>
                  </a:lnTo>
                  <a:lnTo>
                    <a:pt x="283181" y="24553"/>
                  </a:lnTo>
                  <a:lnTo>
                    <a:pt x="321278" y="52673"/>
                  </a:lnTo>
                  <a:lnTo>
                    <a:pt x="350717" y="89069"/>
                  </a:lnTo>
                  <a:lnTo>
                    <a:pt x="369700" y="132027"/>
                  </a:lnTo>
                  <a:lnTo>
                    <a:pt x="376428" y="179832"/>
                  </a:lnTo>
                  <a:lnTo>
                    <a:pt x="369700" y="227636"/>
                  </a:lnTo>
                  <a:lnTo>
                    <a:pt x="350717" y="270594"/>
                  </a:lnTo>
                  <a:lnTo>
                    <a:pt x="321278" y="306990"/>
                  </a:lnTo>
                  <a:lnTo>
                    <a:pt x="283181" y="335110"/>
                  </a:lnTo>
                  <a:lnTo>
                    <a:pt x="238227" y="353239"/>
                  </a:lnTo>
                  <a:lnTo>
                    <a:pt x="188214" y="359664"/>
                  </a:lnTo>
                  <a:lnTo>
                    <a:pt x="138200" y="353239"/>
                  </a:lnTo>
                  <a:lnTo>
                    <a:pt x="93246" y="335110"/>
                  </a:lnTo>
                  <a:lnTo>
                    <a:pt x="55149" y="306990"/>
                  </a:lnTo>
                  <a:lnTo>
                    <a:pt x="25710" y="270594"/>
                  </a:lnTo>
                  <a:lnTo>
                    <a:pt x="6727" y="227636"/>
                  </a:lnTo>
                  <a:lnTo>
                    <a:pt x="0" y="179832"/>
                  </a:lnTo>
                  <a:close/>
                </a:path>
              </a:pathLst>
            </a:custGeom>
            <a:ln w="12192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33771" y="1359407"/>
              <a:ext cx="231648" cy="236220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4945379" y="1735835"/>
            <a:ext cx="388620" cy="372110"/>
            <a:chOff x="4945379" y="1735835"/>
            <a:chExt cx="388620" cy="372110"/>
          </a:xfrm>
        </p:grpSpPr>
        <p:sp>
          <p:nvSpPr>
            <p:cNvPr id="45" name="object 45"/>
            <p:cNvSpPr/>
            <p:nvPr/>
          </p:nvSpPr>
          <p:spPr>
            <a:xfrm>
              <a:off x="4951475" y="1741931"/>
              <a:ext cx="376555" cy="360045"/>
            </a:xfrm>
            <a:custGeom>
              <a:avLst/>
              <a:gdLst/>
              <a:ahLst/>
              <a:cxnLst/>
              <a:rect l="l" t="t" r="r" b="b"/>
              <a:pathLst>
                <a:path w="376554" h="360044">
                  <a:moveTo>
                    <a:pt x="0" y="179832"/>
                  </a:moveTo>
                  <a:lnTo>
                    <a:pt x="6727" y="132027"/>
                  </a:lnTo>
                  <a:lnTo>
                    <a:pt x="25710" y="89069"/>
                  </a:lnTo>
                  <a:lnTo>
                    <a:pt x="55149" y="52673"/>
                  </a:lnTo>
                  <a:lnTo>
                    <a:pt x="93246" y="24553"/>
                  </a:lnTo>
                  <a:lnTo>
                    <a:pt x="138200" y="6424"/>
                  </a:lnTo>
                  <a:lnTo>
                    <a:pt x="188214" y="0"/>
                  </a:lnTo>
                  <a:lnTo>
                    <a:pt x="238227" y="6424"/>
                  </a:lnTo>
                  <a:lnTo>
                    <a:pt x="283181" y="24553"/>
                  </a:lnTo>
                  <a:lnTo>
                    <a:pt x="321278" y="52673"/>
                  </a:lnTo>
                  <a:lnTo>
                    <a:pt x="350717" y="89069"/>
                  </a:lnTo>
                  <a:lnTo>
                    <a:pt x="369700" y="132027"/>
                  </a:lnTo>
                  <a:lnTo>
                    <a:pt x="376428" y="179832"/>
                  </a:lnTo>
                  <a:lnTo>
                    <a:pt x="369700" y="227636"/>
                  </a:lnTo>
                  <a:lnTo>
                    <a:pt x="350717" y="270594"/>
                  </a:lnTo>
                  <a:lnTo>
                    <a:pt x="321278" y="306990"/>
                  </a:lnTo>
                  <a:lnTo>
                    <a:pt x="283181" y="335110"/>
                  </a:lnTo>
                  <a:lnTo>
                    <a:pt x="238227" y="353239"/>
                  </a:lnTo>
                  <a:lnTo>
                    <a:pt x="188214" y="359664"/>
                  </a:lnTo>
                  <a:lnTo>
                    <a:pt x="138200" y="353239"/>
                  </a:lnTo>
                  <a:lnTo>
                    <a:pt x="93246" y="335110"/>
                  </a:lnTo>
                  <a:lnTo>
                    <a:pt x="55149" y="306990"/>
                  </a:lnTo>
                  <a:lnTo>
                    <a:pt x="25710" y="270594"/>
                  </a:lnTo>
                  <a:lnTo>
                    <a:pt x="6727" y="227636"/>
                  </a:lnTo>
                  <a:lnTo>
                    <a:pt x="0" y="179832"/>
                  </a:lnTo>
                  <a:close/>
                </a:path>
              </a:pathLst>
            </a:custGeom>
            <a:ln w="12192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33771" y="1836419"/>
              <a:ext cx="199644" cy="199644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6437376" y="1735835"/>
            <a:ext cx="388620" cy="372110"/>
            <a:chOff x="6437376" y="1735835"/>
            <a:chExt cx="388620" cy="372110"/>
          </a:xfrm>
        </p:grpSpPr>
        <p:sp>
          <p:nvSpPr>
            <p:cNvPr id="48" name="object 48"/>
            <p:cNvSpPr/>
            <p:nvPr/>
          </p:nvSpPr>
          <p:spPr>
            <a:xfrm>
              <a:off x="6443472" y="1741931"/>
              <a:ext cx="376555" cy="360045"/>
            </a:xfrm>
            <a:custGeom>
              <a:avLst/>
              <a:gdLst/>
              <a:ahLst/>
              <a:cxnLst/>
              <a:rect l="l" t="t" r="r" b="b"/>
              <a:pathLst>
                <a:path w="376554" h="360044">
                  <a:moveTo>
                    <a:pt x="0" y="179832"/>
                  </a:moveTo>
                  <a:lnTo>
                    <a:pt x="6727" y="132027"/>
                  </a:lnTo>
                  <a:lnTo>
                    <a:pt x="25710" y="89069"/>
                  </a:lnTo>
                  <a:lnTo>
                    <a:pt x="55149" y="52673"/>
                  </a:lnTo>
                  <a:lnTo>
                    <a:pt x="93246" y="24553"/>
                  </a:lnTo>
                  <a:lnTo>
                    <a:pt x="138200" y="6424"/>
                  </a:lnTo>
                  <a:lnTo>
                    <a:pt x="188214" y="0"/>
                  </a:lnTo>
                  <a:lnTo>
                    <a:pt x="238227" y="6424"/>
                  </a:lnTo>
                  <a:lnTo>
                    <a:pt x="283181" y="24553"/>
                  </a:lnTo>
                  <a:lnTo>
                    <a:pt x="321278" y="52673"/>
                  </a:lnTo>
                  <a:lnTo>
                    <a:pt x="350717" y="89069"/>
                  </a:lnTo>
                  <a:lnTo>
                    <a:pt x="369700" y="132027"/>
                  </a:lnTo>
                  <a:lnTo>
                    <a:pt x="376428" y="179832"/>
                  </a:lnTo>
                  <a:lnTo>
                    <a:pt x="369700" y="227636"/>
                  </a:lnTo>
                  <a:lnTo>
                    <a:pt x="350717" y="270594"/>
                  </a:lnTo>
                  <a:lnTo>
                    <a:pt x="321278" y="306990"/>
                  </a:lnTo>
                  <a:lnTo>
                    <a:pt x="283181" y="335110"/>
                  </a:lnTo>
                  <a:lnTo>
                    <a:pt x="238227" y="353239"/>
                  </a:lnTo>
                  <a:lnTo>
                    <a:pt x="188214" y="359664"/>
                  </a:lnTo>
                  <a:lnTo>
                    <a:pt x="138200" y="353239"/>
                  </a:lnTo>
                  <a:lnTo>
                    <a:pt x="93246" y="335110"/>
                  </a:lnTo>
                  <a:lnTo>
                    <a:pt x="55149" y="306990"/>
                  </a:lnTo>
                  <a:lnTo>
                    <a:pt x="25710" y="270594"/>
                  </a:lnTo>
                  <a:lnTo>
                    <a:pt x="6727" y="227636"/>
                  </a:lnTo>
                  <a:lnTo>
                    <a:pt x="0" y="179832"/>
                  </a:lnTo>
                  <a:close/>
                </a:path>
              </a:pathLst>
            </a:custGeom>
            <a:ln w="12192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01384" y="1822703"/>
              <a:ext cx="254508" cy="254508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7801356" y="2755392"/>
            <a:ext cx="379730" cy="364490"/>
            <a:chOff x="7801356" y="2755392"/>
            <a:chExt cx="379730" cy="364490"/>
          </a:xfrm>
        </p:grpSpPr>
        <p:sp>
          <p:nvSpPr>
            <p:cNvPr id="51" name="object 51"/>
            <p:cNvSpPr/>
            <p:nvPr/>
          </p:nvSpPr>
          <p:spPr>
            <a:xfrm>
              <a:off x="7807452" y="2761488"/>
              <a:ext cx="367665" cy="352425"/>
            </a:xfrm>
            <a:custGeom>
              <a:avLst/>
              <a:gdLst/>
              <a:ahLst/>
              <a:cxnLst/>
              <a:rect l="l" t="t" r="r" b="b"/>
              <a:pathLst>
                <a:path w="367665" h="352425">
                  <a:moveTo>
                    <a:pt x="0" y="176022"/>
                  </a:moveTo>
                  <a:lnTo>
                    <a:pt x="6556" y="129248"/>
                  </a:lnTo>
                  <a:lnTo>
                    <a:pt x="25061" y="87206"/>
                  </a:lnTo>
                  <a:lnTo>
                    <a:pt x="53768" y="51577"/>
                  </a:lnTo>
                  <a:lnTo>
                    <a:pt x="90931" y="24045"/>
                  </a:lnTo>
                  <a:lnTo>
                    <a:pt x="134805" y="6291"/>
                  </a:lnTo>
                  <a:lnTo>
                    <a:pt x="183642" y="0"/>
                  </a:lnTo>
                  <a:lnTo>
                    <a:pt x="232478" y="6291"/>
                  </a:lnTo>
                  <a:lnTo>
                    <a:pt x="276352" y="24045"/>
                  </a:lnTo>
                  <a:lnTo>
                    <a:pt x="313515" y="51577"/>
                  </a:lnTo>
                  <a:lnTo>
                    <a:pt x="342222" y="87206"/>
                  </a:lnTo>
                  <a:lnTo>
                    <a:pt x="360727" y="129248"/>
                  </a:lnTo>
                  <a:lnTo>
                    <a:pt x="367284" y="176022"/>
                  </a:lnTo>
                  <a:lnTo>
                    <a:pt x="360727" y="222795"/>
                  </a:lnTo>
                  <a:lnTo>
                    <a:pt x="342222" y="264837"/>
                  </a:lnTo>
                  <a:lnTo>
                    <a:pt x="313515" y="300466"/>
                  </a:lnTo>
                  <a:lnTo>
                    <a:pt x="276352" y="327998"/>
                  </a:lnTo>
                  <a:lnTo>
                    <a:pt x="232478" y="345752"/>
                  </a:lnTo>
                  <a:lnTo>
                    <a:pt x="183642" y="352044"/>
                  </a:lnTo>
                  <a:lnTo>
                    <a:pt x="134805" y="345752"/>
                  </a:lnTo>
                  <a:lnTo>
                    <a:pt x="90932" y="327998"/>
                  </a:lnTo>
                  <a:lnTo>
                    <a:pt x="53768" y="300466"/>
                  </a:lnTo>
                  <a:lnTo>
                    <a:pt x="25061" y="264837"/>
                  </a:lnTo>
                  <a:lnTo>
                    <a:pt x="6556" y="222795"/>
                  </a:lnTo>
                  <a:lnTo>
                    <a:pt x="0" y="176022"/>
                  </a:lnTo>
                  <a:close/>
                </a:path>
              </a:pathLst>
            </a:custGeom>
            <a:ln w="12192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69936" y="2828544"/>
              <a:ext cx="265175" cy="246887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6423659" y="2327148"/>
            <a:ext cx="379730" cy="763905"/>
            <a:chOff x="6423659" y="2327148"/>
            <a:chExt cx="379730" cy="763905"/>
          </a:xfrm>
        </p:grpSpPr>
        <p:sp>
          <p:nvSpPr>
            <p:cNvPr id="54" name="object 54"/>
            <p:cNvSpPr/>
            <p:nvPr/>
          </p:nvSpPr>
          <p:spPr>
            <a:xfrm>
              <a:off x="6429755" y="2333244"/>
              <a:ext cx="367665" cy="350520"/>
            </a:xfrm>
            <a:custGeom>
              <a:avLst/>
              <a:gdLst/>
              <a:ahLst/>
              <a:cxnLst/>
              <a:rect l="l" t="t" r="r" b="b"/>
              <a:pathLst>
                <a:path w="367665" h="350519">
                  <a:moveTo>
                    <a:pt x="0" y="175260"/>
                  </a:moveTo>
                  <a:lnTo>
                    <a:pt x="6556" y="128675"/>
                  </a:lnTo>
                  <a:lnTo>
                    <a:pt x="25061" y="86811"/>
                  </a:lnTo>
                  <a:lnTo>
                    <a:pt x="53768" y="51339"/>
                  </a:lnTo>
                  <a:lnTo>
                    <a:pt x="90931" y="23932"/>
                  </a:lnTo>
                  <a:lnTo>
                    <a:pt x="134805" y="6261"/>
                  </a:lnTo>
                  <a:lnTo>
                    <a:pt x="183642" y="0"/>
                  </a:lnTo>
                  <a:lnTo>
                    <a:pt x="232478" y="6261"/>
                  </a:lnTo>
                  <a:lnTo>
                    <a:pt x="276352" y="23932"/>
                  </a:lnTo>
                  <a:lnTo>
                    <a:pt x="313515" y="51339"/>
                  </a:lnTo>
                  <a:lnTo>
                    <a:pt x="342222" y="86811"/>
                  </a:lnTo>
                  <a:lnTo>
                    <a:pt x="360727" y="128675"/>
                  </a:lnTo>
                  <a:lnTo>
                    <a:pt x="367284" y="175260"/>
                  </a:lnTo>
                  <a:lnTo>
                    <a:pt x="360727" y="221844"/>
                  </a:lnTo>
                  <a:lnTo>
                    <a:pt x="342222" y="263708"/>
                  </a:lnTo>
                  <a:lnTo>
                    <a:pt x="313515" y="299180"/>
                  </a:lnTo>
                  <a:lnTo>
                    <a:pt x="276352" y="326587"/>
                  </a:lnTo>
                  <a:lnTo>
                    <a:pt x="232478" y="344258"/>
                  </a:lnTo>
                  <a:lnTo>
                    <a:pt x="183642" y="350520"/>
                  </a:lnTo>
                  <a:lnTo>
                    <a:pt x="134805" y="344258"/>
                  </a:lnTo>
                  <a:lnTo>
                    <a:pt x="90932" y="326587"/>
                  </a:lnTo>
                  <a:lnTo>
                    <a:pt x="53768" y="299180"/>
                  </a:lnTo>
                  <a:lnTo>
                    <a:pt x="25061" y="263708"/>
                  </a:lnTo>
                  <a:lnTo>
                    <a:pt x="6556" y="221844"/>
                  </a:lnTo>
                  <a:lnTo>
                    <a:pt x="0" y="175260"/>
                  </a:lnTo>
                  <a:close/>
                </a:path>
              </a:pathLst>
            </a:custGeom>
            <a:ln w="12192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6429755" y="2732532"/>
              <a:ext cx="367665" cy="352425"/>
            </a:xfrm>
            <a:custGeom>
              <a:avLst/>
              <a:gdLst/>
              <a:ahLst/>
              <a:cxnLst/>
              <a:rect l="l" t="t" r="r" b="b"/>
              <a:pathLst>
                <a:path w="367665" h="352425">
                  <a:moveTo>
                    <a:pt x="0" y="176021"/>
                  </a:moveTo>
                  <a:lnTo>
                    <a:pt x="6556" y="129248"/>
                  </a:lnTo>
                  <a:lnTo>
                    <a:pt x="25061" y="87206"/>
                  </a:lnTo>
                  <a:lnTo>
                    <a:pt x="53768" y="51577"/>
                  </a:lnTo>
                  <a:lnTo>
                    <a:pt x="90931" y="24045"/>
                  </a:lnTo>
                  <a:lnTo>
                    <a:pt x="134805" y="6291"/>
                  </a:lnTo>
                  <a:lnTo>
                    <a:pt x="183642" y="0"/>
                  </a:lnTo>
                  <a:lnTo>
                    <a:pt x="232478" y="6291"/>
                  </a:lnTo>
                  <a:lnTo>
                    <a:pt x="276352" y="24045"/>
                  </a:lnTo>
                  <a:lnTo>
                    <a:pt x="313515" y="51577"/>
                  </a:lnTo>
                  <a:lnTo>
                    <a:pt x="342222" y="87206"/>
                  </a:lnTo>
                  <a:lnTo>
                    <a:pt x="360727" y="129248"/>
                  </a:lnTo>
                  <a:lnTo>
                    <a:pt x="367284" y="176021"/>
                  </a:lnTo>
                  <a:lnTo>
                    <a:pt x="360727" y="222795"/>
                  </a:lnTo>
                  <a:lnTo>
                    <a:pt x="342222" y="264837"/>
                  </a:lnTo>
                  <a:lnTo>
                    <a:pt x="313515" y="300466"/>
                  </a:lnTo>
                  <a:lnTo>
                    <a:pt x="276352" y="327998"/>
                  </a:lnTo>
                  <a:lnTo>
                    <a:pt x="232478" y="345752"/>
                  </a:lnTo>
                  <a:lnTo>
                    <a:pt x="183642" y="352043"/>
                  </a:lnTo>
                  <a:lnTo>
                    <a:pt x="134805" y="345752"/>
                  </a:lnTo>
                  <a:lnTo>
                    <a:pt x="90932" y="327998"/>
                  </a:lnTo>
                  <a:lnTo>
                    <a:pt x="53768" y="300466"/>
                  </a:lnTo>
                  <a:lnTo>
                    <a:pt x="25061" y="264837"/>
                  </a:lnTo>
                  <a:lnTo>
                    <a:pt x="6556" y="222795"/>
                  </a:lnTo>
                  <a:lnTo>
                    <a:pt x="0" y="176021"/>
                  </a:lnTo>
                  <a:close/>
                </a:path>
              </a:pathLst>
            </a:custGeom>
            <a:ln w="12192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95287" y="2846832"/>
              <a:ext cx="248412" cy="138683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83095" y="2436876"/>
              <a:ext cx="281940" cy="172212"/>
            </a:xfrm>
            <a:prstGeom prst="rect">
              <a:avLst/>
            </a:prstGeom>
          </p:spPr>
        </p:pic>
      </p:grpSp>
      <p:grpSp>
        <p:nvGrpSpPr>
          <p:cNvPr id="58" name="object 58"/>
          <p:cNvGrpSpPr/>
          <p:nvPr/>
        </p:nvGrpSpPr>
        <p:grpSpPr>
          <a:xfrm>
            <a:off x="4951476" y="3557015"/>
            <a:ext cx="381000" cy="363220"/>
            <a:chOff x="4951476" y="3557015"/>
            <a:chExt cx="381000" cy="363220"/>
          </a:xfrm>
        </p:grpSpPr>
        <p:sp>
          <p:nvSpPr>
            <p:cNvPr id="59" name="object 59"/>
            <p:cNvSpPr/>
            <p:nvPr/>
          </p:nvSpPr>
          <p:spPr>
            <a:xfrm>
              <a:off x="4957572" y="3563111"/>
              <a:ext cx="368935" cy="350520"/>
            </a:xfrm>
            <a:custGeom>
              <a:avLst/>
              <a:gdLst/>
              <a:ahLst/>
              <a:cxnLst/>
              <a:rect l="l" t="t" r="r" b="b"/>
              <a:pathLst>
                <a:path w="368935" h="350520">
                  <a:moveTo>
                    <a:pt x="0" y="175259"/>
                  </a:moveTo>
                  <a:lnTo>
                    <a:pt x="6586" y="128675"/>
                  </a:lnTo>
                  <a:lnTo>
                    <a:pt x="25174" y="86811"/>
                  </a:lnTo>
                  <a:lnTo>
                    <a:pt x="54006" y="51339"/>
                  </a:lnTo>
                  <a:lnTo>
                    <a:pt x="91327" y="23932"/>
                  </a:lnTo>
                  <a:lnTo>
                    <a:pt x="135378" y="6261"/>
                  </a:lnTo>
                  <a:lnTo>
                    <a:pt x="184404" y="0"/>
                  </a:lnTo>
                  <a:lnTo>
                    <a:pt x="233429" y="6261"/>
                  </a:lnTo>
                  <a:lnTo>
                    <a:pt x="277480" y="23932"/>
                  </a:lnTo>
                  <a:lnTo>
                    <a:pt x="314801" y="51339"/>
                  </a:lnTo>
                  <a:lnTo>
                    <a:pt x="343633" y="86811"/>
                  </a:lnTo>
                  <a:lnTo>
                    <a:pt x="362221" y="128675"/>
                  </a:lnTo>
                  <a:lnTo>
                    <a:pt x="368808" y="175259"/>
                  </a:lnTo>
                  <a:lnTo>
                    <a:pt x="362221" y="221844"/>
                  </a:lnTo>
                  <a:lnTo>
                    <a:pt x="343633" y="263708"/>
                  </a:lnTo>
                  <a:lnTo>
                    <a:pt x="314801" y="299180"/>
                  </a:lnTo>
                  <a:lnTo>
                    <a:pt x="277480" y="326587"/>
                  </a:lnTo>
                  <a:lnTo>
                    <a:pt x="233429" y="344258"/>
                  </a:lnTo>
                  <a:lnTo>
                    <a:pt x="184404" y="350520"/>
                  </a:lnTo>
                  <a:lnTo>
                    <a:pt x="135378" y="344258"/>
                  </a:lnTo>
                  <a:lnTo>
                    <a:pt x="91327" y="326587"/>
                  </a:lnTo>
                  <a:lnTo>
                    <a:pt x="54006" y="299180"/>
                  </a:lnTo>
                  <a:lnTo>
                    <a:pt x="25174" y="263708"/>
                  </a:lnTo>
                  <a:lnTo>
                    <a:pt x="6586" y="221844"/>
                  </a:lnTo>
                  <a:lnTo>
                    <a:pt x="0" y="175259"/>
                  </a:lnTo>
                  <a:close/>
                </a:path>
              </a:pathLst>
            </a:custGeom>
            <a:ln w="12192">
              <a:solidFill>
                <a:srgbClr val="548ED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60" name="object 6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38344" y="3634739"/>
              <a:ext cx="207263" cy="207264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4951476" y="4011167"/>
            <a:ext cx="381000" cy="363220"/>
            <a:chOff x="4951476" y="4011167"/>
            <a:chExt cx="381000" cy="363220"/>
          </a:xfrm>
        </p:grpSpPr>
        <p:sp>
          <p:nvSpPr>
            <p:cNvPr id="62" name="object 62"/>
            <p:cNvSpPr/>
            <p:nvPr/>
          </p:nvSpPr>
          <p:spPr>
            <a:xfrm>
              <a:off x="4957572" y="4017263"/>
              <a:ext cx="368935" cy="350520"/>
            </a:xfrm>
            <a:custGeom>
              <a:avLst/>
              <a:gdLst/>
              <a:ahLst/>
              <a:cxnLst/>
              <a:rect l="l" t="t" r="r" b="b"/>
              <a:pathLst>
                <a:path w="368935" h="350520">
                  <a:moveTo>
                    <a:pt x="0" y="175260"/>
                  </a:moveTo>
                  <a:lnTo>
                    <a:pt x="6586" y="128666"/>
                  </a:lnTo>
                  <a:lnTo>
                    <a:pt x="25174" y="86800"/>
                  </a:lnTo>
                  <a:lnTo>
                    <a:pt x="54006" y="51330"/>
                  </a:lnTo>
                  <a:lnTo>
                    <a:pt x="91327" y="23926"/>
                  </a:lnTo>
                  <a:lnTo>
                    <a:pt x="135378" y="6260"/>
                  </a:lnTo>
                  <a:lnTo>
                    <a:pt x="184404" y="0"/>
                  </a:lnTo>
                  <a:lnTo>
                    <a:pt x="233429" y="6260"/>
                  </a:lnTo>
                  <a:lnTo>
                    <a:pt x="277480" y="23926"/>
                  </a:lnTo>
                  <a:lnTo>
                    <a:pt x="314801" y="51330"/>
                  </a:lnTo>
                  <a:lnTo>
                    <a:pt x="343633" y="86800"/>
                  </a:lnTo>
                  <a:lnTo>
                    <a:pt x="362221" y="128666"/>
                  </a:lnTo>
                  <a:lnTo>
                    <a:pt x="368808" y="175260"/>
                  </a:lnTo>
                  <a:lnTo>
                    <a:pt x="362221" y="221853"/>
                  </a:lnTo>
                  <a:lnTo>
                    <a:pt x="343633" y="263719"/>
                  </a:lnTo>
                  <a:lnTo>
                    <a:pt x="314801" y="299189"/>
                  </a:lnTo>
                  <a:lnTo>
                    <a:pt x="277480" y="326593"/>
                  </a:lnTo>
                  <a:lnTo>
                    <a:pt x="233429" y="344259"/>
                  </a:lnTo>
                  <a:lnTo>
                    <a:pt x="184404" y="350520"/>
                  </a:lnTo>
                  <a:lnTo>
                    <a:pt x="135378" y="344259"/>
                  </a:lnTo>
                  <a:lnTo>
                    <a:pt x="91327" y="326593"/>
                  </a:lnTo>
                  <a:lnTo>
                    <a:pt x="54006" y="299189"/>
                  </a:lnTo>
                  <a:lnTo>
                    <a:pt x="25174" y="263719"/>
                  </a:lnTo>
                  <a:lnTo>
                    <a:pt x="6586" y="221853"/>
                  </a:lnTo>
                  <a:lnTo>
                    <a:pt x="0" y="175260"/>
                  </a:lnTo>
                  <a:close/>
                </a:path>
              </a:pathLst>
            </a:custGeom>
            <a:ln w="12192">
              <a:solidFill>
                <a:srgbClr val="548ED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63" name="object 6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12436" y="4098035"/>
              <a:ext cx="257556" cy="193547"/>
            </a:xfrm>
            <a:prstGeom prst="rect">
              <a:avLst/>
            </a:prstGeom>
          </p:spPr>
        </p:pic>
      </p:grpSp>
      <p:pic>
        <p:nvPicPr>
          <p:cNvPr id="64" name="object 6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872983" y="4160520"/>
            <a:ext cx="263651" cy="166115"/>
          </a:xfrm>
          <a:prstGeom prst="rect">
            <a:avLst/>
          </a:prstGeom>
        </p:spPr>
      </p:pic>
      <p:grpSp>
        <p:nvGrpSpPr>
          <p:cNvPr id="65" name="object 65"/>
          <p:cNvGrpSpPr/>
          <p:nvPr/>
        </p:nvGrpSpPr>
        <p:grpSpPr>
          <a:xfrm>
            <a:off x="7760207" y="1281683"/>
            <a:ext cx="379730" cy="363220"/>
            <a:chOff x="7760207" y="1281683"/>
            <a:chExt cx="379730" cy="363220"/>
          </a:xfrm>
        </p:grpSpPr>
        <p:sp>
          <p:nvSpPr>
            <p:cNvPr id="66" name="object 66"/>
            <p:cNvSpPr/>
            <p:nvPr/>
          </p:nvSpPr>
          <p:spPr>
            <a:xfrm>
              <a:off x="7766303" y="1287779"/>
              <a:ext cx="367665" cy="350520"/>
            </a:xfrm>
            <a:custGeom>
              <a:avLst/>
              <a:gdLst/>
              <a:ahLst/>
              <a:cxnLst/>
              <a:rect l="l" t="t" r="r" b="b"/>
              <a:pathLst>
                <a:path w="367665" h="350519">
                  <a:moveTo>
                    <a:pt x="0" y="175260"/>
                  </a:moveTo>
                  <a:lnTo>
                    <a:pt x="6556" y="128675"/>
                  </a:lnTo>
                  <a:lnTo>
                    <a:pt x="25061" y="86811"/>
                  </a:lnTo>
                  <a:lnTo>
                    <a:pt x="53768" y="51339"/>
                  </a:lnTo>
                  <a:lnTo>
                    <a:pt x="90931" y="23932"/>
                  </a:lnTo>
                  <a:lnTo>
                    <a:pt x="134805" y="6261"/>
                  </a:lnTo>
                  <a:lnTo>
                    <a:pt x="183642" y="0"/>
                  </a:lnTo>
                  <a:lnTo>
                    <a:pt x="232478" y="6261"/>
                  </a:lnTo>
                  <a:lnTo>
                    <a:pt x="276352" y="23932"/>
                  </a:lnTo>
                  <a:lnTo>
                    <a:pt x="313515" y="51339"/>
                  </a:lnTo>
                  <a:lnTo>
                    <a:pt x="342222" y="86811"/>
                  </a:lnTo>
                  <a:lnTo>
                    <a:pt x="360727" y="128675"/>
                  </a:lnTo>
                  <a:lnTo>
                    <a:pt x="367284" y="175260"/>
                  </a:lnTo>
                  <a:lnTo>
                    <a:pt x="360727" y="221844"/>
                  </a:lnTo>
                  <a:lnTo>
                    <a:pt x="342222" y="263708"/>
                  </a:lnTo>
                  <a:lnTo>
                    <a:pt x="313515" y="299180"/>
                  </a:lnTo>
                  <a:lnTo>
                    <a:pt x="276352" y="326587"/>
                  </a:lnTo>
                  <a:lnTo>
                    <a:pt x="232478" y="344258"/>
                  </a:lnTo>
                  <a:lnTo>
                    <a:pt x="183642" y="350520"/>
                  </a:lnTo>
                  <a:lnTo>
                    <a:pt x="134805" y="344258"/>
                  </a:lnTo>
                  <a:lnTo>
                    <a:pt x="90932" y="326587"/>
                  </a:lnTo>
                  <a:lnTo>
                    <a:pt x="53768" y="299180"/>
                  </a:lnTo>
                  <a:lnTo>
                    <a:pt x="25061" y="263708"/>
                  </a:lnTo>
                  <a:lnTo>
                    <a:pt x="6556" y="221844"/>
                  </a:lnTo>
                  <a:lnTo>
                    <a:pt x="0" y="175260"/>
                  </a:lnTo>
                  <a:close/>
                </a:path>
              </a:pathLst>
            </a:custGeom>
            <a:ln w="12192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67" name="object 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25739" y="1351787"/>
              <a:ext cx="233172" cy="233172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7787640" y="2333244"/>
            <a:ext cx="379730" cy="363220"/>
            <a:chOff x="7787640" y="2333244"/>
            <a:chExt cx="379730" cy="363220"/>
          </a:xfrm>
        </p:grpSpPr>
        <p:sp>
          <p:nvSpPr>
            <p:cNvPr id="69" name="object 69"/>
            <p:cNvSpPr/>
            <p:nvPr/>
          </p:nvSpPr>
          <p:spPr>
            <a:xfrm>
              <a:off x="7793736" y="2339340"/>
              <a:ext cx="367665" cy="350520"/>
            </a:xfrm>
            <a:custGeom>
              <a:avLst/>
              <a:gdLst/>
              <a:ahLst/>
              <a:cxnLst/>
              <a:rect l="l" t="t" r="r" b="b"/>
              <a:pathLst>
                <a:path w="367665" h="350519">
                  <a:moveTo>
                    <a:pt x="0" y="175260"/>
                  </a:moveTo>
                  <a:lnTo>
                    <a:pt x="6556" y="128675"/>
                  </a:lnTo>
                  <a:lnTo>
                    <a:pt x="25061" y="86811"/>
                  </a:lnTo>
                  <a:lnTo>
                    <a:pt x="53768" y="51339"/>
                  </a:lnTo>
                  <a:lnTo>
                    <a:pt x="90931" y="23932"/>
                  </a:lnTo>
                  <a:lnTo>
                    <a:pt x="134805" y="6261"/>
                  </a:lnTo>
                  <a:lnTo>
                    <a:pt x="183642" y="0"/>
                  </a:lnTo>
                  <a:lnTo>
                    <a:pt x="232478" y="6261"/>
                  </a:lnTo>
                  <a:lnTo>
                    <a:pt x="276352" y="23932"/>
                  </a:lnTo>
                  <a:lnTo>
                    <a:pt x="313515" y="51339"/>
                  </a:lnTo>
                  <a:lnTo>
                    <a:pt x="342222" y="86811"/>
                  </a:lnTo>
                  <a:lnTo>
                    <a:pt x="360727" y="128675"/>
                  </a:lnTo>
                  <a:lnTo>
                    <a:pt x="367284" y="175260"/>
                  </a:lnTo>
                  <a:lnTo>
                    <a:pt x="360727" y="221844"/>
                  </a:lnTo>
                  <a:lnTo>
                    <a:pt x="342222" y="263708"/>
                  </a:lnTo>
                  <a:lnTo>
                    <a:pt x="313515" y="299180"/>
                  </a:lnTo>
                  <a:lnTo>
                    <a:pt x="276352" y="326587"/>
                  </a:lnTo>
                  <a:lnTo>
                    <a:pt x="232478" y="344258"/>
                  </a:lnTo>
                  <a:lnTo>
                    <a:pt x="183642" y="350520"/>
                  </a:lnTo>
                  <a:lnTo>
                    <a:pt x="134805" y="344258"/>
                  </a:lnTo>
                  <a:lnTo>
                    <a:pt x="90932" y="326587"/>
                  </a:lnTo>
                  <a:lnTo>
                    <a:pt x="53768" y="299180"/>
                  </a:lnTo>
                  <a:lnTo>
                    <a:pt x="25061" y="263708"/>
                  </a:lnTo>
                  <a:lnTo>
                    <a:pt x="6556" y="221844"/>
                  </a:lnTo>
                  <a:lnTo>
                    <a:pt x="0" y="175260"/>
                  </a:lnTo>
                  <a:close/>
                </a:path>
              </a:pathLst>
            </a:custGeom>
            <a:ln w="12192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70" name="object 7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79080" y="2420112"/>
              <a:ext cx="233172" cy="234695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4945379" y="2327148"/>
            <a:ext cx="379730" cy="763905"/>
            <a:chOff x="4945379" y="2327148"/>
            <a:chExt cx="379730" cy="763905"/>
          </a:xfrm>
        </p:grpSpPr>
        <p:sp>
          <p:nvSpPr>
            <p:cNvPr id="72" name="object 72"/>
            <p:cNvSpPr/>
            <p:nvPr/>
          </p:nvSpPr>
          <p:spPr>
            <a:xfrm>
              <a:off x="4951475" y="2333244"/>
              <a:ext cx="367665" cy="350520"/>
            </a:xfrm>
            <a:custGeom>
              <a:avLst/>
              <a:gdLst/>
              <a:ahLst/>
              <a:cxnLst/>
              <a:rect l="l" t="t" r="r" b="b"/>
              <a:pathLst>
                <a:path w="367664" h="350519">
                  <a:moveTo>
                    <a:pt x="0" y="175260"/>
                  </a:moveTo>
                  <a:lnTo>
                    <a:pt x="6556" y="128675"/>
                  </a:lnTo>
                  <a:lnTo>
                    <a:pt x="25061" y="86811"/>
                  </a:lnTo>
                  <a:lnTo>
                    <a:pt x="53768" y="51339"/>
                  </a:lnTo>
                  <a:lnTo>
                    <a:pt x="90931" y="23932"/>
                  </a:lnTo>
                  <a:lnTo>
                    <a:pt x="134805" y="6261"/>
                  </a:lnTo>
                  <a:lnTo>
                    <a:pt x="183642" y="0"/>
                  </a:lnTo>
                  <a:lnTo>
                    <a:pt x="232478" y="6261"/>
                  </a:lnTo>
                  <a:lnTo>
                    <a:pt x="276352" y="23932"/>
                  </a:lnTo>
                  <a:lnTo>
                    <a:pt x="313515" y="51339"/>
                  </a:lnTo>
                  <a:lnTo>
                    <a:pt x="342222" y="86811"/>
                  </a:lnTo>
                  <a:lnTo>
                    <a:pt x="360727" y="128675"/>
                  </a:lnTo>
                  <a:lnTo>
                    <a:pt x="367284" y="175260"/>
                  </a:lnTo>
                  <a:lnTo>
                    <a:pt x="360727" y="221844"/>
                  </a:lnTo>
                  <a:lnTo>
                    <a:pt x="342222" y="263708"/>
                  </a:lnTo>
                  <a:lnTo>
                    <a:pt x="313515" y="299180"/>
                  </a:lnTo>
                  <a:lnTo>
                    <a:pt x="276352" y="326587"/>
                  </a:lnTo>
                  <a:lnTo>
                    <a:pt x="232478" y="344258"/>
                  </a:lnTo>
                  <a:lnTo>
                    <a:pt x="183642" y="350520"/>
                  </a:lnTo>
                  <a:lnTo>
                    <a:pt x="134805" y="344258"/>
                  </a:lnTo>
                  <a:lnTo>
                    <a:pt x="90932" y="326587"/>
                  </a:lnTo>
                  <a:lnTo>
                    <a:pt x="53768" y="299180"/>
                  </a:lnTo>
                  <a:lnTo>
                    <a:pt x="25061" y="263708"/>
                  </a:lnTo>
                  <a:lnTo>
                    <a:pt x="6556" y="221844"/>
                  </a:lnTo>
                  <a:lnTo>
                    <a:pt x="0" y="175260"/>
                  </a:lnTo>
                  <a:close/>
                </a:path>
              </a:pathLst>
            </a:custGeom>
            <a:ln w="12192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4951475" y="2732532"/>
              <a:ext cx="367665" cy="352425"/>
            </a:xfrm>
            <a:custGeom>
              <a:avLst/>
              <a:gdLst/>
              <a:ahLst/>
              <a:cxnLst/>
              <a:rect l="l" t="t" r="r" b="b"/>
              <a:pathLst>
                <a:path w="367664" h="352425">
                  <a:moveTo>
                    <a:pt x="0" y="176021"/>
                  </a:moveTo>
                  <a:lnTo>
                    <a:pt x="6556" y="129248"/>
                  </a:lnTo>
                  <a:lnTo>
                    <a:pt x="25061" y="87206"/>
                  </a:lnTo>
                  <a:lnTo>
                    <a:pt x="53768" y="51577"/>
                  </a:lnTo>
                  <a:lnTo>
                    <a:pt x="90931" y="24045"/>
                  </a:lnTo>
                  <a:lnTo>
                    <a:pt x="134805" y="6291"/>
                  </a:lnTo>
                  <a:lnTo>
                    <a:pt x="183642" y="0"/>
                  </a:lnTo>
                  <a:lnTo>
                    <a:pt x="232478" y="6291"/>
                  </a:lnTo>
                  <a:lnTo>
                    <a:pt x="276352" y="24045"/>
                  </a:lnTo>
                  <a:lnTo>
                    <a:pt x="313515" y="51577"/>
                  </a:lnTo>
                  <a:lnTo>
                    <a:pt x="342222" y="87206"/>
                  </a:lnTo>
                  <a:lnTo>
                    <a:pt x="360727" y="129248"/>
                  </a:lnTo>
                  <a:lnTo>
                    <a:pt x="367284" y="176021"/>
                  </a:lnTo>
                  <a:lnTo>
                    <a:pt x="360727" y="222795"/>
                  </a:lnTo>
                  <a:lnTo>
                    <a:pt x="342222" y="264837"/>
                  </a:lnTo>
                  <a:lnTo>
                    <a:pt x="313515" y="300466"/>
                  </a:lnTo>
                  <a:lnTo>
                    <a:pt x="276352" y="327998"/>
                  </a:lnTo>
                  <a:lnTo>
                    <a:pt x="232478" y="345752"/>
                  </a:lnTo>
                  <a:lnTo>
                    <a:pt x="183642" y="352043"/>
                  </a:lnTo>
                  <a:lnTo>
                    <a:pt x="134805" y="345752"/>
                  </a:lnTo>
                  <a:lnTo>
                    <a:pt x="90932" y="327998"/>
                  </a:lnTo>
                  <a:lnTo>
                    <a:pt x="53768" y="300466"/>
                  </a:lnTo>
                  <a:lnTo>
                    <a:pt x="25061" y="264837"/>
                  </a:lnTo>
                  <a:lnTo>
                    <a:pt x="6556" y="222795"/>
                  </a:lnTo>
                  <a:lnTo>
                    <a:pt x="0" y="176021"/>
                  </a:lnTo>
                  <a:close/>
                </a:path>
              </a:pathLst>
            </a:custGeom>
            <a:ln w="12192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74" name="object 7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992623" y="2778252"/>
              <a:ext cx="278891" cy="278892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04815" y="2401824"/>
              <a:ext cx="259079" cy="192024"/>
            </a:xfrm>
            <a:prstGeom prst="rect">
              <a:avLst/>
            </a:prstGeom>
          </p:spPr>
        </p:pic>
      </p:grpSp>
      <p:grpSp>
        <p:nvGrpSpPr>
          <p:cNvPr id="76" name="object 76"/>
          <p:cNvGrpSpPr/>
          <p:nvPr/>
        </p:nvGrpSpPr>
        <p:grpSpPr>
          <a:xfrm>
            <a:off x="284988" y="2388107"/>
            <a:ext cx="885825" cy="885825"/>
            <a:chOff x="284988" y="2388107"/>
            <a:chExt cx="885825" cy="885825"/>
          </a:xfrm>
        </p:grpSpPr>
        <p:pic>
          <p:nvPicPr>
            <p:cNvPr id="77" name="object 7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84988" y="2388107"/>
              <a:ext cx="885444" cy="885444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78714" y="2426969"/>
              <a:ext cx="753110" cy="753110"/>
            </a:xfrm>
            <a:custGeom>
              <a:avLst/>
              <a:gdLst/>
              <a:ahLst/>
              <a:cxnLst/>
              <a:rect l="l" t="t" r="r" b="b"/>
              <a:pathLst>
                <a:path w="753110" h="753110">
                  <a:moveTo>
                    <a:pt x="376428" y="0"/>
                  </a:moveTo>
                  <a:lnTo>
                    <a:pt x="329208" y="2932"/>
                  </a:lnTo>
                  <a:lnTo>
                    <a:pt x="283740" y="11496"/>
                  </a:lnTo>
                  <a:lnTo>
                    <a:pt x="240375" y="25337"/>
                  </a:lnTo>
                  <a:lnTo>
                    <a:pt x="199465" y="44103"/>
                  </a:lnTo>
                  <a:lnTo>
                    <a:pt x="161365" y="67442"/>
                  </a:lnTo>
                  <a:lnTo>
                    <a:pt x="126425" y="95000"/>
                  </a:lnTo>
                  <a:lnTo>
                    <a:pt x="95000" y="126425"/>
                  </a:lnTo>
                  <a:lnTo>
                    <a:pt x="67442" y="161365"/>
                  </a:lnTo>
                  <a:lnTo>
                    <a:pt x="44103" y="199465"/>
                  </a:lnTo>
                  <a:lnTo>
                    <a:pt x="25337" y="240375"/>
                  </a:lnTo>
                  <a:lnTo>
                    <a:pt x="11496" y="283740"/>
                  </a:lnTo>
                  <a:lnTo>
                    <a:pt x="2932" y="329208"/>
                  </a:lnTo>
                  <a:lnTo>
                    <a:pt x="0" y="376427"/>
                  </a:lnTo>
                  <a:lnTo>
                    <a:pt x="2932" y="423647"/>
                  </a:lnTo>
                  <a:lnTo>
                    <a:pt x="11496" y="469115"/>
                  </a:lnTo>
                  <a:lnTo>
                    <a:pt x="25337" y="512480"/>
                  </a:lnTo>
                  <a:lnTo>
                    <a:pt x="44103" y="553390"/>
                  </a:lnTo>
                  <a:lnTo>
                    <a:pt x="67442" y="591490"/>
                  </a:lnTo>
                  <a:lnTo>
                    <a:pt x="95000" y="626430"/>
                  </a:lnTo>
                  <a:lnTo>
                    <a:pt x="126425" y="657855"/>
                  </a:lnTo>
                  <a:lnTo>
                    <a:pt x="161365" y="685413"/>
                  </a:lnTo>
                  <a:lnTo>
                    <a:pt x="199465" y="708752"/>
                  </a:lnTo>
                  <a:lnTo>
                    <a:pt x="240375" y="727518"/>
                  </a:lnTo>
                  <a:lnTo>
                    <a:pt x="283740" y="741359"/>
                  </a:lnTo>
                  <a:lnTo>
                    <a:pt x="329208" y="749923"/>
                  </a:lnTo>
                  <a:lnTo>
                    <a:pt x="376428" y="752855"/>
                  </a:lnTo>
                  <a:lnTo>
                    <a:pt x="423647" y="749923"/>
                  </a:lnTo>
                  <a:lnTo>
                    <a:pt x="469115" y="741359"/>
                  </a:lnTo>
                  <a:lnTo>
                    <a:pt x="512480" y="727518"/>
                  </a:lnTo>
                  <a:lnTo>
                    <a:pt x="553390" y="708752"/>
                  </a:lnTo>
                  <a:lnTo>
                    <a:pt x="591490" y="685413"/>
                  </a:lnTo>
                  <a:lnTo>
                    <a:pt x="626430" y="657855"/>
                  </a:lnTo>
                  <a:lnTo>
                    <a:pt x="657855" y="626430"/>
                  </a:lnTo>
                  <a:lnTo>
                    <a:pt x="685413" y="591490"/>
                  </a:lnTo>
                  <a:lnTo>
                    <a:pt x="708752" y="553390"/>
                  </a:lnTo>
                  <a:lnTo>
                    <a:pt x="727518" y="512480"/>
                  </a:lnTo>
                  <a:lnTo>
                    <a:pt x="741359" y="469115"/>
                  </a:lnTo>
                  <a:lnTo>
                    <a:pt x="749923" y="423647"/>
                  </a:lnTo>
                  <a:lnTo>
                    <a:pt x="752856" y="376427"/>
                  </a:lnTo>
                  <a:lnTo>
                    <a:pt x="749923" y="329208"/>
                  </a:lnTo>
                  <a:lnTo>
                    <a:pt x="741359" y="283740"/>
                  </a:lnTo>
                  <a:lnTo>
                    <a:pt x="727518" y="240375"/>
                  </a:lnTo>
                  <a:lnTo>
                    <a:pt x="708752" y="199465"/>
                  </a:lnTo>
                  <a:lnTo>
                    <a:pt x="685413" y="161365"/>
                  </a:lnTo>
                  <a:lnTo>
                    <a:pt x="657855" y="126425"/>
                  </a:lnTo>
                  <a:lnTo>
                    <a:pt x="626430" y="95000"/>
                  </a:lnTo>
                  <a:lnTo>
                    <a:pt x="591490" y="67442"/>
                  </a:lnTo>
                  <a:lnTo>
                    <a:pt x="553390" y="44103"/>
                  </a:lnTo>
                  <a:lnTo>
                    <a:pt x="512480" y="25337"/>
                  </a:lnTo>
                  <a:lnTo>
                    <a:pt x="469115" y="11496"/>
                  </a:lnTo>
                  <a:lnTo>
                    <a:pt x="423647" y="2932"/>
                  </a:lnTo>
                  <a:lnTo>
                    <a:pt x="3764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378714" y="2426969"/>
              <a:ext cx="753110" cy="753110"/>
            </a:xfrm>
            <a:custGeom>
              <a:avLst/>
              <a:gdLst/>
              <a:ahLst/>
              <a:cxnLst/>
              <a:rect l="l" t="t" r="r" b="b"/>
              <a:pathLst>
                <a:path w="753110" h="753110">
                  <a:moveTo>
                    <a:pt x="0" y="376427"/>
                  </a:moveTo>
                  <a:lnTo>
                    <a:pt x="2932" y="329208"/>
                  </a:lnTo>
                  <a:lnTo>
                    <a:pt x="11496" y="283740"/>
                  </a:lnTo>
                  <a:lnTo>
                    <a:pt x="25337" y="240375"/>
                  </a:lnTo>
                  <a:lnTo>
                    <a:pt x="44103" y="199465"/>
                  </a:lnTo>
                  <a:lnTo>
                    <a:pt x="67442" y="161365"/>
                  </a:lnTo>
                  <a:lnTo>
                    <a:pt x="95000" y="126425"/>
                  </a:lnTo>
                  <a:lnTo>
                    <a:pt x="126425" y="95000"/>
                  </a:lnTo>
                  <a:lnTo>
                    <a:pt x="161365" y="67442"/>
                  </a:lnTo>
                  <a:lnTo>
                    <a:pt x="199465" y="44103"/>
                  </a:lnTo>
                  <a:lnTo>
                    <a:pt x="240375" y="25337"/>
                  </a:lnTo>
                  <a:lnTo>
                    <a:pt x="283740" y="11496"/>
                  </a:lnTo>
                  <a:lnTo>
                    <a:pt x="329208" y="2932"/>
                  </a:lnTo>
                  <a:lnTo>
                    <a:pt x="376428" y="0"/>
                  </a:lnTo>
                  <a:lnTo>
                    <a:pt x="423647" y="2932"/>
                  </a:lnTo>
                  <a:lnTo>
                    <a:pt x="469115" y="11496"/>
                  </a:lnTo>
                  <a:lnTo>
                    <a:pt x="512480" y="25337"/>
                  </a:lnTo>
                  <a:lnTo>
                    <a:pt x="553390" y="44103"/>
                  </a:lnTo>
                  <a:lnTo>
                    <a:pt x="591490" y="67442"/>
                  </a:lnTo>
                  <a:lnTo>
                    <a:pt x="626430" y="95000"/>
                  </a:lnTo>
                  <a:lnTo>
                    <a:pt x="657855" y="126425"/>
                  </a:lnTo>
                  <a:lnTo>
                    <a:pt x="685413" y="161365"/>
                  </a:lnTo>
                  <a:lnTo>
                    <a:pt x="708752" y="199465"/>
                  </a:lnTo>
                  <a:lnTo>
                    <a:pt x="727518" y="240375"/>
                  </a:lnTo>
                  <a:lnTo>
                    <a:pt x="741359" y="283740"/>
                  </a:lnTo>
                  <a:lnTo>
                    <a:pt x="749923" y="329208"/>
                  </a:lnTo>
                  <a:lnTo>
                    <a:pt x="752856" y="376427"/>
                  </a:lnTo>
                  <a:lnTo>
                    <a:pt x="749923" y="423647"/>
                  </a:lnTo>
                  <a:lnTo>
                    <a:pt x="741359" y="469115"/>
                  </a:lnTo>
                  <a:lnTo>
                    <a:pt x="727518" y="512480"/>
                  </a:lnTo>
                  <a:lnTo>
                    <a:pt x="708752" y="553390"/>
                  </a:lnTo>
                  <a:lnTo>
                    <a:pt x="685413" y="591490"/>
                  </a:lnTo>
                  <a:lnTo>
                    <a:pt x="657855" y="626430"/>
                  </a:lnTo>
                  <a:lnTo>
                    <a:pt x="626430" y="657855"/>
                  </a:lnTo>
                  <a:lnTo>
                    <a:pt x="591490" y="685413"/>
                  </a:lnTo>
                  <a:lnTo>
                    <a:pt x="553390" y="708752"/>
                  </a:lnTo>
                  <a:lnTo>
                    <a:pt x="512480" y="727518"/>
                  </a:lnTo>
                  <a:lnTo>
                    <a:pt x="469115" y="741359"/>
                  </a:lnTo>
                  <a:lnTo>
                    <a:pt x="423647" y="749923"/>
                  </a:lnTo>
                  <a:lnTo>
                    <a:pt x="376428" y="752855"/>
                  </a:lnTo>
                  <a:lnTo>
                    <a:pt x="329208" y="749923"/>
                  </a:lnTo>
                  <a:lnTo>
                    <a:pt x="283740" y="741359"/>
                  </a:lnTo>
                  <a:lnTo>
                    <a:pt x="240375" y="727518"/>
                  </a:lnTo>
                  <a:lnTo>
                    <a:pt x="199465" y="708752"/>
                  </a:lnTo>
                  <a:lnTo>
                    <a:pt x="161365" y="685413"/>
                  </a:lnTo>
                  <a:lnTo>
                    <a:pt x="126425" y="657855"/>
                  </a:lnTo>
                  <a:lnTo>
                    <a:pt x="95000" y="626430"/>
                  </a:lnTo>
                  <a:lnTo>
                    <a:pt x="67442" y="591490"/>
                  </a:lnTo>
                  <a:lnTo>
                    <a:pt x="44103" y="553390"/>
                  </a:lnTo>
                  <a:lnTo>
                    <a:pt x="25337" y="512480"/>
                  </a:lnTo>
                  <a:lnTo>
                    <a:pt x="11496" y="469115"/>
                  </a:lnTo>
                  <a:lnTo>
                    <a:pt x="2932" y="423647"/>
                  </a:lnTo>
                  <a:lnTo>
                    <a:pt x="0" y="376427"/>
                  </a:lnTo>
                  <a:close/>
                </a:path>
              </a:pathLst>
            </a:custGeom>
            <a:ln w="25908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80" name="object 8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21208" y="2581655"/>
              <a:ext cx="420623" cy="422148"/>
            </a:xfrm>
            <a:prstGeom prst="rect">
              <a:avLst/>
            </a:prstGeom>
          </p:spPr>
        </p:pic>
      </p:grpSp>
      <p:grpSp>
        <p:nvGrpSpPr>
          <p:cNvPr id="81" name="object 81"/>
          <p:cNvGrpSpPr/>
          <p:nvPr/>
        </p:nvGrpSpPr>
        <p:grpSpPr>
          <a:xfrm>
            <a:off x="6440423" y="3557015"/>
            <a:ext cx="379730" cy="363220"/>
            <a:chOff x="6440423" y="3557015"/>
            <a:chExt cx="379730" cy="363220"/>
          </a:xfrm>
        </p:grpSpPr>
        <p:sp>
          <p:nvSpPr>
            <p:cNvPr id="82" name="object 82"/>
            <p:cNvSpPr/>
            <p:nvPr/>
          </p:nvSpPr>
          <p:spPr>
            <a:xfrm>
              <a:off x="6446519" y="3563111"/>
              <a:ext cx="367665" cy="350520"/>
            </a:xfrm>
            <a:custGeom>
              <a:avLst/>
              <a:gdLst/>
              <a:ahLst/>
              <a:cxnLst/>
              <a:rect l="l" t="t" r="r" b="b"/>
              <a:pathLst>
                <a:path w="367665" h="350520">
                  <a:moveTo>
                    <a:pt x="0" y="175259"/>
                  </a:moveTo>
                  <a:lnTo>
                    <a:pt x="6556" y="128675"/>
                  </a:lnTo>
                  <a:lnTo>
                    <a:pt x="25061" y="86811"/>
                  </a:lnTo>
                  <a:lnTo>
                    <a:pt x="53768" y="51339"/>
                  </a:lnTo>
                  <a:lnTo>
                    <a:pt x="90931" y="23932"/>
                  </a:lnTo>
                  <a:lnTo>
                    <a:pt x="134805" y="6261"/>
                  </a:lnTo>
                  <a:lnTo>
                    <a:pt x="183642" y="0"/>
                  </a:lnTo>
                  <a:lnTo>
                    <a:pt x="232478" y="6261"/>
                  </a:lnTo>
                  <a:lnTo>
                    <a:pt x="276352" y="23932"/>
                  </a:lnTo>
                  <a:lnTo>
                    <a:pt x="313515" y="51339"/>
                  </a:lnTo>
                  <a:lnTo>
                    <a:pt x="342222" y="86811"/>
                  </a:lnTo>
                  <a:lnTo>
                    <a:pt x="360727" y="128675"/>
                  </a:lnTo>
                  <a:lnTo>
                    <a:pt x="367284" y="175259"/>
                  </a:lnTo>
                  <a:lnTo>
                    <a:pt x="360727" y="221844"/>
                  </a:lnTo>
                  <a:lnTo>
                    <a:pt x="342222" y="263708"/>
                  </a:lnTo>
                  <a:lnTo>
                    <a:pt x="313515" y="299180"/>
                  </a:lnTo>
                  <a:lnTo>
                    <a:pt x="276352" y="326587"/>
                  </a:lnTo>
                  <a:lnTo>
                    <a:pt x="232478" y="344258"/>
                  </a:lnTo>
                  <a:lnTo>
                    <a:pt x="183642" y="350520"/>
                  </a:lnTo>
                  <a:lnTo>
                    <a:pt x="134805" y="344258"/>
                  </a:lnTo>
                  <a:lnTo>
                    <a:pt x="90932" y="326587"/>
                  </a:lnTo>
                  <a:lnTo>
                    <a:pt x="53768" y="299180"/>
                  </a:lnTo>
                  <a:lnTo>
                    <a:pt x="25061" y="263708"/>
                  </a:lnTo>
                  <a:lnTo>
                    <a:pt x="6556" y="221844"/>
                  </a:lnTo>
                  <a:lnTo>
                    <a:pt x="0" y="175259"/>
                  </a:lnTo>
                  <a:close/>
                </a:path>
              </a:pathLst>
            </a:custGeom>
            <a:ln w="12192">
              <a:solidFill>
                <a:srgbClr val="548ED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83" name="object 8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530339" y="3614927"/>
              <a:ext cx="220979" cy="220979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6909052" y="4063172"/>
            <a:ext cx="620395" cy="27241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315"/>
              </a:spcBef>
            </a:pP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Cloud</a:t>
            </a:r>
            <a:r>
              <a:rPr sz="900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Native</a:t>
            </a:r>
            <a:r>
              <a:rPr sz="900" spc="50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Delivery</a:t>
            </a:r>
            <a:endParaRPr sz="900" dirty="0">
              <a:latin typeface="+mj-lt"/>
              <a:cs typeface="Calibri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6461759" y="4043171"/>
            <a:ext cx="381000" cy="363220"/>
            <a:chOff x="6461759" y="4043171"/>
            <a:chExt cx="381000" cy="363220"/>
          </a:xfrm>
        </p:grpSpPr>
        <p:sp>
          <p:nvSpPr>
            <p:cNvPr id="86" name="object 86"/>
            <p:cNvSpPr/>
            <p:nvPr/>
          </p:nvSpPr>
          <p:spPr>
            <a:xfrm>
              <a:off x="6467855" y="4049267"/>
              <a:ext cx="368935" cy="350520"/>
            </a:xfrm>
            <a:custGeom>
              <a:avLst/>
              <a:gdLst/>
              <a:ahLst/>
              <a:cxnLst/>
              <a:rect l="l" t="t" r="r" b="b"/>
              <a:pathLst>
                <a:path w="368934" h="350520">
                  <a:moveTo>
                    <a:pt x="0" y="175259"/>
                  </a:moveTo>
                  <a:lnTo>
                    <a:pt x="6586" y="128666"/>
                  </a:lnTo>
                  <a:lnTo>
                    <a:pt x="25174" y="86800"/>
                  </a:lnTo>
                  <a:lnTo>
                    <a:pt x="54006" y="51330"/>
                  </a:lnTo>
                  <a:lnTo>
                    <a:pt x="91327" y="23926"/>
                  </a:lnTo>
                  <a:lnTo>
                    <a:pt x="135378" y="6260"/>
                  </a:lnTo>
                  <a:lnTo>
                    <a:pt x="184404" y="0"/>
                  </a:lnTo>
                  <a:lnTo>
                    <a:pt x="233429" y="6260"/>
                  </a:lnTo>
                  <a:lnTo>
                    <a:pt x="277480" y="23926"/>
                  </a:lnTo>
                  <a:lnTo>
                    <a:pt x="314801" y="51330"/>
                  </a:lnTo>
                  <a:lnTo>
                    <a:pt x="343633" y="86800"/>
                  </a:lnTo>
                  <a:lnTo>
                    <a:pt x="362221" y="128666"/>
                  </a:lnTo>
                  <a:lnTo>
                    <a:pt x="368808" y="175259"/>
                  </a:lnTo>
                  <a:lnTo>
                    <a:pt x="362221" y="221853"/>
                  </a:lnTo>
                  <a:lnTo>
                    <a:pt x="343633" y="263719"/>
                  </a:lnTo>
                  <a:lnTo>
                    <a:pt x="314801" y="299189"/>
                  </a:lnTo>
                  <a:lnTo>
                    <a:pt x="277480" y="326593"/>
                  </a:lnTo>
                  <a:lnTo>
                    <a:pt x="233429" y="344259"/>
                  </a:lnTo>
                  <a:lnTo>
                    <a:pt x="184404" y="350519"/>
                  </a:lnTo>
                  <a:lnTo>
                    <a:pt x="135378" y="344259"/>
                  </a:lnTo>
                  <a:lnTo>
                    <a:pt x="91327" y="326593"/>
                  </a:lnTo>
                  <a:lnTo>
                    <a:pt x="54006" y="299189"/>
                  </a:lnTo>
                  <a:lnTo>
                    <a:pt x="25174" y="263719"/>
                  </a:lnTo>
                  <a:lnTo>
                    <a:pt x="6586" y="221853"/>
                  </a:lnTo>
                  <a:lnTo>
                    <a:pt x="0" y="175259"/>
                  </a:lnTo>
                  <a:close/>
                </a:path>
              </a:pathLst>
            </a:custGeom>
            <a:ln w="12192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87" name="object 8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547103" y="4107179"/>
              <a:ext cx="220979" cy="184403"/>
            </a:xfrm>
            <a:prstGeom prst="rect">
              <a:avLst/>
            </a:prstGeom>
          </p:spPr>
        </p:pic>
      </p:grpSp>
      <p:sp>
        <p:nvSpPr>
          <p:cNvPr id="88" name="object 88"/>
          <p:cNvSpPr txBox="1"/>
          <p:nvPr/>
        </p:nvSpPr>
        <p:spPr>
          <a:xfrm>
            <a:off x="8271762" y="3596068"/>
            <a:ext cx="629285" cy="2724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860"/>
              </a:lnSpc>
              <a:spcBef>
                <a:spcPts val="310"/>
              </a:spcBef>
            </a:pP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Hybrid</a:t>
            </a:r>
            <a:r>
              <a:rPr sz="900" spc="-2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Cloud</a:t>
            </a:r>
            <a:r>
              <a:rPr sz="900" spc="50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Solutions</a:t>
            </a:r>
            <a:endParaRPr sz="900" dirty="0">
              <a:latin typeface="+mj-lt"/>
              <a:cs typeface="Calibri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7837931" y="3550920"/>
            <a:ext cx="379730" cy="363220"/>
            <a:chOff x="7837931" y="3550920"/>
            <a:chExt cx="379730" cy="363220"/>
          </a:xfrm>
        </p:grpSpPr>
        <p:sp>
          <p:nvSpPr>
            <p:cNvPr id="90" name="object 90"/>
            <p:cNvSpPr/>
            <p:nvPr/>
          </p:nvSpPr>
          <p:spPr>
            <a:xfrm>
              <a:off x="7844027" y="3557016"/>
              <a:ext cx="367665" cy="350520"/>
            </a:xfrm>
            <a:custGeom>
              <a:avLst/>
              <a:gdLst/>
              <a:ahLst/>
              <a:cxnLst/>
              <a:rect l="l" t="t" r="r" b="b"/>
              <a:pathLst>
                <a:path w="367665" h="350520">
                  <a:moveTo>
                    <a:pt x="0" y="175260"/>
                  </a:moveTo>
                  <a:lnTo>
                    <a:pt x="6556" y="128675"/>
                  </a:lnTo>
                  <a:lnTo>
                    <a:pt x="25061" y="86811"/>
                  </a:lnTo>
                  <a:lnTo>
                    <a:pt x="53768" y="51339"/>
                  </a:lnTo>
                  <a:lnTo>
                    <a:pt x="90931" y="23932"/>
                  </a:lnTo>
                  <a:lnTo>
                    <a:pt x="134805" y="6261"/>
                  </a:lnTo>
                  <a:lnTo>
                    <a:pt x="183642" y="0"/>
                  </a:lnTo>
                  <a:lnTo>
                    <a:pt x="232478" y="6261"/>
                  </a:lnTo>
                  <a:lnTo>
                    <a:pt x="276352" y="23932"/>
                  </a:lnTo>
                  <a:lnTo>
                    <a:pt x="313515" y="51339"/>
                  </a:lnTo>
                  <a:lnTo>
                    <a:pt x="342222" y="86811"/>
                  </a:lnTo>
                  <a:lnTo>
                    <a:pt x="360727" y="128675"/>
                  </a:lnTo>
                  <a:lnTo>
                    <a:pt x="367284" y="175260"/>
                  </a:lnTo>
                  <a:lnTo>
                    <a:pt x="360727" y="221844"/>
                  </a:lnTo>
                  <a:lnTo>
                    <a:pt x="342222" y="263708"/>
                  </a:lnTo>
                  <a:lnTo>
                    <a:pt x="313515" y="299180"/>
                  </a:lnTo>
                  <a:lnTo>
                    <a:pt x="276352" y="326587"/>
                  </a:lnTo>
                  <a:lnTo>
                    <a:pt x="232478" y="344258"/>
                  </a:lnTo>
                  <a:lnTo>
                    <a:pt x="183642" y="350520"/>
                  </a:lnTo>
                  <a:lnTo>
                    <a:pt x="134805" y="344258"/>
                  </a:lnTo>
                  <a:lnTo>
                    <a:pt x="90932" y="326587"/>
                  </a:lnTo>
                  <a:lnTo>
                    <a:pt x="53768" y="299180"/>
                  </a:lnTo>
                  <a:lnTo>
                    <a:pt x="25061" y="263708"/>
                  </a:lnTo>
                  <a:lnTo>
                    <a:pt x="6556" y="221844"/>
                  </a:lnTo>
                  <a:lnTo>
                    <a:pt x="0" y="175260"/>
                  </a:lnTo>
                  <a:close/>
                </a:path>
              </a:pathLst>
            </a:custGeom>
            <a:ln w="12192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91" name="object 9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911083" y="3587496"/>
              <a:ext cx="254507" cy="254508"/>
            </a:xfrm>
            <a:prstGeom prst="rect">
              <a:avLst/>
            </a:prstGeom>
          </p:spPr>
        </p:pic>
      </p:grpSp>
      <p:sp>
        <p:nvSpPr>
          <p:cNvPr id="92" name="object 92"/>
          <p:cNvSpPr txBox="1"/>
          <p:nvPr/>
        </p:nvSpPr>
        <p:spPr>
          <a:xfrm>
            <a:off x="8271762" y="4124771"/>
            <a:ext cx="69151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+mj-lt"/>
                <a:cs typeface="Calibri"/>
              </a:rPr>
              <a:t>Cloud</a:t>
            </a:r>
            <a:r>
              <a:rPr sz="900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+mj-lt"/>
                <a:cs typeface="Calibri"/>
              </a:rPr>
              <a:t>Security</a:t>
            </a:r>
            <a:endParaRPr sz="900" dirty="0">
              <a:latin typeface="+mj-lt"/>
              <a:cs typeface="Calibr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7831835" y="4082796"/>
            <a:ext cx="367665" cy="350520"/>
          </a:xfrm>
          <a:custGeom>
            <a:avLst/>
            <a:gdLst/>
            <a:ahLst/>
            <a:cxnLst/>
            <a:rect l="l" t="t" r="r" b="b"/>
            <a:pathLst>
              <a:path w="367665" h="350520">
                <a:moveTo>
                  <a:pt x="0" y="175259"/>
                </a:moveTo>
                <a:lnTo>
                  <a:pt x="6556" y="128666"/>
                </a:lnTo>
                <a:lnTo>
                  <a:pt x="25061" y="86800"/>
                </a:lnTo>
                <a:lnTo>
                  <a:pt x="53768" y="51330"/>
                </a:lnTo>
                <a:lnTo>
                  <a:pt x="90931" y="23926"/>
                </a:lnTo>
                <a:lnTo>
                  <a:pt x="134805" y="6260"/>
                </a:lnTo>
                <a:lnTo>
                  <a:pt x="183642" y="0"/>
                </a:lnTo>
                <a:lnTo>
                  <a:pt x="232478" y="6260"/>
                </a:lnTo>
                <a:lnTo>
                  <a:pt x="276352" y="23926"/>
                </a:lnTo>
                <a:lnTo>
                  <a:pt x="313515" y="51330"/>
                </a:lnTo>
                <a:lnTo>
                  <a:pt x="342222" y="86800"/>
                </a:lnTo>
                <a:lnTo>
                  <a:pt x="360727" y="128666"/>
                </a:lnTo>
                <a:lnTo>
                  <a:pt x="367284" y="175259"/>
                </a:lnTo>
                <a:lnTo>
                  <a:pt x="360727" y="221853"/>
                </a:lnTo>
                <a:lnTo>
                  <a:pt x="342222" y="263719"/>
                </a:lnTo>
                <a:lnTo>
                  <a:pt x="313515" y="299189"/>
                </a:lnTo>
                <a:lnTo>
                  <a:pt x="276352" y="326593"/>
                </a:lnTo>
                <a:lnTo>
                  <a:pt x="232478" y="344259"/>
                </a:lnTo>
                <a:lnTo>
                  <a:pt x="183642" y="350519"/>
                </a:lnTo>
                <a:lnTo>
                  <a:pt x="134805" y="344259"/>
                </a:lnTo>
                <a:lnTo>
                  <a:pt x="90932" y="326593"/>
                </a:lnTo>
                <a:lnTo>
                  <a:pt x="53768" y="299189"/>
                </a:lnTo>
                <a:lnTo>
                  <a:pt x="25061" y="263719"/>
                </a:lnTo>
                <a:lnTo>
                  <a:pt x="6556" y="221853"/>
                </a:lnTo>
                <a:lnTo>
                  <a:pt x="0" y="175259"/>
                </a:lnTo>
                <a:close/>
              </a:path>
            </a:pathLst>
          </a:custGeom>
          <a:ln w="12192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95" name="object 95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  <p:sp>
        <p:nvSpPr>
          <p:cNvPr id="96" name="object 2">
            <a:extLst>
              <a:ext uri="{FF2B5EF4-FFF2-40B4-BE49-F238E27FC236}">
                <a16:creationId xmlns:a16="http://schemas.microsoft.com/office/drawing/2014/main" id="{ADD4453C-EE74-FB74-BCC9-CB85E0307138}"/>
              </a:ext>
            </a:extLst>
          </p:cNvPr>
          <p:cNvSpPr txBox="1">
            <a:spLocks/>
          </p:cNvSpPr>
          <p:nvPr/>
        </p:nvSpPr>
        <p:spPr>
          <a:xfrm>
            <a:off x="0" y="98266"/>
            <a:ext cx="7503668" cy="43710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0" rIns="0" bIns="0" rtlCol="0" anchor="ctr">
            <a:spAutoFit/>
          </a:bodyPr>
          <a:lstStyle>
            <a:lvl1pPr>
              <a:defRPr sz="2800" b="1" i="0">
                <a:solidFill>
                  <a:srgbClr val="009900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l">
              <a:lnSpc>
                <a:spcPts val="3675"/>
              </a:lnSpc>
              <a:spcBef>
                <a:spcPts val="105"/>
              </a:spcBef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  We</a:t>
            </a:r>
            <a:r>
              <a:rPr lang="en-US" sz="2400" spc="-9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power</a:t>
            </a:r>
            <a:r>
              <a:rPr lang="en-US" sz="2400" spc="-85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digital</a:t>
            </a:r>
            <a:r>
              <a:rPr lang="en-US" sz="2400" spc="-105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experiences</a:t>
            </a:r>
            <a:r>
              <a:rPr lang="en-US" sz="2400" spc="-9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for</a:t>
            </a:r>
            <a:r>
              <a:rPr lang="en-US" sz="2400" spc="-9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 spc="-10" dirty="0">
                <a:solidFill>
                  <a:schemeClr val="bg1"/>
                </a:solidFill>
                <a:latin typeface="+mj-lt"/>
              </a:rPr>
              <a:t>clients</a:t>
            </a: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95827"/>
            <a:ext cx="7620000" cy="38151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</a:pPr>
            <a:r>
              <a:rPr lang="en-US" sz="2400" spc="-10" dirty="0">
                <a:solidFill>
                  <a:schemeClr val="bg1"/>
                </a:solidFill>
                <a:latin typeface="+mj-lt"/>
              </a:rPr>
              <a:t> 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E-</a:t>
            </a:r>
            <a:r>
              <a:rPr sz="2400" dirty="0">
                <a:solidFill>
                  <a:schemeClr val="bg1"/>
                </a:solidFill>
                <a:latin typeface="+mj-lt"/>
              </a:rPr>
              <a:t>Governance</a:t>
            </a:r>
            <a:r>
              <a:rPr sz="2400" spc="-13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Solutions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5539" y="654819"/>
            <a:ext cx="3191255" cy="22149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9909" y="2477978"/>
            <a:ext cx="3049091" cy="2420620"/>
            <a:chOff x="422148" y="2561844"/>
            <a:chExt cx="3302635" cy="24206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148" y="2561844"/>
              <a:ext cx="3302508" cy="24201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440" y="2595372"/>
              <a:ext cx="2540508" cy="225704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8056" y="2587752"/>
              <a:ext cx="3195955" cy="2313940"/>
            </a:xfrm>
            <a:custGeom>
              <a:avLst/>
              <a:gdLst/>
              <a:ahLst/>
              <a:cxnLst/>
              <a:rect l="l" t="t" r="r" b="b"/>
              <a:pathLst>
                <a:path w="3195954" h="2313940">
                  <a:moveTo>
                    <a:pt x="3056636" y="0"/>
                  </a:moveTo>
                  <a:lnTo>
                    <a:pt x="139217" y="0"/>
                  </a:lnTo>
                  <a:lnTo>
                    <a:pt x="95214" y="7099"/>
                  </a:lnTo>
                  <a:lnTo>
                    <a:pt x="56998" y="26867"/>
                  </a:lnTo>
                  <a:lnTo>
                    <a:pt x="26861" y="57003"/>
                  </a:lnTo>
                  <a:lnTo>
                    <a:pt x="7097" y="95211"/>
                  </a:lnTo>
                  <a:lnTo>
                    <a:pt x="0" y="139192"/>
                  </a:lnTo>
                  <a:lnTo>
                    <a:pt x="0" y="2174201"/>
                  </a:lnTo>
                  <a:lnTo>
                    <a:pt x="7097" y="2218210"/>
                  </a:lnTo>
                  <a:lnTo>
                    <a:pt x="26861" y="2256431"/>
                  </a:lnTo>
                  <a:lnTo>
                    <a:pt x="56998" y="2286569"/>
                  </a:lnTo>
                  <a:lnTo>
                    <a:pt x="95214" y="2306334"/>
                  </a:lnTo>
                  <a:lnTo>
                    <a:pt x="139217" y="2313432"/>
                  </a:lnTo>
                  <a:lnTo>
                    <a:pt x="3056636" y="2313432"/>
                  </a:lnTo>
                  <a:lnTo>
                    <a:pt x="3100616" y="2306334"/>
                  </a:lnTo>
                  <a:lnTo>
                    <a:pt x="3138824" y="2286569"/>
                  </a:lnTo>
                  <a:lnTo>
                    <a:pt x="3168960" y="2256431"/>
                  </a:lnTo>
                  <a:lnTo>
                    <a:pt x="3188728" y="2218210"/>
                  </a:lnTo>
                  <a:lnTo>
                    <a:pt x="3195828" y="2174201"/>
                  </a:lnTo>
                  <a:lnTo>
                    <a:pt x="3195828" y="139192"/>
                  </a:lnTo>
                  <a:lnTo>
                    <a:pt x="3188728" y="95211"/>
                  </a:lnTo>
                  <a:lnTo>
                    <a:pt x="3168960" y="57003"/>
                  </a:lnTo>
                  <a:lnTo>
                    <a:pt x="3138824" y="26867"/>
                  </a:lnTo>
                  <a:lnTo>
                    <a:pt x="3100616" y="7099"/>
                  </a:lnTo>
                  <a:lnTo>
                    <a:pt x="3056636" y="0"/>
                  </a:lnTo>
                  <a:close/>
                </a:path>
              </a:pathLst>
            </a:custGeom>
            <a:solidFill>
              <a:srgbClr val="D24280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7310" y="2830857"/>
            <a:ext cx="2312035" cy="195502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2875" indent="-130175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142875" algn="l"/>
              </a:tabLst>
            </a:pP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Land</a:t>
            </a:r>
            <a:r>
              <a:rPr sz="900" b="1" spc="4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Records</a:t>
            </a:r>
            <a:r>
              <a:rPr sz="900" b="1" spc="4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+mj-lt"/>
                <a:cs typeface="Trebuchet MS"/>
              </a:rPr>
              <a:t>Computerization</a:t>
            </a:r>
            <a:endParaRPr sz="900" dirty="0">
              <a:latin typeface="+mj-lt"/>
              <a:cs typeface="Trebuchet MS"/>
            </a:endParaRPr>
          </a:p>
          <a:p>
            <a:pPr marL="142875" indent="-13017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142875" algn="l"/>
              </a:tabLst>
            </a:pP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Registration</a:t>
            </a:r>
            <a:r>
              <a:rPr sz="900" b="1" spc="9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+mj-lt"/>
                <a:cs typeface="Trebuchet MS"/>
              </a:rPr>
              <a:t>Solutions</a:t>
            </a:r>
            <a:endParaRPr sz="900" dirty="0">
              <a:latin typeface="+mj-lt"/>
              <a:cs typeface="Trebuchet MS"/>
            </a:endParaRPr>
          </a:p>
          <a:p>
            <a:pPr marL="142875" indent="-13017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142875" algn="l"/>
              </a:tabLst>
            </a:pP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Transport</a:t>
            </a:r>
            <a:r>
              <a:rPr sz="900" b="1" spc="5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+mj-lt"/>
                <a:cs typeface="Trebuchet MS"/>
              </a:rPr>
              <a:t>Solutions</a:t>
            </a:r>
            <a:endParaRPr sz="900" dirty="0">
              <a:latin typeface="+mj-lt"/>
              <a:cs typeface="Trebuchet MS"/>
            </a:endParaRPr>
          </a:p>
          <a:p>
            <a:pPr marL="142875" indent="-13017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142875" algn="l"/>
              </a:tabLst>
            </a:pP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e-District,</a:t>
            </a:r>
            <a:r>
              <a:rPr sz="900" b="1" spc="3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ULB</a:t>
            </a:r>
            <a:r>
              <a:rPr sz="900" b="1" spc="4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&amp;</a:t>
            </a:r>
            <a:r>
              <a:rPr sz="900" b="1" spc="5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+mj-lt"/>
                <a:cs typeface="Trebuchet MS"/>
              </a:rPr>
              <a:t>Municipality</a:t>
            </a:r>
            <a:endParaRPr sz="900" dirty="0">
              <a:latin typeface="+mj-lt"/>
              <a:cs typeface="Trebuchet MS"/>
            </a:endParaRPr>
          </a:p>
          <a:p>
            <a:pPr marL="142875" indent="-13017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142875" algn="l"/>
              </a:tabLst>
            </a:pP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Digitization</a:t>
            </a:r>
            <a:r>
              <a:rPr sz="900" b="1" spc="4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&amp;</a:t>
            </a:r>
            <a:r>
              <a:rPr sz="900" b="1" spc="7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+mj-lt"/>
                <a:cs typeface="Trebuchet MS"/>
              </a:rPr>
              <a:t>Archiving</a:t>
            </a:r>
            <a:endParaRPr sz="900" dirty="0">
              <a:latin typeface="+mj-lt"/>
              <a:cs typeface="Trebuchet MS"/>
            </a:endParaRPr>
          </a:p>
          <a:p>
            <a:pPr marL="142875" indent="-13017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142875" algn="l"/>
              </a:tabLst>
            </a:pP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Urban</a:t>
            </a:r>
            <a:r>
              <a:rPr sz="900" b="1" spc="4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&amp;</a:t>
            </a:r>
            <a:r>
              <a:rPr sz="900" b="1" spc="4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Rural</a:t>
            </a:r>
            <a:r>
              <a:rPr sz="900" b="1" spc="4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Citizen</a:t>
            </a:r>
            <a:r>
              <a:rPr sz="900" b="1" spc="4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Services</a:t>
            </a:r>
            <a:r>
              <a:rPr sz="900" b="1" spc="4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+mj-lt"/>
                <a:cs typeface="Trebuchet MS"/>
              </a:rPr>
              <a:t>(CSC)</a:t>
            </a:r>
            <a:endParaRPr sz="900" dirty="0">
              <a:latin typeface="+mj-lt"/>
              <a:cs typeface="Trebuchet MS"/>
            </a:endParaRPr>
          </a:p>
          <a:p>
            <a:pPr marL="142875" indent="-13017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142875" algn="l"/>
              </a:tabLst>
            </a:pP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Financial</a:t>
            </a:r>
            <a:r>
              <a:rPr sz="900" b="1" spc="6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Inclusion,</a:t>
            </a:r>
            <a:r>
              <a:rPr sz="900" b="1" spc="7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+mj-lt"/>
                <a:cs typeface="Trebuchet MS"/>
              </a:rPr>
              <a:t>UID</a:t>
            </a:r>
            <a:endParaRPr sz="900" dirty="0">
              <a:latin typeface="+mj-lt"/>
              <a:cs typeface="Trebuchet MS"/>
            </a:endParaRPr>
          </a:p>
          <a:p>
            <a:pPr marL="142875" indent="-13017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142875" algn="l"/>
              </a:tabLst>
            </a:pP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B2C</a:t>
            </a:r>
            <a:r>
              <a:rPr sz="900" b="1" spc="2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+mj-lt"/>
                <a:cs typeface="Trebuchet MS"/>
              </a:rPr>
              <a:t>Services</a:t>
            </a:r>
            <a:endParaRPr sz="900" dirty="0">
              <a:latin typeface="+mj-lt"/>
              <a:cs typeface="Trebuchet MS"/>
            </a:endParaRPr>
          </a:p>
          <a:p>
            <a:pPr marL="142875" indent="-13017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42875" algn="l"/>
              </a:tabLst>
            </a:pP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Systems</a:t>
            </a:r>
            <a:r>
              <a:rPr sz="900" b="1" spc="7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Integration,</a:t>
            </a:r>
            <a:r>
              <a:rPr sz="900" b="1" spc="6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Application</a:t>
            </a:r>
            <a:r>
              <a:rPr sz="900" b="1" spc="6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+mj-lt"/>
                <a:cs typeface="Trebuchet MS"/>
              </a:rPr>
              <a:t>integration</a:t>
            </a:r>
            <a:endParaRPr sz="900" dirty="0">
              <a:latin typeface="+mj-lt"/>
              <a:cs typeface="Trebuchet MS"/>
            </a:endParaRPr>
          </a:p>
          <a:p>
            <a:pPr marL="142875" indent="-13017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42875" algn="l"/>
              </a:tabLst>
            </a:pP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Software</a:t>
            </a:r>
            <a:r>
              <a:rPr sz="900" b="1" spc="9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Development,</a:t>
            </a:r>
            <a:r>
              <a:rPr sz="900" b="1" spc="7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+mj-lt"/>
                <a:cs typeface="Trebuchet MS"/>
              </a:rPr>
              <a:t>Customisation</a:t>
            </a:r>
            <a:endParaRPr sz="900" dirty="0">
              <a:latin typeface="+mj-lt"/>
              <a:cs typeface="Trebuchet MS"/>
            </a:endParaRPr>
          </a:p>
          <a:p>
            <a:pPr marL="142875" indent="-13017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42875" algn="l"/>
              </a:tabLst>
            </a:pP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Portal</a:t>
            </a:r>
            <a:r>
              <a:rPr sz="900" b="1" spc="5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Development,</a:t>
            </a:r>
            <a:r>
              <a:rPr sz="900" b="1" spc="3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Data</a:t>
            </a:r>
            <a:r>
              <a:rPr sz="900" b="1" spc="6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Center</a:t>
            </a:r>
            <a:r>
              <a:rPr sz="900" b="1" spc="3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&amp;</a:t>
            </a:r>
            <a:r>
              <a:rPr sz="900" b="1" spc="7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+mj-lt"/>
                <a:cs typeface="Trebuchet MS"/>
              </a:rPr>
              <a:t>DR</a:t>
            </a:r>
            <a:endParaRPr sz="900" dirty="0">
              <a:latin typeface="+mj-lt"/>
              <a:cs typeface="Trebuchet MS"/>
            </a:endParaRPr>
          </a:p>
          <a:p>
            <a:pPr marL="142875" indent="-13017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42875" algn="l"/>
              </a:tabLst>
            </a:pP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Build,</a:t>
            </a:r>
            <a:r>
              <a:rPr sz="900" b="1" spc="2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Operate</a:t>
            </a:r>
            <a:r>
              <a:rPr sz="900" b="1" spc="2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&amp;</a:t>
            </a:r>
            <a:r>
              <a:rPr sz="900" b="1" spc="6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Maintain</a:t>
            </a:r>
            <a:r>
              <a:rPr sz="900" b="1" spc="3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IT</a:t>
            </a:r>
            <a:r>
              <a:rPr sz="900" b="1" spc="4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+mj-lt"/>
                <a:cs typeface="Trebuchet MS"/>
              </a:rPr>
              <a:t>applications</a:t>
            </a:r>
            <a:endParaRPr sz="900" dirty="0">
              <a:latin typeface="+mj-lt"/>
              <a:cs typeface="Trebuchet MS"/>
            </a:endParaRPr>
          </a:p>
          <a:p>
            <a:pPr marL="142875" indent="-13017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42875" algn="l"/>
              </a:tabLst>
            </a:pP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Security</a:t>
            </a:r>
            <a:r>
              <a:rPr sz="900" b="1" spc="6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&amp;</a:t>
            </a:r>
            <a:r>
              <a:rPr sz="900" b="1" spc="7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Infrastructure</a:t>
            </a:r>
            <a:r>
              <a:rPr sz="900" b="1" spc="3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+mj-lt"/>
                <a:cs typeface="Trebuchet MS"/>
              </a:rPr>
              <a:t>management</a:t>
            </a:r>
            <a:endParaRPr sz="900" dirty="0">
              <a:latin typeface="+mj-lt"/>
              <a:cs typeface="Trebuchet MS"/>
            </a:endParaRPr>
          </a:p>
          <a:p>
            <a:pPr marL="142875" indent="-13017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42875" algn="l"/>
              </a:tabLst>
            </a:pP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Help</a:t>
            </a:r>
            <a:r>
              <a:rPr sz="900" b="1" spc="3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dirty="0">
                <a:solidFill>
                  <a:srgbClr val="FFFFFF"/>
                </a:solidFill>
                <a:latin typeface="+mj-lt"/>
                <a:cs typeface="Trebuchet MS"/>
              </a:rPr>
              <a:t>Desk</a:t>
            </a:r>
            <a:r>
              <a:rPr sz="900" b="1" spc="1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+mj-lt"/>
                <a:cs typeface="Trebuchet MS"/>
              </a:rPr>
              <a:t>Services</a:t>
            </a:r>
            <a:endParaRPr sz="900" dirty="0">
              <a:latin typeface="+mj-lt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89853" y="2906748"/>
            <a:ext cx="4512945" cy="1991342"/>
            <a:chOff x="4012691" y="2561844"/>
            <a:chExt cx="4512945" cy="242062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12691" y="2561844"/>
              <a:ext cx="4512564" cy="24201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2983" y="2729484"/>
              <a:ext cx="2301240" cy="199339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38599" y="2587752"/>
              <a:ext cx="4406265" cy="2313940"/>
            </a:xfrm>
            <a:custGeom>
              <a:avLst/>
              <a:gdLst/>
              <a:ahLst/>
              <a:cxnLst/>
              <a:rect l="l" t="t" r="r" b="b"/>
              <a:pathLst>
                <a:path w="4406265" h="2313940">
                  <a:moveTo>
                    <a:pt x="4266692" y="0"/>
                  </a:moveTo>
                  <a:lnTo>
                    <a:pt x="139192" y="0"/>
                  </a:lnTo>
                  <a:lnTo>
                    <a:pt x="95211" y="7099"/>
                  </a:lnTo>
                  <a:lnTo>
                    <a:pt x="57003" y="26867"/>
                  </a:lnTo>
                  <a:lnTo>
                    <a:pt x="26867" y="57003"/>
                  </a:lnTo>
                  <a:lnTo>
                    <a:pt x="7099" y="95211"/>
                  </a:lnTo>
                  <a:lnTo>
                    <a:pt x="0" y="139192"/>
                  </a:lnTo>
                  <a:lnTo>
                    <a:pt x="0" y="2174214"/>
                  </a:lnTo>
                  <a:lnTo>
                    <a:pt x="7099" y="2218217"/>
                  </a:lnTo>
                  <a:lnTo>
                    <a:pt x="26867" y="2256433"/>
                  </a:lnTo>
                  <a:lnTo>
                    <a:pt x="57003" y="2286570"/>
                  </a:lnTo>
                  <a:lnTo>
                    <a:pt x="95211" y="2306334"/>
                  </a:lnTo>
                  <a:lnTo>
                    <a:pt x="139192" y="2313432"/>
                  </a:lnTo>
                  <a:lnTo>
                    <a:pt x="4266692" y="2313432"/>
                  </a:lnTo>
                  <a:lnTo>
                    <a:pt x="4310672" y="2306334"/>
                  </a:lnTo>
                  <a:lnTo>
                    <a:pt x="4348880" y="2286570"/>
                  </a:lnTo>
                  <a:lnTo>
                    <a:pt x="4379016" y="2256433"/>
                  </a:lnTo>
                  <a:lnTo>
                    <a:pt x="4398784" y="2218217"/>
                  </a:lnTo>
                  <a:lnTo>
                    <a:pt x="4405884" y="2174214"/>
                  </a:lnTo>
                  <a:lnTo>
                    <a:pt x="4405884" y="139192"/>
                  </a:lnTo>
                  <a:lnTo>
                    <a:pt x="4398784" y="95211"/>
                  </a:lnTo>
                  <a:lnTo>
                    <a:pt x="4379016" y="57003"/>
                  </a:lnTo>
                  <a:lnTo>
                    <a:pt x="4348880" y="26867"/>
                  </a:lnTo>
                  <a:lnTo>
                    <a:pt x="4310672" y="7099"/>
                  </a:lnTo>
                  <a:lnTo>
                    <a:pt x="4266692" y="0"/>
                  </a:lnTo>
                  <a:close/>
                </a:path>
              </a:pathLst>
            </a:custGeom>
            <a:solidFill>
              <a:srgbClr val="964F8E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34264" y="567552"/>
            <a:ext cx="5121275" cy="1828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Our</a:t>
            </a:r>
            <a:r>
              <a:rPr sz="1200" b="1" spc="-2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ICT</a:t>
            </a:r>
            <a:r>
              <a:rPr sz="1200" b="1" spc="-35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projects</a:t>
            </a:r>
            <a:r>
              <a:rPr sz="1200" b="1" spc="-55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have</a:t>
            </a:r>
            <a:r>
              <a:rPr sz="1200" b="1" spc="-2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created</a:t>
            </a:r>
            <a:r>
              <a:rPr sz="1200" b="1" spc="-25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thousands</a:t>
            </a:r>
            <a:r>
              <a:rPr sz="1200" b="1" spc="-3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of</a:t>
            </a:r>
            <a:r>
              <a:rPr sz="1200" b="1" spc="-4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employment</a:t>
            </a:r>
            <a:r>
              <a:rPr sz="1200" b="1" spc="-2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spc="-1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opportunities,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facilitated</a:t>
            </a:r>
            <a:r>
              <a:rPr sz="1200" b="1" spc="-45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the</a:t>
            </a:r>
            <a:r>
              <a:rPr sz="1200" b="1" spc="-4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implementation</a:t>
            </a:r>
            <a:r>
              <a:rPr sz="1200" b="1" spc="-25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of</a:t>
            </a:r>
            <a:r>
              <a:rPr sz="1200" b="1" spc="-6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various</a:t>
            </a:r>
            <a:r>
              <a:rPr sz="1200" b="1" spc="-6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government</a:t>
            </a:r>
            <a:r>
              <a:rPr sz="1200" b="1" spc="-3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policies</a:t>
            </a:r>
            <a:r>
              <a:rPr sz="1200" b="1" spc="-3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spc="-25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and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brought</a:t>
            </a:r>
            <a:r>
              <a:rPr sz="1200" b="1" spc="-25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in</a:t>
            </a:r>
            <a:r>
              <a:rPr sz="1200" b="1" spc="-1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large</a:t>
            </a:r>
            <a:r>
              <a:rPr sz="1200" b="1" spc="-3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numbers of</a:t>
            </a:r>
            <a:r>
              <a:rPr sz="1200" b="1" spc="-4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citizens</a:t>
            </a:r>
            <a:r>
              <a:rPr sz="1200" b="1" spc="-2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into</a:t>
            </a:r>
            <a:r>
              <a:rPr sz="1200" b="1" spc="-2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the</a:t>
            </a:r>
            <a:r>
              <a:rPr sz="1200" b="1" spc="-35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formal</a:t>
            </a:r>
            <a:r>
              <a:rPr sz="1200" b="1" spc="-3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 </a:t>
            </a:r>
            <a:r>
              <a:rPr sz="1200" b="1" spc="-10" dirty="0">
                <a:solidFill>
                  <a:schemeClr val="accent1">
                    <a:lumMod val="50000"/>
                  </a:schemeClr>
                </a:solidFill>
                <a:latin typeface="+mj-lt"/>
                <a:cs typeface="Trebuchet MS"/>
              </a:rPr>
              <a:t>economy.</a:t>
            </a:r>
            <a:endParaRPr sz="1200" dirty="0">
              <a:solidFill>
                <a:schemeClr val="accent1">
                  <a:lumMod val="50000"/>
                </a:schemeClr>
              </a:solidFill>
              <a:latin typeface="+mj-lt"/>
              <a:cs typeface="Trebuchet MS"/>
            </a:endParaRPr>
          </a:p>
          <a:p>
            <a:pPr marL="227329" indent="-214629">
              <a:lnSpc>
                <a:spcPct val="100000"/>
              </a:lnSpc>
              <a:spcBef>
                <a:spcPts val="1150"/>
              </a:spcBef>
              <a:buFont typeface="Arial"/>
              <a:buChar char="•"/>
              <a:tabLst>
                <a:tab pos="227329" algn="l"/>
              </a:tabLst>
            </a:pPr>
            <a:r>
              <a:rPr sz="1200" dirty="0">
                <a:latin typeface="+mj-lt"/>
                <a:cs typeface="Trebuchet MS"/>
              </a:rPr>
              <a:t>Leaders</a:t>
            </a:r>
            <a:r>
              <a:rPr sz="1200" spc="-35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&amp; pioneers</a:t>
            </a:r>
            <a:r>
              <a:rPr sz="1200" spc="-45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in</a:t>
            </a:r>
            <a:r>
              <a:rPr sz="1200" spc="-15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E-</a:t>
            </a:r>
            <a:r>
              <a:rPr sz="1200" spc="-10" dirty="0">
                <a:latin typeface="+mj-lt"/>
                <a:cs typeface="Trebuchet MS"/>
              </a:rPr>
              <a:t>Governance</a:t>
            </a:r>
            <a:r>
              <a:rPr sz="1200" spc="-45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with</a:t>
            </a:r>
            <a:r>
              <a:rPr sz="1200" spc="-25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30+</a:t>
            </a:r>
            <a:r>
              <a:rPr sz="1200" spc="-1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years</a:t>
            </a:r>
            <a:r>
              <a:rPr sz="1200" spc="-2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of </a:t>
            </a:r>
            <a:r>
              <a:rPr sz="1200" spc="-10" dirty="0">
                <a:latin typeface="+mj-lt"/>
                <a:cs typeface="Trebuchet MS"/>
              </a:rPr>
              <a:t>experience.</a:t>
            </a:r>
            <a:endParaRPr sz="1200" dirty="0">
              <a:latin typeface="+mj-lt"/>
              <a:cs typeface="Trebuchet MS"/>
            </a:endParaRPr>
          </a:p>
          <a:p>
            <a:pPr marL="227329" marR="207645" indent="-215265">
              <a:lnSpc>
                <a:spcPct val="100000"/>
              </a:lnSpc>
              <a:buFont typeface="Arial"/>
              <a:buChar char="•"/>
              <a:tabLst>
                <a:tab pos="227329" algn="l"/>
              </a:tabLst>
            </a:pPr>
            <a:r>
              <a:rPr sz="1200" dirty="0">
                <a:latin typeface="+mj-lt"/>
                <a:cs typeface="Trebuchet MS"/>
              </a:rPr>
              <a:t>Citizen</a:t>
            </a:r>
            <a:r>
              <a:rPr sz="1200" spc="-3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Services</a:t>
            </a:r>
            <a:r>
              <a:rPr sz="1200" spc="-6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delivered</a:t>
            </a:r>
            <a:r>
              <a:rPr sz="1200" spc="-65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to</a:t>
            </a:r>
            <a:r>
              <a:rPr sz="1200" spc="-2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the</a:t>
            </a:r>
            <a:r>
              <a:rPr sz="1200" spc="-4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last</a:t>
            </a:r>
            <a:r>
              <a:rPr sz="1200" spc="-2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mile.</a:t>
            </a:r>
            <a:r>
              <a:rPr sz="1200" spc="-35" dirty="0">
                <a:latin typeface="+mj-lt"/>
                <a:cs typeface="Trebuchet MS"/>
              </a:rPr>
              <a:t> </a:t>
            </a:r>
            <a:r>
              <a:rPr sz="1200" spc="-10" dirty="0">
                <a:latin typeface="+mj-lt"/>
                <a:cs typeface="Trebuchet MS"/>
              </a:rPr>
              <a:t>Presence</a:t>
            </a:r>
            <a:r>
              <a:rPr sz="1200" spc="-5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across</a:t>
            </a:r>
            <a:r>
              <a:rPr sz="1200" spc="-30" dirty="0">
                <a:latin typeface="+mj-lt"/>
                <a:cs typeface="Trebuchet MS"/>
              </a:rPr>
              <a:t> </a:t>
            </a:r>
            <a:r>
              <a:rPr sz="1200" spc="-10" dirty="0">
                <a:latin typeface="+mj-lt"/>
                <a:cs typeface="Trebuchet MS"/>
              </a:rPr>
              <a:t>100,000+ villages</a:t>
            </a:r>
            <a:endParaRPr sz="1200" dirty="0">
              <a:latin typeface="+mj-lt"/>
              <a:cs typeface="Trebuchet MS"/>
            </a:endParaRPr>
          </a:p>
          <a:p>
            <a:pPr marL="227329" indent="-214629">
              <a:lnSpc>
                <a:spcPct val="100000"/>
              </a:lnSpc>
              <a:buFont typeface="Arial"/>
              <a:buChar char="•"/>
              <a:tabLst>
                <a:tab pos="227329" algn="l"/>
              </a:tabLst>
            </a:pPr>
            <a:r>
              <a:rPr sz="1200" dirty="0">
                <a:latin typeface="+mj-lt"/>
                <a:cs typeface="Trebuchet MS"/>
              </a:rPr>
              <a:t>Facilitate</a:t>
            </a:r>
            <a:r>
              <a:rPr sz="1200" spc="-7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1.8</a:t>
            </a:r>
            <a:r>
              <a:rPr sz="1200" spc="-25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Mn</a:t>
            </a:r>
            <a:r>
              <a:rPr sz="1200" spc="-35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Electronic</a:t>
            </a:r>
            <a:r>
              <a:rPr sz="1200" spc="-5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transactions</a:t>
            </a:r>
            <a:r>
              <a:rPr sz="1200" spc="-65" dirty="0">
                <a:latin typeface="+mj-lt"/>
                <a:cs typeface="Trebuchet MS"/>
              </a:rPr>
              <a:t> </a:t>
            </a:r>
            <a:r>
              <a:rPr sz="1200" spc="-10" dirty="0">
                <a:latin typeface="+mj-lt"/>
                <a:cs typeface="Trebuchet MS"/>
              </a:rPr>
              <a:t>monthly.</a:t>
            </a:r>
            <a:endParaRPr sz="1200" dirty="0">
              <a:latin typeface="+mj-lt"/>
              <a:cs typeface="Trebuchet MS"/>
            </a:endParaRPr>
          </a:p>
          <a:p>
            <a:pPr marL="227329" indent="-2146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27329" algn="l"/>
              </a:tabLst>
            </a:pPr>
            <a:r>
              <a:rPr sz="1200" dirty="0">
                <a:latin typeface="+mj-lt"/>
                <a:cs typeface="Trebuchet MS"/>
              </a:rPr>
              <a:t>Expertise</a:t>
            </a:r>
            <a:r>
              <a:rPr sz="1200" spc="-6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across</a:t>
            </a:r>
            <a:r>
              <a:rPr sz="1200" spc="-35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various</a:t>
            </a:r>
            <a:r>
              <a:rPr sz="1200" spc="-6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financial</a:t>
            </a:r>
            <a:r>
              <a:rPr sz="1200" spc="-7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models,</a:t>
            </a:r>
            <a:r>
              <a:rPr sz="1200" spc="-3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Operations</a:t>
            </a:r>
            <a:r>
              <a:rPr sz="1200" spc="-7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&amp;</a:t>
            </a:r>
            <a:r>
              <a:rPr sz="1200" spc="-25" dirty="0">
                <a:latin typeface="+mj-lt"/>
                <a:cs typeface="Trebuchet MS"/>
              </a:rPr>
              <a:t> </a:t>
            </a:r>
            <a:r>
              <a:rPr sz="1200" spc="-10" dirty="0">
                <a:latin typeface="+mj-lt"/>
                <a:cs typeface="Trebuchet MS"/>
              </a:rPr>
              <a:t>Management</a:t>
            </a:r>
            <a:endParaRPr sz="1200" dirty="0">
              <a:latin typeface="+mj-lt"/>
              <a:cs typeface="Trebuchet MS"/>
            </a:endParaRPr>
          </a:p>
          <a:p>
            <a:pPr marL="227329" marR="234950" indent="-215265">
              <a:lnSpc>
                <a:spcPct val="100000"/>
              </a:lnSpc>
              <a:buFont typeface="Arial"/>
              <a:buChar char="•"/>
              <a:tabLst>
                <a:tab pos="227329" algn="l"/>
              </a:tabLst>
            </a:pPr>
            <a:r>
              <a:rPr sz="1200" dirty="0">
                <a:latin typeface="+mj-lt"/>
                <a:cs typeface="Trebuchet MS"/>
              </a:rPr>
              <a:t>Supports</a:t>
            </a:r>
            <a:r>
              <a:rPr sz="1200" spc="-55" dirty="0">
                <a:latin typeface="+mj-lt"/>
                <a:cs typeface="Trebuchet MS"/>
              </a:rPr>
              <a:t> </a:t>
            </a:r>
            <a:r>
              <a:rPr sz="1200" spc="-10" dirty="0">
                <a:latin typeface="+mj-lt"/>
                <a:cs typeface="Trebuchet MS"/>
              </a:rPr>
              <a:t>Revenue,</a:t>
            </a:r>
            <a:r>
              <a:rPr sz="1200" spc="-7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Social</a:t>
            </a:r>
            <a:r>
              <a:rPr sz="1200" spc="-2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programs,</a:t>
            </a:r>
            <a:r>
              <a:rPr sz="1200" spc="-45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Ease</a:t>
            </a:r>
            <a:r>
              <a:rPr sz="1200" spc="-45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of</a:t>
            </a:r>
            <a:r>
              <a:rPr sz="1200" spc="-2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Doing</a:t>
            </a:r>
            <a:r>
              <a:rPr sz="1200" spc="-4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business,</a:t>
            </a:r>
            <a:r>
              <a:rPr sz="1200" spc="-45" dirty="0">
                <a:latin typeface="+mj-lt"/>
                <a:cs typeface="Trebuchet MS"/>
              </a:rPr>
              <a:t> </a:t>
            </a:r>
            <a:r>
              <a:rPr sz="1200" spc="-10" dirty="0">
                <a:latin typeface="+mj-lt"/>
                <a:cs typeface="Trebuchet MS"/>
              </a:rPr>
              <a:t>Bringing </a:t>
            </a:r>
            <a:r>
              <a:rPr sz="1200" spc="-20" dirty="0">
                <a:latin typeface="+mj-lt"/>
                <a:cs typeface="Trebuchet MS"/>
              </a:rPr>
              <a:t>Transparency</a:t>
            </a:r>
            <a:r>
              <a:rPr sz="1200" spc="-4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and</a:t>
            </a:r>
            <a:r>
              <a:rPr sz="1200" spc="-3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Public</a:t>
            </a:r>
            <a:r>
              <a:rPr sz="1200" spc="-25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Safety</a:t>
            </a:r>
            <a:r>
              <a:rPr sz="1200" spc="-5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initiatives</a:t>
            </a:r>
            <a:r>
              <a:rPr sz="1200" spc="-40" dirty="0">
                <a:latin typeface="+mj-lt"/>
                <a:cs typeface="Trebuchet MS"/>
              </a:rPr>
              <a:t> </a:t>
            </a:r>
            <a:r>
              <a:rPr sz="1200" dirty="0">
                <a:latin typeface="+mj-lt"/>
                <a:cs typeface="Trebuchet MS"/>
              </a:rPr>
              <a:t>of </a:t>
            </a:r>
            <a:r>
              <a:rPr sz="1200" spc="-10" dirty="0">
                <a:latin typeface="+mj-lt"/>
                <a:cs typeface="Trebuchet MS"/>
              </a:rPr>
              <a:t>Government.</a:t>
            </a:r>
            <a:endParaRPr sz="1050" dirty="0">
              <a:latin typeface="+mj-lt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35903" y="3278479"/>
            <a:ext cx="2064385" cy="1362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0970" indent="-128270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Govt</a:t>
            </a:r>
            <a:r>
              <a:rPr sz="950" b="1" spc="2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of</a:t>
            </a:r>
            <a:r>
              <a:rPr sz="950" b="1" spc="3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+mj-lt"/>
                <a:cs typeface="Trebuchet MS"/>
              </a:rPr>
              <a:t>Karnataka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Govt</a:t>
            </a:r>
            <a:r>
              <a:rPr sz="950" b="1" spc="2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of</a:t>
            </a:r>
            <a:r>
              <a:rPr sz="950" b="1" spc="3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+mj-lt"/>
                <a:cs typeface="Trebuchet MS"/>
              </a:rPr>
              <a:t>Rajasthan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Govt</a:t>
            </a:r>
            <a:r>
              <a:rPr sz="950" b="1" spc="2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of</a:t>
            </a:r>
            <a:r>
              <a:rPr sz="950" b="1" spc="2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+mj-lt"/>
                <a:cs typeface="Trebuchet MS"/>
              </a:rPr>
              <a:t>Tamilnadu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Govt</a:t>
            </a:r>
            <a:r>
              <a:rPr sz="950" b="1" spc="3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of</a:t>
            </a:r>
            <a:r>
              <a:rPr sz="950" b="1" spc="4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Andhra</a:t>
            </a:r>
            <a:r>
              <a:rPr sz="950" b="1" spc="2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+mj-lt"/>
                <a:cs typeface="Trebuchet MS"/>
              </a:rPr>
              <a:t>Pradesh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Govt</a:t>
            </a:r>
            <a:r>
              <a:rPr sz="950" b="1" spc="2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of</a:t>
            </a:r>
            <a:r>
              <a:rPr sz="950" b="1" spc="2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+mj-lt"/>
                <a:cs typeface="Trebuchet MS"/>
              </a:rPr>
              <a:t>Maharashtra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Govt</a:t>
            </a:r>
            <a:r>
              <a:rPr sz="950" b="1" spc="2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of</a:t>
            </a:r>
            <a:r>
              <a:rPr sz="950" b="1" spc="3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Uttar</a:t>
            </a:r>
            <a:r>
              <a:rPr sz="950" b="1" spc="4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+mj-lt"/>
                <a:cs typeface="Trebuchet MS"/>
              </a:rPr>
              <a:t>Pradesh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Electronic</a:t>
            </a:r>
            <a:r>
              <a:rPr sz="950" b="1" spc="3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Corp</a:t>
            </a:r>
            <a:r>
              <a:rPr sz="950" b="1" spc="3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of</a:t>
            </a:r>
            <a:r>
              <a:rPr sz="950" b="1" spc="5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25" dirty="0">
                <a:solidFill>
                  <a:srgbClr val="FFFFFF"/>
                </a:solidFill>
                <a:latin typeface="+mj-lt"/>
                <a:cs typeface="Trebuchet MS"/>
              </a:rPr>
              <a:t>TN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Regional</a:t>
            </a:r>
            <a:r>
              <a:rPr sz="950" b="1" spc="7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Transport</a:t>
            </a:r>
            <a:r>
              <a:rPr sz="950" b="1" spc="7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Auth,</a:t>
            </a:r>
            <a:r>
              <a:rPr sz="950" b="1" spc="5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25" dirty="0">
                <a:solidFill>
                  <a:srgbClr val="FFFFFF"/>
                </a:solidFill>
                <a:latin typeface="+mj-lt"/>
                <a:cs typeface="Trebuchet MS"/>
              </a:rPr>
              <a:t>AP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WB</a:t>
            </a:r>
            <a:r>
              <a:rPr sz="950" b="1" spc="3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IG</a:t>
            </a:r>
            <a:r>
              <a:rPr sz="950" b="1" spc="3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Registrations,</a:t>
            </a:r>
            <a:r>
              <a:rPr sz="950" b="1" spc="7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West</a:t>
            </a:r>
            <a:r>
              <a:rPr sz="950" b="1" spc="4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+mj-lt"/>
                <a:cs typeface="Trebuchet MS"/>
              </a:rPr>
              <a:t>Bengal</a:t>
            </a:r>
            <a:endParaRPr sz="950" dirty="0">
              <a:latin typeface="+mj-lt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98459" y="3275432"/>
            <a:ext cx="2019935" cy="1362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0970" indent="-128270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Employees</a:t>
            </a:r>
            <a:r>
              <a:rPr sz="950" b="1" spc="6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State</a:t>
            </a:r>
            <a:r>
              <a:rPr sz="950" b="1" spc="9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Insurance</a:t>
            </a:r>
            <a:r>
              <a:rPr sz="950" b="1" spc="8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20" dirty="0">
                <a:solidFill>
                  <a:srgbClr val="FFFFFF"/>
                </a:solidFill>
                <a:latin typeface="+mj-lt"/>
                <a:cs typeface="Trebuchet MS"/>
              </a:rPr>
              <a:t>ESIC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Punjab</a:t>
            </a:r>
            <a:r>
              <a:rPr sz="950" b="1" spc="5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Land</a:t>
            </a:r>
            <a:r>
              <a:rPr sz="950" b="1" spc="4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+mj-lt"/>
                <a:cs typeface="Trebuchet MS"/>
              </a:rPr>
              <a:t>Records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CCTNS,</a:t>
            </a:r>
            <a:r>
              <a:rPr sz="950" b="1" spc="6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+mj-lt"/>
                <a:cs typeface="Trebuchet MS"/>
              </a:rPr>
              <a:t>Rajasthan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spc="-10" dirty="0">
                <a:solidFill>
                  <a:srgbClr val="FFFFFF"/>
                </a:solidFill>
                <a:latin typeface="+mj-lt"/>
                <a:cs typeface="Trebuchet MS"/>
              </a:rPr>
              <a:t>MGNREGA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Tripura</a:t>
            </a:r>
            <a:r>
              <a:rPr sz="950" b="1" spc="6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25" dirty="0">
                <a:solidFill>
                  <a:srgbClr val="FFFFFF"/>
                </a:solidFill>
                <a:latin typeface="+mj-lt"/>
                <a:cs typeface="Trebuchet MS"/>
              </a:rPr>
              <a:t>PDS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Commercial</a:t>
            </a:r>
            <a:r>
              <a:rPr sz="950" b="1" spc="6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Tax,</a:t>
            </a:r>
            <a:r>
              <a:rPr sz="950" b="1" spc="8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25" dirty="0">
                <a:solidFill>
                  <a:srgbClr val="FFFFFF"/>
                </a:solidFill>
                <a:latin typeface="+mj-lt"/>
                <a:cs typeface="Trebuchet MS"/>
              </a:rPr>
              <a:t>AP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Warehouse</a:t>
            </a:r>
            <a:r>
              <a:rPr sz="950" b="1" spc="7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Dev</a:t>
            </a:r>
            <a:r>
              <a:rPr sz="950" b="1" spc="5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Regulatory</a:t>
            </a:r>
            <a:r>
              <a:rPr sz="950" b="1" spc="100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20" dirty="0">
                <a:solidFill>
                  <a:srgbClr val="FFFFFF"/>
                </a:solidFill>
                <a:latin typeface="+mj-lt"/>
                <a:cs typeface="Trebuchet MS"/>
              </a:rPr>
              <a:t>Auth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spc="-20" dirty="0">
                <a:solidFill>
                  <a:srgbClr val="FFFFFF"/>
                </a:solidFill>
                <a:latin typeface="+mj-lt"/>
                <a:cs typeface="Trebuchet MS"/>
              </a:rPr>
              <a:t>VISA</a:t>
            </a:r>
            <a:endParaRPr sz="950" dirty="0">
              <a:latin typeface="+mj-lt"/>
              <a:cs typeface="Trebuchet MS"/>
            </a:endParaRPr>
          </a:p>
          <a:p>
            <a:pPr marL="140970" indent="-128270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140970" algn="l"/>
              </a:tabLst>
            </a:pP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Bharat</a:t>
            </a:r>
            <a:r>
              <a:rPr sz="950" b="1" spc="6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dirty="0">
                <a:solidFill>
                  <a:srgbClr val="FFFFFF"/>
                </a:solidFill>
                <a:latin typeface="+mj-lt"/>
                <a:cs typeface="Trebuchet MS"/>
              </a:rPr>
              <a:t>Sanchar</a:t>
            </a:r>
            <a:r>
              <a:rPr sz="950" b="1" spc="85" dirty="0">
                <a:solidFill>
                  <a:srgbClr val="FFFFFF"/>
                </a:solidFill>
                <a:latin typeface="+mj-lt"/>
                <a:cs typeface="Trebuchet MS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+mj-lt"/>
                <a:cs typeface="Trebuchet MS"/>
              </a:rPr>
              <a:t>Nigam</a:t>
            </a:r>
            <a:endParaRPr sz="950" dirty="0">
              <a:latin typeface="+mj-lt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9894EB-1B7F-E16D-E1D7-1443D8416B02}"/>
              </a:ext>
            </a:extLst>
          </p:cNvPr>
          <p:cNvSpPr txBox="1"/>
          <p:nvPr/>
        </p:nvSpPr>
        <p:spPr>
          <a:xfrm>
            <a:off x="567838" y="2521937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Our Offerings</a:t>
            </a:r>
            <a:endParaRPr lang="en-IN" sz="1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B711DF-A3EC-C9B3-A869-8FF11126C5FF}"/>
              </a:ext>
            </a:extLst>
          </p:cNvPr>
          <p:cNvSpPr txBox="1"/>
          <p:nvPr/>
        </p:nvSpPr>
        <p:spPr>
          <a:xfrm>
            <a:off x="3683688" y="2978628"/>
            <a:ext cx="1002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Our </a:t>
            </a:r>
            <a:r>
              <a:rPr lang="en-IN" sz="1400" b="1" dirty="0">
                <a:solidFill>
                  <a:schemeClr val="bg1"/>
                </a:solidFill>
                <a:latin typeface="+mj-lt"/>
              </a:rPr>
              <a:t>Clients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DE58523-2324-0BC5-6EDC-B82BD626F08E}"/>
              </a:ext>
            </a:extLst>
          </p:cNvPr>
          <p:cNvSpPr/>
          <p:nvPr/>
        </p:nvSpPr>
        <p:spPr>
          <a:xfrm>
            <a:off x="7379807" y="1022090"/>
            <a:ext cx="1628833" cy="14232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4A07F3-7AAD-C5D5-C5BC-F49EAEEFDF72}"/>
              </a:ext>
            </a:extLst>
          </p:cNvPr>
          <p:cNvSpPr/>
          <p:nvPr/>
        </p:nvSpPr>
        <p:spPr>
          <a:xfrm>
            <a:off x="5744848" y="2569843"/>
            <a:ext cx="1535592" cy="14682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08B9CE-351D-78B1-5041-9A88B7924903}"/>
              </a:ext>
            </a:extLst>
          </p:cNvPr>
          <p:cNvSpPr/>
          <p:nvPr/>
        </p:nvSpPr>
        <p:spPr>
          <a:xfrm>
            <a:off x="4029463" y="1026773"/>
            <a:ext cx="1628833" cy="14232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object 2"/>
          <p:cNvGrpSpPr/>
          <p:nvPr/>
        </p:nvGrpSpPr>
        <p:grpSpPr>
          <a:xfrm>
            <a:off x="4091940" y="1010660"/>
            <a:ext cx="4884794" cy="3243834"/>
            <a:chOff x="4114800" y="1004316"/>
            <a:chExt cx="4884794" cy="3243834"/>
          </a:xfrm>
        </p:grpSpPr>
        <p:sp>
          <p:nvSpPr>
            <p:cNvPr id="3" name="object 3"/>
            <p:cNvSpPr/>
            <p:nvPr/>
          </p:nvSpPr>
          <p:spPr>
            <a:xfrm>
              <a:off x="5714999" y="1004316"/>
              <a:ext cx="45719" cy="3243834"/>
            </a:xfrm>
            <a:custGeom>
              <a:avLst/>
              <a:gdLst/>
              <a:ahLst/>
              <a:cxnLst/>
              <a:rect l="l" t="t" r="r" b="b"/>
              <a:pathLst>
                <a:path h="3365500">
                  <a:moveTo>
                    <a:pt x="0" y="0"/>
                  </a:moveTo>
                  <a:lnTo>
                    <a:pt x="0" y="3365042"/>
                  </a:lnTo>
                </a:path>
              </a:pathLst>
            </a:custGeom>
            <a:ln w="9144"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+mj-lt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7338059" y="1004316"/>
              <a:ext cx="45719" cy="3243834"/>
            </a:xfrm>
            <a:custGeom>
              <a:avLst/>
              <a:gdLst/>
              <a:ahLst/>
              <a:cxnLst/>
              <a:rect l="l" t="t" r="r" b="b"/>
              <a:pathLst>
                <a:path h="3365500">
                  <a:moveTo>
                    <a:pt x="0" y="0"/>
                  </a:moveTo>
                  <a:lnTo>
                    <a:pt x="0" y="3365042"/>
                  </a:lnTo>
                </a:path>
              </a:pathLst>
            </a:custGeom>
            <a:ln w="9144"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114800" y="2522114"/>
              <a:ext cx="4884794" cy="47729"/>
            </a:xfrm>
            <a:custGeom>
              <a:avLst/>
              <a:gdLst/>
              <a:ahLst/>
              <a:cxnLst/>
              <a:rect l="l" t="t" r="r" b="b"/>
              <a:pathLst>
                <a:path w="4323080">
                  <a:moveTo>
                    <a:pt x="0" y="0"/>
                  </a:moveTo>
                  <a:lnTo>
                    <a:pt x="4322953" y="0"/>
                  </a:lnTo>
                </a:path>
              </a:pathLst>
            </a:custGeom>
            <a:ln w="9144"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95906" y="1833499"/>
            <a:ext cx="120650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302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G2C</a:t>
            </a:r>
            <a:r>
              <a:rPr sz="1400" b="1" spc="-25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 </a:t>
            </a:r>
            <a:r>
              <a:rPr sz="1400" b="1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&amp;</a:t>
            </a:r>
            <a:r>
              <a:rPr sz="1400" b="1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 </a:t>
            </a:r>
            <a:r>
              <a:rPr sz="1400" b="1" spc="-25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B2C</a:t>
            </a:r>
            <a:endParaRPr sz="1400" dirty="0">
              <a:solidFill>
                <a:schemeClr val="tx2">
                  <a:lumMod val="75000"/>
                </a:schemeClr>
              </a:solidFill>
              <a:latin typeface="+mj-lt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Service</a:t>
            </a:r>
            <a:r>
              <a:rPr sz="1400" b="1" spc="-35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 </a:t>
            </a:r>
            <a:r>
              <a:rPr sz="1400" b="1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Delivery</a:t>
            </a:r>
            <a:endParaRPr sz="1400" dirty="0">
              <a:solidFill>
                <a:schemeClr val="tx2">
                  <a:lumMod val="75000"/>
                </a:schemeClr>
              </a:solidFill>
              <a:latin typeface="+mj-lt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6066" y="1223220"/>
            <a:ext cx="737729" cy="5585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3748" y="1256811"/>
            <a:ext cx="764784" cy="46941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963284" y="1833499"/>
            <a:ext cx="1070990" cy="444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Deployment</a:t>
            </a:r>
            <a:r>
              <a:rPr sz="1400" b="1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 </a:t>
            </a:r>
            <a:r>
              <a:rPr sz="1400" b="1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Services</a:t>
            </a:r>
            <a:endParaRPr sz="1400" dirty="0">
              <a:solidFill>
                <a:schemeClr val="tx2">
                  <a:lumMod val="75000"/>
                </a:schemeClr>
              </a:solidFill>
              <a:latin typeface="+mj-lt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80569" y="1827405"/>
            <a:ext cx="1022214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Software</a:t>
            </a:r>
            <a:r>
              <a:rPr sz="1400" b="1" spc="-4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 </a:t>
            </a:r>
            <a:r>
              <a:rPr sz="1400" b="1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&amp;</a:t>
            </a:r>
            <a:r>
              <a:rPr sz="1400" b="1" spc="1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 </a:t>
            </a:r>
            <a:endParaRPr lang="en-US" sz="1400" b="1" spc="10" dirty="0">
              <a:solidFill>
                <a:schemeClr val="tx2">
                  <a:lumMod val="75000"/>
                </a:schemeClr>
              </a:solidFill>
              <a:latin typeface="+mj-lt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Services</a:t>
            </a:r>
            <a:endParaRPr sz="1400" dirty="0">
              <a:solidFill>
                <a:schemeClr val="tx2">
                  <a:lumMod val="75000"/>
                </a:schemeClr>
              </a:solidFill>
              <a:latin typeface="+mj-lt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93734" y="1199593"/>
            <a:ext cx="595885" cy="57556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83440" y="2664395"/>
            <a:ext cx="632709" cy="66518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405635" y="3459787"/>
            <a:ext cx="1016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685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Operation </a:t>
            </a:r>
            <a:r>
              <a:rPr sz="1400" b="1" spc="-5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&amp; </a:t>
            </a:r>
            <a:r>
              <a:rPr sz="1400" b="1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Management</a:t>
            </a:r>
            <a:endParaRPr sz="1400" dirty="0">
              <a:solidFill>
                <a:schemeClr val="tx2">
                  <a:lumMod val="75000"/>
                </a:schemeClr>
              </a:solidFill>
              <a:latin typeface="+mj-lt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74845" y="3446963"/>
            <a:ext cx="985525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System</a:t>
            </a:r>
            <a:r>
              <a:rPr sz="1400" b="1" spc="-5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 </a:t>
            </a:r>
            <a:endParaRPr lang="en-US" sz="1400" b="1" spc="-50" dirty="0">
              <a:solidFill>
                <a:schemeClr val="tx2">
                  <a:lumMod val="75000"/>
                </a:schemeClr>
              </a:solidFill>
              <a:latin typeface="+mj-lt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Integration</a:t>
            </a:r>
            <a:endParaRPr sz="1400" dirty="0">
              <a:solidFill>
                <a:schemeClr val="tx2">
                  <a:lumMod val="75000"/>
                </a:schemeClr>
              </a:solidFill>
              <a:latin typeface="+mj-lt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59496" y="2664395"/>
            <a:ext cx="683008" cy="68903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449312" y="3473800"/>
            <a:ext cx="13684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9415" marR="5080" indent="-38735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Customer</a:t>
            </a:r>
            <a:r>
              <a:rPr sz="1400" b="1" spc="-5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 </a:t>
            </a:r>
            <a:r>
              <a:rPr sz="1400" b="1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Calibri"/>
              </a:rPr>
              <a:t>Support Services</a:t>
            </a:r>
            <a:endParaRPr sz="1400" dirty="0">
              <a:solidFill>
                <a:schemeClr val="tx2">
                  <a:lumMod val="75000"/>
                </a:schemeClr>
              </a:solidFill>
              <a:latin typeface="+mj-lt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16472" y="2728684"/>
            <a:ext cx="574292" cy="59155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01539" y="4325285"/>
            <a:ext cx="1060578" cy="552449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0" y="149098"/>
            <a:ext cx="7580569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37160" algn="l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solidFill>
                  <a:schemeClr val="bg1"/>
                </a:solidFill>
                <a:latin typeface="+mj-lt"/>
              </a:rPr>
              <a:t>CMS</a:t>
            </a:r>
            <a:r>
              <a:rPr sz="2400" spc="-8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E</a:t>
            </a:r>
            <a:r>
              <a:rPr lang="en-US" sz="2400" spc="-10" dirty="0">
                <a:solidFill>
                  <a:schemeClr val="bg1"/>
                </a:solidFill>
                <a:latin typeface="+mj-lt"/>
              </a:rPr>
              <a:t>-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Governance</a:t>
            </a:r>
            <a:r>
              <a:rPr sz="2400" spc="-6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Solutions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73285" y="1010660"/>
            <a:ext cx="3729491" cy="2862580"/>
          </a:xfrm>
          <a:prstGeom prst="rect">
            <a:avLst/>
          </a:prstGeom>
          <a:noFill/>
        </p:spPr>
        <p:txBody>
          <a:bodyPr vert="horz" wrap="square" lIns="0" tIns="39370" rIns="0" bIns="0" rtlCol="0">
            <a:spAutoFit/>
          </a:bodyPr>
          <a:lstStyle/>
          <a:p>
            <a:pPr marL="377190" indent="-286385">
              <a:lnSpc>
                <a:spcPct val="100000"/>
              </a:lnSpc>
              <a:spcBef>
                <a:spcPts val="310"/>
              </a:spcBef>
              <a:buFont typeface="Wingdings"/>
              <a:buChar char=""/>
              <a:tabLst>
                <a:tab pos="377190" algn="l"/>
              </a:tabLst>
            </a:pP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Integrated</a:t>
            </a:r>
            <a:r>
              <a:rPr sz="1800" spc="-45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Citizen</a:t>
            </a:r>
            <a:r>
              <a:rPr sz="1800" spc="-6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Services</a:t>
            </a:r>
            <a:endParaRPr sz="1800" dirty="0">
              <a:solidFill>
                <a:schemeClr val="tx2">
                  <a:lumMod val="75000"/>
                </a:schemeClr>
              </a:solidFill>
              <a:latin typeface="+mj-lt"/>
              <a:cs typeface="Trebuchet MS"/>
            </a:endParaRPr>
          </a:p>
          <a:p>
            <a:pPr marL="446405" indent="-35560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446405" algn="l"/>
              </a:tabLst>
            </a:pPr>
            <a:r>
              <a:rPr sz="1800" spc="-2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e-</a:t>
            </a: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District</a:t>
            </a:r>
            <a:r>
              <a:rPr sz="1800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solutions</a:t>
            </a:r>
            <a:endParaRPr sz="1800" dirty="0">
              <a:solidFill>
                <a:schemeClr val="tx2">
                  <a:lumMod val="75000"/>
                </a:schemeClr>
              </a:solidFill>
              <a:latin typeface="+mj-lt"/>
              <a:cs typeface="Trebuchet MS"/>
            </a:endParaRPr>
          </a:p>
          <a:p>
            <a:pPr marL="446405" indent="-355600">
              <a:lnSpc>
                <a:spcPct val="100000"/>
              </a:lnSpc>
              <a:buFont typeface="Wingdings"/>
              <a:buChar char=""/>
              <a:tabLst>
                <a:tab pos="446405" algn="l"/>
              </a:tabLst>
            </a:pP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Digital</a:t>
            </a:r>
            <a:r>
              <a:rPr sz="1800" spc="-55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Transformation</a:t>
            </a:r>
            <a:endParaRPr sz="1800" dirty="0">
              <a:solidFill>
                <a:schemeClr val="tx2">
                  <a:lumMod val="75000"/>
                </a:schemeClr>
              </a:solidFill>
              <a:latin typeface="+mj-lt"/>
              <a:cs typeface="Trebuchet MS"/>
            </a:endParaRPr>
          </a:p>
          <a:p>
            <a:pPr marL="446405" indent="-355600">
              <a:lnSpc>
                <a:spcPct val="100000"/>
              </a:lnSpc>
              <a:buFont typeface="Wingdings"/>
              <a:buChar char=""/>
              <a:tabLst>
                <a:tab pos="446405" algn="l"/>
              </a:tabLst>
            </a:pP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Solutions</a:t>
            </a:r>
            <a:r>
              <a:rPr sz="1800" spc="-35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in</a:t>
            </a:r>
            <a:r>
              <a:rPr sz="1800" spc="-45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Land</a:t>
            </a:r>
            <a:r>
              <a:rPr sz="1800" spc="-3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records</a:t>
            </a:r>
            <a:endParaRPr sz="1800" dirty="0">
              <a:solidFill>
                <a:schemeClr val="tx2">
                  <a:lumMod val="75000"/>
                </a:schemeClr>
              </a:solidFill>
              <a:latin typeface="+mj-lt"/>
              <a:cs typeface="Trebuchet MS"/>
            </a:endParaRPr>
          </a:p>
          <a:p>
            <a:pPr marL="446405" indent="-355600">
              <a:lnSpc>
                <a:spcPct val="100000"/>
              </a:lnSpc>
              <a:buFont typeface="Wingdings"/>
              <a:buChar char=""/>
              <a:tabLst>
                <a:tab pos="446405" algn="l"/>
              </a:tabLst>
            </a:pP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Registration</a:t>
            </a:r>
            <a:r>
              <a:rPr sz="1800" spc="-7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of</a:t>
            </a:r>
            <a:r>
              <a:rPr sz="1800" spc="-75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document</a:t>
            </a:r>
            <a:endParaRPr sz="1800" dirty="0">
              <a:solidFill>
                <a:schemeClr val="tx2">
                  <a:lumMod val="75000"/>
                </a:schemeClr>
              </a:solidFill>
              <a:latin typeface="+mj-lt"/>
              <a:cs typeface="Trebuchet MS"/>
            </a:endParaRPr>
          </a:p>
          <a:p>
            <a:pPr marL="441325" indent="-35052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441325" algn="l"/>
              </a:tabLst>
            </a:pPr>
            <a:r>
              <a:rPr sz="1800" spc="-25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Transport</a:t>
            </a:r>
            <a:r>
              <a:rPr sz="1800" spc="-95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Department</a:t>
            </a:r>
            <a:r>
              <a:rPr sz="1800" spc="-7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Solutions</a:t>
            </a:r>
            <a:endParaRPr sz="1800" dirty="0">
              <a:solidFill>
                <a:schemeClr val="tx2">
                  <a:lumMod val="75000"/>
                </a:schemeClr>
              </a:solidFill>
              <a:latin typeface="+mj-lt"/>
              <a:cs typeface="Trebuchet MS"/>
            </a:endParaRPr>
          </a:p>
          <a:p>
            <a:pPr marL="446405" indent="-355600">
              <a:lnSpc>
                <a:spcPct val="100000"/>
              </a:lnSpc>
              <a:buFont typeface="Wingdings"/>
              <a:buChar char=""/>
              <a:tabLst>
                <a:tab pos="446405" algn="l"/>
              </a:tabLst>
            </a:pP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Solution</a:t>
            </a:r>
            <a:r>
              <a:rPr sz="1800" spc="-5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for</a:t>
            </a:r>
            <a:r>
              <a:rPr sz="1800" spc="-4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Judicial</a:t>
            </a:r>
            <a:r>
              <a:rPr sz="1800" spc="-6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System</a:t>
            </a:r>
            <a:endParaRPr sz="1800" dirty="0">
              <a:solidFill>
                <a:schemeClr val="tx2">
                  <a:lumMod val="75000"/>
                </a:schemeClr>
              </a:solidFill>
              <a:latin typeface="+mj-lt"/>
              <a:cs typeface="Trebuchet MS"/>
            </a:endParaRPr>
          </a:p>
          <a:p>
            <a:pPr marL="446405" indent="-355600">
              <a:lnSpc>
                <a:spcPct val="100000"/>
              </a:lnSpc>
              <a:buFont typeface="Wingdings"/>
              <a:buChar char=""/>
              <a:tabLst>
                <a:tab pos="446405" algn="l"/>
              </a:tabLst>
            </a:pP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Dairy</a:t>
            </a:r>
            <a:r>
              <a:rPr sz="1800" spc="-1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Management</a:t>
            </a:r>
            <a:r>
              <a:rPr sz="1800" spc="-7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System</a:t>
            </a:r>
            <a:endParaRPr sz="1800" dirty="0">
              <a:solidFill>
                <a:schemeClr val="tx2">
                  <a:lumMod val="75000"/>
                </a:schemeClr>
              </a:solidFill>
              <a:latin typeface="+mj-lt"/>
              <a:cs typeface="Trebuchet MS"/>
            </a:endParaRPr>
          </a:p>
          <a:p>
            <a:pPr marL="446405" indent="-355600">
              <a:lnSpc>
                <a:spcPct val="100000"/>
              </a:lnSpc>
              <a:buFont typeface="Wingdings"/>
              <a:buChar char=""/>
              <a:tabLst>
                <a:tab pos="446405" algn="l"/>
              </a:tabLst>
            </a:pP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Solutions</a:t>
            </a:r>
            <a:r>
              <a:rPr sz="1800" spc="-45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for</a:t>
            </a:r>
            <a:r>
              <a:rPr sz="1800" spc="-5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Police</a:t>
            </a:r>
            <a:r>
              <a:rPr sz="1800" spc="-55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spc="-1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Department</a:t>
            </a:r>
            <a:endParaRPr sz="1800" dirty="0">
              <a:solidFill>
                <a:schemeClr val="tx2">
                  <a:lumMod val="75000"/>
                </a:schemeClr>
              </a:solidFill>
              <a:latin typeface="+mj-lt"/>
              <a:cs typeface="Trebuchet MS"/>
            </a:endParaRPr>
          </a:p>
          <a:p>
            <a:pPr marL="446405" indent="-355600">
              <a:lnSpc>
                <a:spcPct val="100000"/>
              </a:lnSpc>
              <a:buFont typeface="Wingdings"/>
              <a:buChar char=""/>
              <a:tabLst>
                <a:tab pos="446405" algn="l"/>
              </a:tabLst>
            </a:pP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FMS,</a:t>
            </a:r>
            <a:r>
              <a:rPr sz="1800" spc="-5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spc="-35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Manpower,</a:t>
            </a:r>
            <a:r>
              <a:rPr sz="1800" spc="-4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IT</a:t>
            </a:r>
            <a:r>
              <a:rPr sz="1800" spc="-75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Support</a:t>
            </a:r>
            <a:r>
              <a:rPr sz="1800" spc="-45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 </a:t>
            </a:r>
            <a:r>
              <a:rPr sz="1800" spc="-25" dirty="0">
                <a:solidFill>
                  <a:schemeClr val="tx2">
                    <a:lumMod val="75000"/>
                  </a:schemeClr>
                </a:solidFill>
                <a:latin typeface="+mj-lt"/>
                <a:cs typeface="Trebuchet MS"/>
              </a:rPr>
              <a:t>etc</a:t>
            </a:r>
            <a:endParaRPr sz="1800" dirty="0">
              <a:solidFill>
                <a:schemeClr val="tx2">
                  <a:lumMod val="75000"/>
                </a:schemeClr>
              </a:solidFill>
              <a:latin typeface="+mj-lt"/>
              <a:cs typeface="Trebuchet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247" y="1505711"/>
            <a:ext cx="3906520" cy="2536190"/>
            <a:chOff x="79247" y="1505711"/>
            <a:chExt cx="3906520" cy="2536190"/>
          </a:xfrm>
        </p:grpSpPr>
        <p:sp>
          <p:nvSpPr>
            <p:cNvPr id="3" name="object 3"/>
            <p:cNvSpPr/>
            <p:nvPr/>
          </p:nvSpPr>
          <p:spPr>
            <a:xfrm>
              <a:off x="79247" y="3878414"/>
              <a:ext cx="2929255" cy="163830"/>
            </a:xfrm>
            <a:custGeom>
              <a:avLst/>
              <a:gdLst/>
              <a:ahLst/>
              <a:cxnLst/>
              <a:rect l="l" t="t" r="r" b="b"/>
              <a:pathLst>
                <a:path w="2929255" h="163829">
                  <a:moveTo>
                    <a:pt x="2929255" y="0"/>
                  </a:moveTo>
                  <a:lnTo>
                    <a:pt x="0" y="0"/>
                  </a:lnTo>
                  <a:lnTo>
                    <a:pt x="0" y="163233"/>
                  </a:lnTo>
                  <a:lnTo>
                    <a:pt x="2929255" y="163233"/>
                  </a:lnTo>
                  <a:lnTo>
                    <a:pt x="2929255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008502" y="3101339"/>
              <a:ext cx="777240" cy="940435"/>
            </a:xfrm>
            <a:custGeom>
              <a:avLst/>
              <a:gdLst/>
              <a:ahLst/>
              <a:cxnLst/>
              <a:rect l="l" t="t" r="r" b="b"/>
              <a:pathLst>
                <a:path w="777239" h="940435">
                  <a:moveTo>
                    <a:pt x="777113" y="0"/>
                  </a:moveTo>
                  <a:lnTo>
                    <a:pt x="0" y="777074"/>
                  </a:lnTo>
                  <a:lnTo>
                    <a:pt x="0" y="940308"/>
                  </a:lnTo>
                  <a:lnTo>
                    <a:pt x="777113" y="163195"/>
                  </a:lnTo>
                  <a:lnTo>
                    <a:pt x="777113" y="0"/>
                  </a:lnTo>
                  <a:close/>
                </a:path>
              </a:pathLst>
            </a:custGeom>
            <a:solidFill>
              <a:srgbClr val="858585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9247" y="3101339"/>
              <a:ext cx="3706495" cy="777240"/>
            </a:xfrm>
            <a:custGeom>
              <a:avLst/>
              <a:gdLst/>
              <a:ahLst/>
              <a:cxnLst/>
              <a:rect l="l" t="t" r="r" b="b"/>
              <a:pathLst>
                <a:path w="3706495" h="777239">
                  <a:moveTo>
                    <a:pt x="3706367" y="0"/>
                  </a:moveTo>
                  <a:lnTo>
                    <a:pt x="777074" y="0"/>
                  </a:lnTo>
                  <a:lnTo>
                    <a:pt x="0" y="777074"/>
                  </a:lnTo>
                  <a:lnTo>
                    <a:pt x="2929255" y="777074"/>
                  </a:lnTo>
                  <a:lnTo>
                    <a:pt x="3706367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99059" y="1591055"/>
              <a:ext cx="3700779" cy="871855"/>
            </a:xfrm>
            <a:custGeom>
              <a:avLst/>
              <a:gdLst/>
              <a:ahLst/>
              <a:cxnLst/>
              <a:rect l="l" t="t" r="r" b="b"/>
              <a:pathLst>
                <a:path w="3700779" h="871855">
                  <a:moveTo>
                    <a:pt x="1030185" y="0"/>
                  </a:moveTo>
                  <a:lnTo>
                    <a:pt x="0" y="871728"/>
                  </a:lnTo>
                  <a:lnTo>
                    <a:pt x="2722626" y="871728"/>
                  </a:lnTo>
                  <a:lnTo>
                    <a:pt x="3700272" y="10541"/>
                  </a:lnTo>
                  <a:lnTo>
                    <a:pt x="1030185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04315" y="3272065"/>
              <a:ext cx="922019" cy="41275"/>
            </a:xfrm>
            <a:custGeom>
              <a:avLst/>
              <a:gdLst/>
              <a:ahLst/>
              <a:cxnLst/>
              <a:rect l="l" t="t" r="r" b="b"/>
              <a:pathLst>
                <a:path w="922019" h="41275">
                  <a:moveTo>
                    <a:pt x="921981" y="0"/>
                  </a:moveTo>
                  <a:lnTo>
                    <a:pt x="0" y="0"/>
                  </a:lnTo>
                  <a:lnTo>
                    <a:pt x="0" y="41109"/>
                  </a:lnTo>
                  <a:lnTo>
                    <a:pt x="921981" y="41109"/>
                  </a:lnTo>
                  <a:lnTo>
                    <a:pt x="921981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926336" y="3128772"/>
              <a:ext cx="143510" cy="184785"/>
            </a:xfrm>
            <a:custGeom>
              <a:avLst/>
              <a:gdLst/>
              <a:ahLst/>
              <a:cxnLst/>
              <a:rect l="l" t="t" r="r" b="b"/>
              <a:pathLst>
                <a:path w="143510" h="184785">
                  <a:moveTo>
                    <a:pt x="143256" y="0"/>
                  </a:moveTo>
                  <a:lnTo>
                    <a:pt x="0" y="143256"/>
                  </a:lnTo>
                  <a:lnTo>
                    <a:pt x="0" y="184404"/>
                  </a:lnTo>
                  <a:lnTo>
                    <a:pt x="143256" y="41148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5" y="3128772"/>
              <a:ext cx="1065530" cy="143510"/>
            </a:xfrm>
            <a:custGeom>
              <a:avLst/>
              <a:gdLst/>
              <a:ahLst/>
              <a:cxnLst/>
              <a:rect l="l" t="t" r="r" b="b"/>
              <a:pathLst>
                <a:path w="1065530" h="143510">
                  <a:moveTo>
                    <a:pt x="1065276" y="0"/>
                  </a:moveTo>
                  <a:lnTo>
                    <a:pt x="143294" y="0"/>
                  </a:lnTo>
                  <a:lnTo>
                    <a:pt x="0" y="143256"/>
                  </a:lnTo>
                  <a:lnTo>
                    <a:pt x="922019" y="143256"/>
                  </a:lnTo>
                  <a:lnTo>
                    <a:pt x="1065276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004315" y="3128772"/>
              <a:ext cx="1065530" cy="184785"/>
            </a:xfrm>
            <a:custGeom>
              <a:avLst/>
              <a:gdLst/>
              <a:ahLst/>
              <a:cxnLst/>
              <a:rect l="l" t="t" r="r" b="b"/>
              <a:pathLst>
                <a:path w="1065530" h="184785">
                  <a:moveTo>
                    <a:pt x="0" y="143256"/>
                  </a:moveTo>
                  <a:lnTo>
                    <a:pt x="143294" y="0"/>
                  </a:lnTo>
                  <a:lnTo>
                    <a:pt x="1065276" y="0"/>
                  </a:lnTo>
                  <a:lnTo>
                    <a:pt x="1065276" y="41148"/>
                  </a:lnTo>
                  <a:lnTo>
                    <a:pt x="922019" y="184404"/>
                  </a:lnTo>
                  <a:lnTo>
                    <a:pt x="0" y="184404"/>
                  </a:lnTo>
                  <a:lnTo>
                    <a:pt x="0" y="143256"/>
                  </a:lnTo>
                  <a:close/>
                </a:path>
                <a:path w="1065530" h="184785">
                  <a:moveTo>
                    <a:pt x="0" y="143256"/>
                  </a:moveTo>
                  <a:lnTo>
                    <a:pt x="922019" y="143256"/>
                  </a:lnTo>
                  <a:lnTo>
                    <a:pt x="1065276" y="0"/>
                  </a:lnTo>
                </a:path>
                <a:path w="1065530" h="184785">
                  <a:moveTo>
                    <a:pt x="922019" y="143256"/>
                  </a:moveTo>
                  <a:lnTo>
                    <a:pt x="922019" y="184404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63295" y="3813047"/>
              <a:ext cx="1050290" cy="56515"/>
            </a:xfrm>
            <a:custGeom>
              <a:avLst/>
              <a:gdLst/>
              <a:ahLst/>
              <a:cxnLst/>
              <a:rect l="l" t="t" r="r" b="b"/>
              <a:pathLst>
                <a:path w="1050290" h="56514">
                  <a:moveTo>
                    <a:pt x="1050048" y="0"/>
                  </a:moveTo>
                  <a:lnTo>
                    <a:pt x="0" y="0"/>
                  </a:lnTo>
                  <a:lnTo>
                    <a:pt x="0" y="56387"/>
                  </a:lnTo>
                  <a:lnTo>
                    <a:pt x="1050048" y="56387"/>
                  </a:lnTo>
                  <a:lnTo>
                    <a:pt x="1050048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513331" y="3616451"/>
              <a:ext cx="196850" cy="253365"/>
            </a:xfrm>
            <a:custGeom>
              <a:avLst/>
              <a:gdLst/>
              <a:ahLst/>
              <a:cxnLst/>
              <a:rect l="l" t="t" r="r" b="b"/>
              <a:pathLst>
                <a:path w="196850" h="253364">
                  <a:moveTo>
                    <a:pt x="196596" y="0"/>
                  </a:moveTo>
                  <a:lnTo>
                    <a:pt x="0" y="196596"/>
                  </a:lnTo>
                  <a:lnTo>
                    <a:pt x="0" y="252984"/>
                  </a:lnTo>
                  <a:lnTo>
                    <a:pt x="196596" y="56388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63295" y="3616451"/>
              <a:ext cx="1247140" cy="196850"/>
            </a:xfrm>
            <a:custGeom>
              <a:avLst/>
              <a:gdLst/>
              <a:ahLst/>
              <a:cxnLst/>
              <a:rect l="l" t="t" r="r" b="b"/>
              <a:pathLst>
                <a:path w="1247139" h="196850">
                  <a:moveTo>
                    <a:pt x="1246632" y="0"/>
                  </a:moveTo>
                  <a:lnTo>
                    <a:pt x="196583" y="0"/>
                  </a:lnTo>
                  <a:lnTo>
                    <a:pt x="0" y="196596"/>
                  </a:lnTo>
                  <a:lnTo>
                    <a:pt x="1050036" y="196596"/>
                  </a:lnTo>
                  <a:lnTo>
                    <a:pt x="124663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63295" y="3616451"/>
              <a:ext cx="1247140" cy="253365"/>
            </a:xfrm>
            <a:custGeom>
              <a:avLst/>
              <a:gdLst/>
              <a:ahLst/>
              <a:cxnLst/>
              <a:rect l="l" t="t" r="r" b="b"/>
              <a:pathLst>
                <a:path w="1247139" h="253364">
                  <a:moveTo>
                    <a:pt x="0" y="196596"/>
                  </a:moveTo>
                  <a:lnTo>
                    <a:pt x="196583" y="0"/>
                  </a:lnTo>
                  <a:lnTo>
                    <a:pt x="1246632" y="0"/>
                  </a:lnTo>
                  <a:lnTo>
                    <a:pt x="1246632" y="56388"/>
                  </a:lnTo>
                  <a:lnTo>
                    <a:pt x="1050036" y="252984"/>
                  </a:lnTo>
                  <a:lnTo>
                    <a:pt x="0" y="252984"/>
                  </a:lnTo>
                  <a:lnTo>
                    <a:pt x="0" y="196596"/>
                  </a:lnTo>
                  <a:close/>
                </a:path>
                <a:path w="1247139" h="253364">
                  <a:moveTo>
                    <a:pt x="0" y="196596"/>
                  </a:moveTo>
                  <a:lnTo>
                    <a:pt x="1050036" y="196596"/>
                  </a:lnTo>
                  <a:lnTo>
                    <a:pt x="1246632" y="0"/>
                  </a:lnTo>
                </a:path>
                <a:path w="1247139" h="253364">
                  <a:moveTo>
                    <a:pt x="1050036" y="196596"/>
                  </a:moveTo>
                  <a:lnTo>
                    <a:pt x="1050036" y="252984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176271" y="3528098"/>
              <a:ext cx="922019" cy="41275"/>
            </a:xfrm>
            <a:custGeom>
              <a:avLst/>
              <a:gdLst/>
              <a:ahLst/>
              <a:cxnLst/>
              <a:rect l="l" t="t" r="r" b="b"/>
              <a:pathLst>
                <a:path w="922019" h="41275">
                  <a:moveTo>
                    <a:pt x="921981" y="0"/>
                  </a:moveTo>
                  <a:lnTo>
                    <a:pt x="0" y="0"/>
                  </a:lnTo>
                  <a:lnTo>
                    <a:pt x="0" y="41109"/>
                  </a:lnTo>
                  <a:lnTo>
                    <a:pt x="921981" y="41109"/>
                  </a:lnTo>
                  <a:lnTo>
                    <a:pt x="921981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098292" y="3384804"/>
              <a:ext cx="143510" cy="184785"/>
            </a:xfrm>
            <a:custGeom>
              <a:avLst/>
              <a:gdLst/>
              <a:ahLst/>
              <a:cxnLst/>
              <a:rect l="l" t="t" r="r" b="b"/>
              <a:pathLst>
                <a:path w="143510" h="184785">
                  <a:moveTo>
                    <a:pt x="143256" y="0"/>
                  </a:moveTo>
                  <a:lnTo>
                    <a:pt x="0" y="143256"/>
                  </a:lnTo>
                  <a:lnTo>
                    <a:pt x="0" y="184404"/>
                  </a:lnTo>
                  <a:lnTo>
                    <a:pt x="143256" y="41148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2176271" y="3384804"/>
              <a:ext cx="1065530" cy="143510"/>
            </a:xfrm>
            <a:custGeom>
              <a:avLst/>
              <a:gdLst/>
              <a:ahLst/>
              <a:cxnLst/>
              <a:rect l="l" t="t" r="r" b="b"/>
              <a:pathLst>
                <a:path w="1065530" h="143510">
                  <a:moveTo>
                    <a:pt x="1065276" y="0"/>
                  </a:moveTo>
                  <a:lnTo>
                    <a:pt x="143256" y="0"/>
                  </a:lnTo>
                  <a:lnTo>
                    <a:pt x="0" y="143256"/>
                  </a:lnTo>
                  <a:lnTo>
                    <a:pt x="922019" y="143256"/>
                  </a:lnTo>
                  <a:lnTo>
                    <a:pt x="1065276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2176271" y="3384804"/>
              <a:ext cx="1065530" cy="184785"/>
            </a:xfrm>
            <a:custGeom>
              <a:avLst/>
              <a:gdLst/>
              <a:ahLst/>
              <a:cxnLst/>
              <a:rect l="l" t="t" r="r" b="b"/>
              <a:pathLst>
                <a:path w="1065530" h="184785">
                  <a:moveTo>
                    <a:pt x="0" y="143256"/>
                  </a:moveTo>
                  <a:lnTo>
                    <a:pt x="143256" y="0"/>
                  </a:lnTo>
                  <a:lnTo>
                    <a:pt x="1065276" y="0"/>
                  </a:lnTo>
                  <a:lnTo>
                    <a:pt x="1065276" y="41148"/>
                  </a:lnTo>
                  <a:lnTo>
                    <a:pt x="922019" y="184404"/>
                  </a:lnTo>
                  <a:lnTo>
                    <a:pt x="0" y="184404"/>
                  </a:lnTo>
                  <a:lnTo>
                    <a:pt x="0" y="143256"/>
                  </a:lnTo>
                  <a:close/>
                </a:path>
                <a:path w="1065530" h="184785">
                  <a:moveTo>
                    <a:pt x="0" y="143256"/>
                  </a:moveTo>
                  <a:lnTo>
                    <a:pt x="922019" y="143256"/>
                  </a:lnTo>
                  <a:lnTo>
                    <a:pt x="1065276" y="0"/>
                  </a:lnTo>
                </a:path>
                <a:path w="1065530" h="184785">
                  <a:moveTo>
                    <a:pt x="922019" y="143256"/>
                  </a:moveTo>
                  <a:lnTo>
                    <a:pt x="922019" y="184404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979931" y="1597151"/>
              <a:ext cx="288290" cy="300355"/>
            </a:xfrm>
            <a:custGeom>
              <a:avLst/>
              <a:gdLst/>
              <a:ahLst/>
              <a:cxnLst/>
              <a:rect l="l" t="t" r="r" b="b"/>
              <a:pathLst>
                <a:path w="288290" h="300355">
                  <a:moveTo>
                    <a:pt x="288036" y="0"/>
                  </a:moveTo>
                  <a:lnTo>
                    <a:pt x="0" y="0"/>
                  </a:lnTo>
                  <a:lnTo>
                    <a:pt x="0" y="300228"/>
                  </a:lnTo>
                  <a:lnTo>
                    <a:pt x="288036" y="300228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79931" y="1597151"/>
              <a:ext cx="288290" cy="300355"/>
            </a:xfrm>
            <a:custGeom>
              <a:avLst/>
              <a:gdLst/>
              <a:ahLst/>
              <a:cxnLst/>
              <a:rect l="l" t="t" r="r" b="b"/>
              <a:pathLst>
                <a:path w="288290" h="300355">
                  <a:moveTo>
                    <a:pt x="0" y="300228"/>
                  </a:moveTo>
                  <a:lnTo>
                    <a:pt x="288036" y="300228"/>
                  </a:lnTo>
                  <a:lnTo>
                    <a:pt x="288036" y="0"/>
                  </a:lnTo>
                  <a:lnTo>
                    <a:pt x="0" y="0"/>
                  </a:lnTo>
                  <a:lnTo>
                    <a:pt x="0" y="300228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586739" y="2036063"/>
              <a:ext cx="216535" cy="299085"/>
            </a:xfrm>
            <a:custGeom>
              <a:avLst/>
              <a:gdLst/>
              <a:ahLst/>
              <a:cxnLst/>
              <a:rect l="l" t="t" r="r" b="b"/>
              <a:pathLst>
                <a:path w="216534" h="299085">
                  <a:moveTo>
                    <a:pt x="216408" y="0"/>
                  </a:moveTo>
                  <a:lnTo>
                    <a:pt x="0" y="0"/>
                  </a:lnTo>
                  <a:lnTo>
                    <a:pt x="0" y="298704"/>
                  </a:lnTo>
                  <a:lnTo>
                    <a:pt x="216408" y="298704"/>
                  </a:lnTo>
                  <a:lnTo>
                    <a:pt x="21640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586739" y="2036063"/>
              <a:ext cx="216535" cy="299085"/>
            </a:xfrm>
            <a:custGeom>
              <a:avLst/>
              <a:gdLst/>
              <a:ahLst/>
              <a:cxnLst/>
              <a:rect l="l" t="t" r="r" b="b"/>
              <a:pathLst>
                <a:path w="216534" h="299085">
                  <a:moveTo>
                    <a:pt x="0" y="298704"/>
                  </a:moveTo>
                  <a:lnTo>
                    <a:pt x="216408" y="298704"/>
                  </a:lnTo>
                  <a:lnTo>
                    <a:pt x="216408" y="0"/>
                  </a:lnTo>
                  <a:lnTo>
                    <a:pt x="0" y="0"/>
                  </a:lnTo>
                  <a:lnTo>
                    <a:pt x="0" y="298704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310639" y="2048255"/>
              <a:ext cx="216535" cy="300355"/>
            </a:xfrm>
            <a:custGeom>
              <a:avLst/>
              <a:gdLst/>
              <a:ahLst/>
              <a:cxnLst/>
              <a:rect l="l" t="t" r="r" b="b"/>
              <a:pathLst>
                <a:path w="216534" h="300355">
                  <a:moveTo>
                    <a:pt x="216408" y="0"/>
                  </a:moveTo>
                  <a:lnTo>
                    <a:pt x="0" y="0"/>
                  </a:lnTo>
                  <a:lnTo>
                    <a:pt x="0" y="300228"/>
                  </a:lnTo>
                  <a:lnTo>
                    <a:pt x="216408" y="300228"/>
                  </a:lnTo>
                  <a:lnTo>
                    <a:pt x="21640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310639" y="2048255"/>
              <a:ext cx="216535" cy="300355"/>
            </a:xfrm>
            <a:custGeom>
              <a:avLst/>
              <a:gdLst/>
              <a:ahLst/>
              <a:cxnLst/>
              <a:rect l="l" t="t" r="r" b="b"/>
              <a:pathLst>
                <a:path w="216534" h="300355">
                  <a:moveTo>
                    <a:pt x="0" y="300228"/>
                  </a:moveTo>
                  <a:lnTo>
                    <a:pt x="216408" y="300228"/>
                  </a:lnTo>
                  <a:lnTo>
                    <a:pt x="216408" y="0"/>
                  </a:lnTo>
                  <a:lnTo>
                    <a:pt x="0" y="0"/>
                  </a:lnTo>
                  <a:lnTo>
                    <a:pt x="0" y="300228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904999" y="2026919"/>
              <a:ext cx="260985" cy="300355"/>
            </a:xfrm>
            <a:custGeom>
              <a:avLst/>
              <a:gdLst/>
              <a:ahLst/>
              <a:cxnLst/>
              <a:rect l="l" t="t" r="r" b="b"/>
              <a:pathLst>
                <a:path w="260985" h="300355">
                  <a:moveTo>
                    <a:pt x="260604" y="0"/>
                  </a:moveTo>
                  <a:lnTo>
                    <a:pt x="0" y="0"/>
                  </a:lnTo>
                  <a:lnTo>
                    <a:pt x="0" y="300227"/>
                  </a:lnTo>
                  <a:lnTo>
                    <a:pt x="260604" y="300227"/>
                  </a:lnTo>
                  <a:lnTo>
                    <a:pt x="26060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1904999" y="2026919"/>
              <a:ext cx="260985" cy="300355"/>
            </a:xfrm>
            <a:custGeom>
              <a:avLst/>
              <a:gdLst/>
              <a:ahLst/>
              <a:cxnLst/>
              <a:rect l="l" t="t" r="r" b="b"/>
              <a:pathLst>
                <a:path w="260985" h="300355">
                  <a:moveTo>
                    <a:pt x="0" y="300227"/>
                  </a:moveTo>
                  <a:lnTo>
                    <a:pt x="260604" y="300227"/>
                  </a:lnTo>
                  <a:lnTo>
                    <a:pt x="260604" y="0"/>
                  </a:lnTo>
                  <a:lnTo>
                    <a:pt x="0" y="0"/>
                  </a:lnTo>
                  <a:lnTo>
                    <a:pt x="0" y="300227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2186940" y="1571243"/>
              <a:ext cx="260985" cy="299085"/>
            </a:xfrm>
            <a:custGeom>
              <a:avLst/>
              <a:gdLst/>
              <a:ahLst/>
              <a:cxnLst/>
              <a:rect l="l" t="t" r="r" b="b"/>
              <a:pathLst>
                <a:path w="260985" h="299085">
                  <a:moveTo>
                    <a:pt x="260604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260604" y="298703"/>
                  </a:lnTo>
                  <a:lnTo>
                    <a:pt x="26060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2186940" y="1571243"/>
              <a:ext cx="260985" cy="299085"/>
            </a:xfrm>
            <a:custGeom>
              <a:avLst/>
              <a:gdLst/>
              <a:ahLst/>
              <a:cxnLst/>
              <a:rect l="l" t="t" r="r" b="b"/>
              <a:pathLst>
                <a:path w="260985" h="299085">
                  <a:moveTo>
                    <a:pt x="0" y="298703"/>
                  </a:moveTo>
                  <a:lnTo>
                    <a:pt x="260604" y="298703"/>
                  </a:lnTo>
                  <a:lnTo>
                    <a:pt x="260604" y="0"/>
                  </a:lnTo>
                  <a:lnTo>
                    <a:pt x="0" y="0"/>
                  </a:lnTo>
                  <a:lnTo>
                    <a:pt x="0" y="298703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2543555" y="1853183"/>
              <a:ext cx="260985" cy="299085"/>
            </a:xfrm>
            <a:custGeom>
              <a:avLst/>
              <a:gdLst/>
              <a:ahLst/>
              <a:cxnLst/>
              <a:rect l="l" t="t" r="r" b="b"/>
              <a:pathLst>
                <a:path w="260985" h="299085">
                  <a:moveTo>
                    <a:pt x="260604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260604" y="298703"/>
                  </a:lnTo>
                  <a:lnTo>
                    <a:pt x="26060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543555" y="1853183"/>
              <a:ext cx="260985" cy="299085"/>
            </a:xfrm>
            <a:custGeom>
              <a:avLst/>
              <a:gdLst/>
              <a:ahLst/>
              <a:cxnLst/>
              <a:rect l="l" t="t" r="r" b="b"/>
              <a:pathLst>
                <a:path w="260985" h="299085">
                  <a:moveTo>
                    <a:pt x="0" y="298703"/>
                  </a:moveTo>
                  <a:lnTo>
                    <a:pt x="260604" y="298703"/>
                  </a:lnTo>
                  <a:lnTo>
                    <a:pt x="260604" y="0"/>
                  </a:lnTo>
                  <a:lnTo>
                    <a:pt x="0" y="0"/>
                  </a:lnTo>
                  <a:lnTo>
                    <a:pt x="0" y="298703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3023615" y="1633727"/>
              <a:ext cx="260985" cy="299085"/>
            </a:xfrm>
            <a:custGeom>
              <a:avLst/>
              <a:gdLst/>
              <a:ahLst/>
              <a:cxnLst/>
              <a:rect l="l" t="t" r="r" b="b"/>
              <a:pathLst>
                <a:path w="260985" h="299085">
                  <a:moveTo>
                    <a:pt x="260604" y="0"/>
                  </a:moveTo>
                  <a:lnTo>
                    <a:pt x="0" y="0"/>
                  </a:lnTo>
                  <a:lnTo>
                    <a:pt x="0" y="298704"/>
                  </a:lnTo>
                  <a:lnTo>
                    <a:pt x="260604" y="298704"/>
                  </a:lnTo>
                  <a:lnTo>
                    <a:pt x="26060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3023615" y="1633727"/>
              <a:ext cx="260985" cy="299085"/>
            </a:xfrm>
            <a:custGeom>
              <a:avLst/>
              <a:gdLst/>
              <a:ahLst/>
              <a:cxnLst/>
              <a:rect l="l" t="t" r="r" b="b"/>
              <a:pathLst>
                <a:path w="260985" h="299085">
                  <a:moveTo>
                    <a:pt x="0" y="298704"/>
                  </a:moveTo>
                  <a:lnTo>
                    <a:pt x="260604" y="298704"/>
                  </a:lnTo>
                  <a:lnTo>
                    <a:pt x="260604" y="0"/>
                  </a:lnTo>
                  <a:lnTo>
                    <a:pt x="0" y="0"/>
                  </a:lnTo>
                  <a:lnTo>
                    <a:pt x="0" y="298704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591056" y="1598675"/>
              <a:ext cx="260985" cy="299085"/>
            </a:xfrm>
            <a:custGeom>
              <a:avLst/>
              <a:gdLst/>
              <a:ahLst/>
              <a:cxnLst/>
              <a:rect l="l" t="t" r="r" b="b"/>
              <a:pathLst>
                <a:path w="260985" h="299085">
                  <a:moveTo>
                    <a:pt x="260604" y="0"/>
                  </a:moveTo>
                  <a:lnTo>
                    <a:pt x="0" y="0"/>
                  </a:lnTo>
                  <a:lnTo>
                    <a:pt x="0" y="298704"/>
                  </a:lnTo>
                  <a:lnTo>
                    <a:pt x="260604" y="298704"/>
                  </a:lnTo>
                  <a:lnTo>
                    <a:pt x="26060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591056" y="1598675"/>
              <a:ext cx="260985" cy="299085"/>
            </a:xfrm>
            <a:custGeom>
              <a:avLst/>
              <a:gdLst/>
              <a:ahLst/>
              <a:cxnLst/>
              <a:rect l="l" t="t" r="r" b="b"/>
              <a:pathLst>
                <a:path w="260985" h="299085">
                  <a:moveTo>
                    <a:pt x="0" y="298704"/>
                  </a:moveTo>
                  <a:lnTo>
                    <a:pt x="260604" y="298704"/>
                  </a:lnTo>
                  <a:lnTo>
                    <a:pt x="260604" y="0"/>
                  </a:lnTo>
                  <a:lnTo>
                    <a:pt x="0" y="0"/>
                  </a:lnTo>
                  <a:lnTo>
                    <a:pt x="0" y="298704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6951" y="1505711"/>
              <a:ext cx="172212" cy="17678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4571" y="2484119"/>
              <a:ext cx="170687" cy="176783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6441947" y="1237488"/>
            <a:ext cx="2516505" cy="3004185"/>
            <a:chOff x="6441947" y="1237488"/>
            <a:chExt cx="2516505" cy="3004185"/>
          </a:xfrm>
        </p:grpSpPr>
        <p:sp>
          <p:nvSpPr>
            <p:cNvPr id="38" name="object 38"/>
            <p:cNvSpPr/>
            <p:nvPr/>
          </p:nvSpPr>
          <p:spPr>
            <a:xfrm>
              <a:off x="6454901" y="1401318"/>
              <a:ext cx="2490470" cy="2827020"/>
            </a:xfrm>
            <a:custGeom>
              <a:avLst/>
              <a:gdLst/>
              <a:ahLst/>
              <a:cxnLst/>
              <a:rect l="l" t="t" r="r" b="b"/>
              <a:pathLst>
                <a:path w="2490470" h="2827020">
                  <a:moveTo>
                    <a:pt x="0" y="2827019"/>
                  </a:moveTo>
                  <a:lnTo>
                    <a:pt x="2490216" y="2827019"/>
                  </a:lnTo>
                  <a:lnTo>
                    <a:pt x="2490216" y="0"/>
                  </a:lnTo>
                  <a:lnTo>
                    <a:pt x="0" y="0"/>
                  </a:lnTo>
                  <a:lnTo>
                    <a:pt x="0" y="2827019"/>
                  </a:lnTo>
                  <a:close/>
                </a:path>
              </a:pathLst>
            </a:custGeom>
            <a:ln w="25908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6804659" y="1237488"/>
              <a:ext cx="1728470" cy="326390"/>
            </a:xfrm>
            <a:custGeom>
              <a:avLst/>
              <a:gdLst/>
              <a:ahLst/>
              <a:cxnLst/>
              <a:rect l="l" t="t" r="r" b="b"/>
              <a:pathLst>
                <a:path w="1728470" h="326390">
                  <a:moveTo>
                    <a:pt x="1673860" y="0"/>
                  </a:moveTo>
                  <a:lnTo>
                    <a:pt x="54356" y="0"/>
                  </a:lnTo>
                  <a:lnTo>
                    <a:pt x="33218" y="4278"/>
                  </a:lnTo>
                  <a:lnTo>
                    <a:pt x="15938" y="15938"/>
                  </a:lnTo>
                  <a:lnTo>
                    <a:pt x="4278" y="33218"/>
                  </a:lnTo>
                  <a:lnTo>
                    <a:pt x="0" y="54355"/>
                  </a:lnTo>
                  <a:lnTo>
                    <a:pt x="0" y="271779"/>
                  </a:lnTo>
                  <a:lnTo>
                    <a:pt x="4278" y="292917"/>
                  </a:lnTo>
                  <a:lnTo>
                    <a:pt x="15938" y="310197"/>
                  </a:lnTo>
                  <a:lnTo>
                    <a:pt x="33218" y="321857"/>
                  </a:lnTo>
                  <a:lnTo>
                    <a:pt x="54356" y="326135"/>
                  </a:lnTo>
                  <a:lnTo>
                    <a:pt x="1673860" y="326135"/>
                  </a:lnTo>
                  <a:lnTo>
                    <a:pt x="1694997" y="321857"/>
                  </a:lnTo>
                  <a:lnTo>
                    <a:pt x="1712277" y="310197"/>
                  </a:lnTo>
                  <a:lnTo>
                    <a:pt x="1723937" y="292917"/>
                  </a:lnTo>
                  <a:lnTo>
                    <a:pt x="1728216" y="271779"/>
                  </a:lnTo>
                  <a:lnTo>
                    <a:pt x="1728216" y="54355"/>
                  </a:lnTo>
                  <a:lnTo>
                    <a:pt x="1723937" y="33218"/>
                  </a:lnTo>
                  <a:lnTo>
                    <a:pt x="1712277" y="15938"/>
                  </a:lnTo>
                  <a:lnTo>
                    <a:pt x="1694997" y="4278"/>
                  </a:lnTo>
                  <a:lnTo>
                    <a:pt x="167386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219557" y="696917"/>
            <a:ext cx="5931078" cy="25994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970"/>
              </a:lnSpc>
            </a:pP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CMS</a:t>
            </a:r>
            <a:r>
              <a:rPr sz="1600" spc="-1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has</a:t>
            </a:r>
            <a:r>
              <a:rPr sz="1600" spc="-3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the</a:t>
            </a:r>
            <a:r>
              <a:rPr sz="1600" spc="-35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capability</a:t>
            </a:r>
            <a:r>
              <a:rPr sz="1600" spc="-3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for</a:t>
            </a:r>
            <a:r>
              <a:rPr sz="1600" spc="-4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Seamless</a:t>
            </a:r>
            <a:r>
              <a:rPr sz="1600" spc="-6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sz="1600" spc="-1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Integration</a:t>
            </a:r>
            <a:r>
              <a:rPr sz="1600" spc="-25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across</a:t>
            </a:r>
            <a:r>
              <a:rPr sz="1600" spc="-3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the</a:t>
            </a:r>
            <a:r>
              <a:rPr sz="1600" spc="-6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sz="1600" spc="-1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Ecosystem</a:t>
            </a:r>
            <a:endParaRPr sz="16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056888" y="1431036"/>
            <a:ext cx="1945005" cy="256540"/>
          </a:xfrm>
          <a:custGeom>
            <a:avLst/>
            <a:gdLst/>
            <a:ahLst/>
            <a:cxnLst/>
            <a:rect l="l" t="t" r="r" b="b"/>
            <a:pathLst>
              <a:path w="1945004" h="256539">
                <a:moveTo>
                  <a:pt x="1901952" y="0"/>
                </a:moveTo>
                <a:lnTo>
                  <a:pt x="42672" y="0"/>
                </a:lnTo>
                <a:lnTo>
                  <a:pt x="26038" y="3345"/>
                </a:lnTo>
                <a:lnTo>
                  <a:pt x="12477" y="12477"/>
                </a:lnTo>
                <a:lnTo>
                  <a:pt x="3345" y="26038"/>
                </a:lnTo>
                <a:lnTo>
                  <a:pt x="0" y="42672"/>
                </a:lnTo>
                <a:lnTo>
                  <a:pt x="0" y="213360"/>
                </a:lnTo>
                <a:lnTo>
                  <a:pt x="3345" y="229993"/>
                </a:lnTo>
                <a:lnTo>
                  <a:pt x="12477" y="243554"/>
                </a:lnTo>
                <a:lnTo>
                  <a:pt x="26038" y="252686"/>
                </a:lnTo>
                <a:lnTo>
                  <a:pt x="42672" y="256032"/>
                </a:lnTo>
                <a:lnTo>
                  <a:pt x="1901952" y="256032"/>
                </a:lnTo>
                <a:lnTo>
                  <a:pt x="1918585" y="252686"/>
                </a:lnTo>
                <a:lnTo>
                  <a:pt x="1932146" y="243554"/>
                </a:lnTo>
                <a:lnTo>
                  <a:pt x="1941278" y="229993"/>
                </a:lnTo>
                <a:lnTo>
                  <a:pt x="1944624" y="213360"/>
                </a:lnTo>
                <a:lnTo>
                  <a:pt x="1944624" y="42672"/>
                </a:lnTo>
                <a:lnTo>
                  <a:pt x="1941278" y="26038"/>
                </a:lnTo>
                <a:lnTo>
                  <a:pt x="1932146" y="12477"/>
                </a:lnTo>
                <a:lnTo>
                  <a:pt x="1918585" y="3345"/>
                </a:lnTo>
                <a:lnTo>
                  <a:pt x="1901952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056888" y="2458211"/>
            <a:ext cx="1945005" cy="256540"/>
          </a:xfrm>
          <a:custGeom>
            <a:avLst/>
            <a:gdLst/>
            <a:ahLst/>
            <a:cxnLst/>
            <a:rect l="l" t="t" r="r" b="b"/>
            <a:pathLst>
              <a:path w="1945004" h="256539">
                <a:moveTo>
                  <a:pt x="1901952" y="0"/>
                </a:moveTo>
                <a:lnTo>
                  <a:pt x="42672" y="0"/>
                </a:lnTo>
                <a:lnTo>
                  <a:pt x="26038" y="3345"/>
                </a:lnTo>
                <a:lnTo>
                  <a:pt x="12477" y="12477"/>
                </a:lnTo>
                <a:lnTo>
                  <a:pt x="3345" y="26038"/>
                </a:lnTo>
                <a:lnTo>
                  <a:pt x="0" y="42672"/>
                </a:lnTo>
                <a:lnTo>
                  <a:pt x="0" y="213360"/>
                </a:lnTo>
                <a:lnTo>
                  <a:pt x="3345" y="229993"/>
                </a:lnTo>
                <a:lnTo>
                  <a:pt x="12477" y="243554"/>
                </a:lnTo>
                <a:lnTo>
                  <a:pt x="26038" y="252686"/>
                </a:lnTo>
                <a:lnTo>
                  <a:pt x="42672" y="256032"/>
                </a:lnTo>
                <a:lnTo>
                  <a:pt x="1901952" y="256032"/>
                </a:lnTo>
                <a:lnTo>
                  <a:pt x="1918585" y="252686"/>
                </a:lnTo>
                <a:lnTo>
                  <a:pt x="1932146" y="243554"/>
                </a:lnTo>
                <a:lnTo>
                  <a:pt x="1941278" y="229993"/>
                </a:lnTo>
                <a:lnTo>
                  <a:pt x="1944624" y="213360"/>
                </a:lnTo>
                <a:lnTo>
                  <a:pt x="1944624" y="42672"/>
                </a:lnTo>
                <a:lnTo>
                  <a:pt x="1941278" y="26038"/>
                </a:lnTo>
                <a:lnTo>
                  <a:pt x="1932146" y="12477"/>
                </a:lnTo>
                <a:lnTo>
                  <a:pt x="1918585" y="3345"/>
                </a:lnTo>
                <a:lnTo>
                  <a:pt x="1901952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056888" y="3558540"/>
            <a:ext cx="1945005" cy="256540"/>
          </a:xfrm>
          <a:custGeom>
            <a:avLst/>
            <a:gdLst/>
            <a:ahLst/>
            <a:cxnLst/>
            <a:rect l="l" t="t" r="r" b="b"/>
            <a:pathLst>
              <a:path w="1945004" h="256539">
                <a:moveTo>
                  <a:pt x="1901952" y="0"/>
                </a:moveTo>
                <a:lnTo>
                  <a:pt x="42672" y="0"/>
                </a:lnTo>
                <a:lnTo>
                  <a:pt x="26038" y="3345"/>
                </a:lnTo>
                <a:lnTo>
                  <a:pt x="12477" y="12477"/>
                </a:lnTo>
                <a:lnTo>
                  <a:pt x="3345" y="26038"/>
                </a:lnTo>
                <a:lnTo>
                  <a:pt x="0" y="42672"/>
                </a:lnTo>
                <a:lnTo>
                  <a:pt x="0" y="213360"/>
                </a:lnTo>
                <a:lnTo>
                  <a:pt x="3345" y="229993"/>
                </a:lnTo>
                <a:lnTo>
                  <a:pt x="12477" y="243554"/>
                </a:lnTo>
                <a:lnTo>
                  <a:pt x="26038" y="252686"/>
                </a:lnTo>
                <a:lnTo>
                  <a:pt x="42672" y="256032"/>
                </a:lnTo>
                <a:lnTo>
                  <a:pt x="1901952" y="256032"/>
                </a:lnTo>
                <a:lnTo>
                  <a:pt x="1918585" y="252686"/>
                </a:lnTo>
                <a:lnTo>
                  <a:pt x="1932146" y="243554"/>
                </a:lnTo>
                <a:lnTo>
                  <a:pt x="1941278" y="229993"/>
                </a:lnTo>
                <a:lnTo>
                  <a:pt x="1944624" y="213360"/>
                </a:lnTo>
                <a:lnTo>
                  <a:pt x="1944624" y="42672"/>
                </a:lnTo>
                <a:lnTo>
                  <a:pt x="1941278" y="26038"/>
                </a:lnTo>
                <a:lnTo>
                  <a:pt x="1932146" y="12477"/>
                </a:lnTo>
                <a:lnTo>
                  <a:pt x="1918585" y="3345"/>
                </a:lnTo>
                <a:lnTo>
                  <a:pt x="1901952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083808" y="1452372"/>
            <a:ext cx="288290" cy="2776220"/>
            <a:chOff x="6083808" y="1452372"/>
            <a:chExt cx="288290" cy="2776220"/>
          </a:xfrm>
        </p:grpSpPr>
        <p:sp>
          <p:nvSpPr>
            <p:cNvPr id="45" name="object 45"/>
            <p:cNvSpPr/>
            <p:nvPr/>
          </p:nvSpPr>
          <p:spPr>
            <a:xfrm>
              <a:off x="6228588" y="1452372"/>
              <a:ext cx="0" cy="2776220"/>
            </a:xfrm>
            <a:custGeom>
              <a:avLst/>
              <a:gdLst/>
              <a:ahLst/>
              <a:cxnLst/>
              <a:rect l="l" t="t" r="r" b="b"/>
              <a:pathLst>
                <a:path h="2776220">
                  <a:moveTo>
                    <a:pt x="0" y="0"/>
                  </a:moveTo>
                  <a:lnTo>
                    <a:pt x="0" y="277592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6083808" y="2458211"/>
              <a:ext cx="288290" cy="721360"/>
            </a:xfrm>
            <a:custGeom>
              <a:avLst/>
              <a:gdLst/>
              <a:ahLst/>
              <a:cxnLst/>
              <a:rect l="l" t="t" r="r" b="b"/>
              <a:pathLst>
                <a:path w="288289" h="721360">
                  <a:moveTo>
                    <a:pt x="0" y="0"/>
                  </a:moveTo>
                  <a:lnTo>
                    <a:pt x="0" y="720852"/>
                  </a:lnTo>
                  <a:lnTo>
                    <a:pt x="288036" y="360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050538" y="3865879"/>
            <a:ext cx="1941830" cy="66548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03505" marR="5080" indent="-91440">
              <a:lnSpc>
                <a:spcPct val="80000"/>
              </a:lnSpc>
              <a:spcBef>
                <a:spcPts val="335"/>
              </a:spcBef>
              <a:buFont typeface="Wingdings"/>
              <a:buChar char=""/>
              <a:tabLst>
                <a:tab pos="103505" algn="l"/>
              </a:tabLst>
            </a:pPr>
            <a:r>
              <a:rPr sz="1000" b="1" dirty="0">
                <a:latin typeface="+mj-lt"/>
                <a:cs typeface="Calibri"/>
              </a:rPr>
              <a:t>Centers</a:t>
            </a:r>
            <a:r>
              <a:rPr sz="1000" b="1" spc="-50" dirty="0">
                <a:latin typeface="+mj-lt"/>
                <a:cs typeface="Calibri"/>
              </a:rPr>
              <a:t> </a:t>
            </a:r>
            <a:r>
              <a:rPr sz="1000" b="1" dirty="0">
                <a:latin typeface="+mj-lt"/>
                <a:cs typeface="Calibri"/>
              </a:rPr>
              <a:t>of</a:t>
            </a:r>
            <a:r>
              <a:rPr sz="1000" b="1" spc="-25" dirty="0">
                <a:latin typeface="+mj-lt"/>
                <a:cs typeface="Calibri"/>
              </a:rPr>
              <a:t> </a:t>
            </a:r>
            <a:r>
              <a:rPr sz="1000" b="1" dirty="0">
                <a:latin typeface="+mj-lt"/>
                <a:cs typeface="Calibri"/>
              </a:rPr>
              <a:t>traffic</a:t>
            </a:r>
            <a:r>
              <a:rPr sz="1000" b="1" spc="-35" dirty="0">
                <a:latin typeface="+mj-lt"/>
                <a:cs typeface="Calibri"/>
              </a:rPr>
              <a:t> </a:t>
            </a:r>
            <a:r>
              <a:rPr sz="1000" b="1" spc="-10" dirty="0">
                <a:latin typeface="+mj-lt"/>
                <a:cs typeface="Calibri"/>
              </a:rPr>
              <a:t>generation </a:t>
            </a:r>
            <a:r>
              <a:rPr sz="1000" b="1" dirty="0">
                <a:latin typeface="+mj-lt"/>
                <a:cs typeface="Calibri"/>
              </a:rPr>
              <a:t>including</a:t>
            </a:r>
            <a:r>
              <a:rPr sz="1000" b="1" spc="10" dirty="0">
                <a:latin typeface="+mj-lt"/>
                <a:cs typeface="Calibri"/>
              </a:rPr>
              <a:t> </a:t>
            </a:r>
            <a:r>
              <a:rPr sz="1000" b="1" spc="-10" dirty="0">
                <a:latin typeface="+mj-lt"/>
                <a:cs typeface="Calibri"/>
              </a:rPr>
              <a:t>interchanges,</a:t>
            </a:r>
            <a:r>
              <a:rPr sz="1000" b="1" dirty="0">
                <a:latin typeface="+mj-lt"/>
                <a:cs typeface="Calibri"/>
              </a:rPr>
              <a:t> </a:t>
            </a:r>
            <a:r>
              <a:rPr sz="1000" b="1" spc="-10" dirty="0">
                <a:latin typeface="+mj-lt"/>
                <a:cs typeface="Calibri"/>
              </a:rPr>
              <a:t>corridors, </a:t>
            </a:r>
            <a:r>
              <a:rPr sz="1000" b="1" dirty="0">
                <a:latin typeface="+mj-lt"/>
                <a:cs typeface="Calibri"/>
              </a:rPr>
              <a:t>Business</a:t>
            </a:r>
            <a:r>
              <a:rPr sz="1000" b="1" spc="-35" dirty="0">
                <a:latin typeface="+mj-lt"/>
                <a:cs typeface="Calibri"/>
              </a:rPr>
              <a:t> </a:t>
            </a:r>
            <a:r>
              <a:rPr sz="1000" b="1" dirty="0">
                <a:latin typeface="+mj-lt"/>
                <a:cs typeface="Calibri"/>
              </a:rPr>
              <a:t>Districts,</a:t>
            </a:r>
            <a:r>
              <a:rPr sz="1000" b="1" spc="-20" dirty="0">
                <a:latin typeface="+mj-lt"/>
                <a:cs typeface="Calibri"/>
              </a:rPr>
              <a:t> </a:t>
            </a:r>
            <a:r>
              <a:rPr sz="1000" b="1" dirty="0">
                <a:latin typeface="+mj-lt"/>
                <a:cs typeface="Calibri"/>
              </a:rPr>
              <a:t>VIP</a:t>
            </a:r>
            <a:r>
              <a:rPr sz="1000" b="1" spc="-45" dirty="0">
                <a:latin typeface="+mj-lt"/>
                <a:cs typeface="Calibri"/>
              </a:rPr>
              <a:t> </a:t>
            </a:r>
            <a:r>
              <a:rPr sz="1000" b="1" dirty="0">
                <a:latin typeface="+mj-lt"/>
                <a:cs typeface="Calibri"/>
              </a:rPr>
              <a:t>zones</a:t>
            </a:r>
            <a:r>
              <a:rPr sz="1000" b="1" spc="-45" dirty="0">
                <a:latin typeface="+mj-lt"/>
                <a:cs typeface="Calibri"/>
              </a:rPr>
              <a:t> </a:t>
            </a:r>
            <a:r>
              <a:rPr sz="1000" b="1" spc="-20" dirty="0">
                <a:latin typeface="+mj-lt"/>
                <a:cs typeface="Calibri"/>
              </a:rPr>
              <a:t>which </a:t>
            </a:r>
            <a:r>
              <a:rPr sz="1000" b="1" dirty="0">
                <a:latin typeface="+mj-lt"/>
                <a:cs typeface="Calibri"/>
              </a:rPr>
              <a:t>may</a:t>
            </a:r>
            <a:r>
              <a:rPr sz="1000" b="1" spc="5" dirty="0">
                <a:latin typeface="+mj-lt"/>
                <a:cs typeface="Calibri"/>
              </a:rPr>
              <a:t> </a:t>
            </a:r>
            <a:r>
              <a:rPr sz="1000" b="1" spc="-10" dirty="0">
                <a:latin typeface="+mj-lt"/>
                <a:cs typeface="Calibri"/>
              </a:rPr>
              <a:t>encompass</a:t>
            </a:r>
            <a:r>
              <a:rPr sz="1000" b="1" spc="-15" dirty="0">
                <a:latin typeface="+mj-lt"/>
                <a:cs typeface="Calibri"/>
              </a:rPr>
              <a:t> </a:t>
            </a:r>
            <a:r>
              <a:rPr sz="1000" b="1" dirty="0">
                <a:latin typeface="+mj-lt"/>
                <a:cs typeface="Calibri"/>
              </a:rPr>
              <a:t>their</a:t>
            </a:r>
            <a:r>
              <a:rPr sz="1000" b="1" spc="5" dirty="0">
                <a:latin typeface="+mj-lt"/>
                <a:cs typeface="Calibri"/>
              </a:rPr>
              <a:t> </a:t>
            </a:r>
            <a:r>
              <a:rPr sz="1000" b="1" spc="-10" dirty="0">
                <a:latin typeface="+mj-lt"/>
                <a:cs typeface="Calibri"/>
              </a:rPr>
              <a:t>immediate surroundings</a:t>
            </a:r>
            <a:endParaRPr sz="1000">
              <a:latin typeface="+mj-lt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54092" y="1090421"/>
            <a:ext cx="9925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404040"/>
                </a:solidFill>
                <a:latin typeface="+mj-lt"/>
                <a:cs typeface="Calibri"/>
              </a:rPr>
              <a:t>Mobility</a:t>
            </a:r>
            <a:r>
              <a:rPr sz="1200" b="1" spc="-4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200" b="1" spc="-10" dirty="0">
                <a:solidFill>
                  <a:srgbClr val="404040"/>
                </a:solidFill>
                <a:latin typeface="+mj-lt"/>
                <a:cs typeface="Calibri"/>
              </a:rPr>
              <a:t>Layers</a:t>
            </a:r>
            <a:endParaRPr sz="1200">
              <a:latin typeface="+mj-lt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50538" y="1386718"/>
            <a:ext cx="1857375" cy="100266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41605">
              <a:lnSpc>
                <a:spcPct val="100000"/>
              </a:lnSpc>
              <a:spcBef>
                <a:spcPts val="605"/>
              </a:spcBef>
            </a:pPr>
            <a:r>
              <a:rPr sz="1200" b="1" dirty="0">
                <a:solidFill>
                  <a:srgbClr val="FFFFFF"/>
                </a:solidFill>
                <a:latin typeface="+mj-lt"/>
                <a:cs typeface="Calibri"/>
              </a:rPr>
              <a:t>ENABLING</a:t>
            </a:r>
            <a:r>
              <a:rPr sz="1200" b="1" spc="-3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+mj-lt"/>
                <a:cs typeface="Calibri"/>
              </a:rPr>
              <a:t>TECHNOLOGIES</a:t>
            </a:r>
            <a:endParaRPr sz="1200" dirty="0">
              <a:latin typeface="+mj-lt"/>
              <a:cs typeface="Calibri"/>
            </a:endParaRPr>
          </a:p>
          <a:p>
            <a:pPr marL="103505" marR="5080" indent="-91440">
              <a:lnSpc>
                <a:spcPct val="80000"/>
              </a:lnSpc>
              <a:spcBef>
                <a:spcPts val="705"/>
              </a:spcBef>
              <a:buFont typeface="Wingdings"/>
              <a:buChar char=""/>
              <a:tabLst>
                <a:tab pos="103505" algn="l"/>
              </a:tabLst>
            </a:pPr>
            <a:r>
              <a:rPr sz="1050" b="1" spc="-10" dirty="0">
                <a:latin typeface="+mj-lt"/>
                <a:cs typeface="Calibri"/>
              </a:rPr>
              <a:t>Technologies</a:t>
            </a:r>
            <a:r>
              <a:rPr sz="1050" b="1" spc="-5" dirty="0">
                <a:latin typeface="+mj-lt"/>
                <a:cs typeface="Calibri"/>
              </a:rPr>
              <a:t> </a:t>
            </a:r>
            <a:r>
              <a:rPr sz="1050" b="1" dirty="0">
                <a:latin typeface="+mj-lt"/>
                <a:cs typeface="Calibri"/>
              </a:rPr>
              <a:t>and</a:t>
            </a:r>
            <a:r>
              <a:rPr sz="1050" b="1" spc="5" dirty="0">
                <a:latin typeface="+mj-lt"/>
                <a:cs typeface="Calibri"/>
              </a:rPr>
              <a:t> </a:t>
            </a:r>
            <a:r>
              <a:rPr sz="1050" b="1" dirty="0">
                <a:latin typeface="+mj-lt"/>
                <a:cs typeface="Calibri"/>
              </a:rPr>
              <a:t>platform</a:t>
            </a:r>
            <a:r>
              <a:rPr sz="1050" b="1" spc="5" dirty="0">
                <a:latin typeface="+mj-lt"/>
                <a:cs typeface="Calibri"/>
              </a:rPr>
              <a:t> </a:t>
            </a:r>
            <a:r>
              <a:rPr sz="1050" b="1" spc="-20" dirty="0">
                <a:latin typeface="+mj-lt"/>
                <a:cs typeface="Calibri"/>
              </a:rPr>
              <a:t>that </a:t>
            </a:r>
            <a:r>
              <a:rPr sz="1050" b="1" dirty="0">
                <a:latin typeface="+mj-lt"/>
                <a:cs typeface="Calibri"/>
              </a:rPr>
              <a:t>operate</a:t>
            </a:r>
            <a:r>
              <a:rPr sz="1050" b="1" spc="-45" dirty="0">
                <a:latin typeface="+mj-lt"/>
                <a:cs typeface="Calibri"/>
              </a:rPr>
              <a:t> </a:t>
            </a:r>
            <a:r>
              <a:rPr sz="1050" b="1" dirty="0">
                <a:latin typeface="+mj-lt"/>
                <a:cs typeface="Calibri"/>
              </a:rPr>
              <a:t>across</a:t>
            </a:r>
            <a:r>
              <a:rPr sz="1050" b="1" spc="-25" dirty="0">
                <a:latin typeface="+mj-lt"/>
                <a:cs typeface="Calibri"/>
              </a:rPr>
              <a:t> </a:t>
            </a:r>
            <a:r>
              <a:rPr sz="1050" b="1" dirty="0">
                <a:latin typeface="+mj-lt"/>
                <a:cs typeface="Calibri"/>
              </a:rPr>
              <a:t>nodes,</a:t>
            </a:r>
            <a:r>
              <a:rPr sz="1050" b="1" spc="-20" dirty="0">
                <a:latin typeface="+mj-lt"/>
                <a:cs typeface="Calibri"/>
              </a:rPr>
              <a:t> </a:t>
            </a:r>
            <a:r>
              <a:rPr sz="1050" b="1" spc="-10" dirty="0">
                <a:latin typeface="+mj-lt"/>
                <a:cs typeface="Calibri"/>
              </a:rPr>
              <a:t>enabling </a:t>
            </a:r>
            <a:r>
              <a:rPr sz="1050" b="1" dirty="0">
                <a:latin typeface="+mj-lt"/>
                <a:cs typeface="Calibri"/>
              </a:rPr>
              <a:t>efficient</a:t>
            </a:r>
            <a:r>
              <a:rPr sz="1050" b="1" spc="-25" dirty="0">
                <a:latin typeface="+mj-lt"/>
                <a:cs typeface="Calibri"/>
              </a:rPr>
              <a:t> </a:t>
            </a:r>
            <a:r>
              <a:rPr sz="1050" b="1" dirty="0">
                <a:latin typeface="+mj-lt"/>
                <a:cs typeface="Calibri"/>
              </a:rPr>
              <a:t>customer</a:t>
            </a:r>
            <a:r>
              <a:rPr sz="1050" b="1" spc="185" dirty="0">
                <a:latin typeface="+mj-lt"/>
                <a:cs typeface="Calibri"/>
              </a:rPr>
              <a:t> </a:t>
            </a:r>
            <a:r>
              <a:rPr sz="1050" b="1" dirty="0">
                <a:latin typeface="+mj-lt"/>
                <a:cs typeface="Calibri"/>
              </a:rPr>
              <a:t>use</a:t>
            </a:r>
            <a:r>
              <a:rPr sz="1050" b="1" spc="-15" dirty="0">
                <a:latin typeface="+mj-lt"/>
                <a:cs typeface="Calibri"/>
              </a:rPr>
              <a:t> </a:t>
            </a:r>
            <a:r>
              <a:rPr sz="1050" b="1" dirty="0">
                <a:latin typeface="+mj-lt"/>
                <a:cs typeface="Calibri"/>
              </a:rPr>
              <a:t>of</a:t>
            </a:r>
            <a:r>
              <a:rPr sz="1050" b="1" spc="-5" dirty="0">
                <a:latin typeface="+mj-lt"/>
                <a:cs typeface="Calibri"/>
              </a:rPr>
              <a:t> </a:t>
            </a:r>
            <a:r>
              <a:rPr sz="1050" b="1" spc="-25" dirty="0">
                <a:latin typeface="+mj-lt"/>
                <a:cs typeface="Calibri"/>
              </a:rPr>
              <a:t>the </a:t>
            </a:r>
            <a:r>
              <a:rPr sz="1050" b="1" dirty="0">
                <a:latin typeface="+mj-lt"/>
                <a:cs typeface="Calibri"/>
              </a:rPr>
              <a:t>traffic</a:t>
            </a:r>
            <a:r>
              <a:rPr sz="1050" b="1" spc="-30" dirty="0">
                <a:latin typeface="+mj-lt"/>
                <a:cs typeface="Calibri"/>
              </a:rPr>
              <a:t> </a:t>
            </a:r>
            <a:r>
              <a:rPr sz="1050" b="1" dirty="0">
                <a:latin typeface="+mj-lt"/>
                <a:cs typeface="Calibri"/>
              </a:rPr>
              <a:t>network</a:t>
            </a:r>
            <a:r>
              <a:rPr sz="1050" b="1" spc="-40" dirty="0">
                <a:latin typeface="+mj-lt"/>
                <a:cs typeface="Calibri"/>
              </a:rPr>
              <a:t> </a:t>
            </a:r>
            <a:r>
              <a:rPr sz="1050" b="1" dirty="0">
                <a:latin typeface="+mj-lt"/>
                <a:cs typeface="Calibri"/>
              </a:rPr>
              <a:t>with</a:t>
            </a:r>
            <a:r>
              <a:rPr sz="1050" b="1" spc="-40" dirty="0">
                <a:latin typeface="+mj-lt"/>
                <a:cs typeface="Calibri"/>
              </a:rPr>
              <a:t> </a:t>
            </a:r>
            <a:r>
              <a:rPr sz="1050" b="1" dirty="0">
                <a:latin typeface="+mj-lt"/>
                <a:cs typeface="Calibri"/>
              </a:rPr>
              <a:t>ease</a:t>
            </a:r>
            <a:r>
              <a:rPr sz="1050" b="1" spc="-30" dirty="0">
                <a:latin typeface="+mj-lt"/>
                <a:cs typeface="Calibri"/>
              </a:rPr>
              <a:t> </a:t>
            </a:r>
            <a:r>
              <a:rPr sz="1050" b="1" spc="-25" dirty="0">
                <a:latin typeface="+mj-lt"/>
                <a:cs typeface="Calibri"/>
              </a:rPr>
              <a:t>of </a:t>
            </a:r>
            <a:r>
              <a:rPr sz="1050" b="1" spc="-10" dirty="0">
                <a:latin typeface="+mj-lt"/>
                <a:cs typeface="Calibri"/>
              </a:rPr>
              <a:t>administration</a:t>
            </a:r>
            <a:endParaRPr sz="1050" dirty="0">
              <a:latin typeface="+mj-lt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050538" y="2462022"/>
            <a:ext cx="1913889" cy="1285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+mj-lt"/>
                <a:cs typeface="Calibri"/>
              </a:rPr>
              <a:t>TRAFFIC</a:t>
            </a:r>
            <a:r>
              <a:rPr sz="1200" b="1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+mj-lt"/>
                <a:cs typeface="Calibri"/>
              </a:rPr>
              <a:t>MANAGEMENT</a:t>
            </a:r>
            <a:endParaRPr sz="1200" dirty="0">
              <a:latin typeface="+mj-lt"/>
              <a:cs typeface="Calibri"/>
            </a:endParaRPr>
          </a:p>
          <a:p>
            <a:pPr marL="103505" marR="5080" indent="-91440">
              <a:lnSpc>
                <a:spcPct val="80000"/>
              </a:lnSpc>
              <a:spcBef>
                <a:spcPts val="1075"/>
              </a:spcBef>
              <a:buFont typeface="Wingdings"/>
              <a:buChar char=""/>
              <a:tabLst>
                <a:tab pos="103505" algn="l"/>
              </a:tabLst>
            </a:pPr>
            <a:r>
              <a:rPr sz="1000" b="1" dirty="0">
                <a:latin typeface="+mj-lt"/>
                <a:cs typeface="Calibri"/>
              </a:rPr>
              <a:t>Connections</a:t>
            </a:r>
            <a:r>
              <a:rPr sz="1000" b="1" spc="-40" dirty="0">
                <a:latin typeface="+mj-lt"/>
                <a:cs typeface="Calibri"/>
              </a:rPr>
              <a:t> </a:t>
            </a:r>
            <a:r>
              <a:rPr sz="1000" b="1" dirty="0">
                <a:latin typeface="+mj-lt"/>
                <a:cs typeface="Calibri"/>
              </a:rPr>
              <a:t>among</a:t>
            </a:r>
            <a:r>
              <a:rPr sz="1000" b="1" spc="-35" dirty="0">
                <a:latin typeface="+mj-lt"/>
                <a:cs typeface="Calibri"/>
              </a:rPr>
              <a:t> </a:t>
            </a:r>
            <a:r>
              <a:rPr sz="1000" b="1" spc="-20" dirty="0">
                <a:latin typeface="+mj-lt"/>
                <a:cs typeface="Calibri"/>
              </a:rPr>
              <a:t>nodes </a:t>
            </a:r>
            <a:r>
              <a:rPr sz="1000" b="1" dirty="0">
                <a:latin typeface="+mj-lt"/>
                <a:cs typeface="Calibri"/>
              </a:rPr>
              <a:t>centrally</a:t>
            </a:r>
            <a:r>
              <a:rPr sz="1000" b="1" spc="-35" dirty="0">
                <a:latin typeface="+mj-lt"/>
                <a:cs typeface="Calibri"/>
              </a:rPr>
              <a:t> </a:t>
            </a:r>
            <a:r>
              <a:rPr sz="1000" b="1" dirty="0">
                <a:latin typeface="+mj-lt"/>
                <a:cs typeface="Calibri"/>
              </a:rPr>
              <a:t>managed</a:t>
            </a:r>
            <a:r>
              <a:rPr sz="1000" b="1" spc="-50" dirty="0">
                <a:latin typeface="+mj-lt"/>
                <a:cs typeface="Calibri"/>
              </a:rPr>
              <a:t> </a:t>
            </a:r>
            <a:r>
              <a:rPr sz="1000" b="1" spc="-10" dirty="0">
                <a:latin typeface="+mj-lt"/>
                <a:cs typeface="Calibri"/>
              </a:rPr>
              <a:t>through </a:t>
            </a:r>
            <a:r>
              <a:rPr sz="1000" b="1" dirty="0">
                <a:latin typeface="+mj-lt"/>
                <a:cs typeface="Calibri"/>
              </a:rPr>
              <a:t>enforcement</a:t>
            </a:r>
            <a:r>
              <a:rPr sz="1000" b="1" spc="-45" dirty="0">
                <a:latin typeface="+mj-lt"/>
                <a:cs typeface="Calibri"/>
              </a:rPr>
              <a:t> </a:t>
            </a:r>
            <a:r>
              <a:rPr sz="1000" b="1" dirty="0">
                <a:latin typeface="+mj-lt"/>
                <a:cs typeface="Calibri"/>
              </a:rPr>
              <a:t>and</a:t>
            </a:r>
            <a:r>
              <a:rPr sz="1000" b="1" spc="-10" dirty="0">
                <a:latin typeface="+mj-lt"/>
                <a:cs typeface="Calibri"/>
              </a:rPr>
              <a:t> Traffic </a:t>
            </a:r>
            <a:r>
              <a:rPr sz="1000" b="1" dirty="0">
                <a:latin typeface="+mj-lt"/>
                <a:cs typeface="Calibri"/>
              </a:rPr>
              <a:t>Information</a:t>
            </a:r>
            <a:r>
              <a:rPr sz="1000" b="1" spc="-60" dirty="0">
                <a:latin typeface="+mj-lt"/>
                <a:cs typeface="Calibri"/>
              </a:rPr>
              <a:t> </a:t>
            </a:r>
            <a:r>
              <a:rPr sz="1000" b="1" dirty="0">
                <a:latin typeface="+mj-lt"/>
                <a:cs typeface="Calibri"/>
              </a:rPr>
              <a:t>system</a:t>
            </a:r>
            <a:r>
              <a:rPr sz="1000" b="1" spc="-30" dirty="0">
                <a:latin typeface="+mj-lt"/>
                <a:cs typeface="Calibri"/>
              </a:rPr>
              <a:t> </a:t>
            </a:r>
            <a:r>
              <a:rPr sz="1000" b="1" spc="-10" dirty="0">
                <a:latin typeface="+mj-lt"/>
                <a:cs typeface="Calibri"/>
              </a:rPr>
              <a:t>wrapped </a:t>
            </a:r>
            <a:r>
              <a:rPr sz="1000" b="1" dirty="0">
                <a:latin typeface="+mj-lt"/>
                <a:cs typeface="Calibri"/>
              </a:rPr>
              <a:t>around</a:t>
            </a:r>
            <a:r>
              <a:rPr sz="1000" b="1" spc="-50" dirty="0">
                <a:latin typeface="+mj-lt"/>
                <a:cs typeface="Calibri"/>
              </a:rPr>
              <a:t> </a:t>
            </a:r>
            <a:r>
              <a:rPr sz="1000" b="1" dirty="0">
                <a:latin typeface="+mj-lt"/>
                <a:cs typeface="Calibri"/>
              </a:rPr>
              <a:t>with</a:t>
            </a:r>
            <a:r>
              <a:rPr sz="1000" b="1" spc="-20" dirty="0">
                <a:latin typeface="+mj-lt"/>
                <a:cs typeface="Calibri"/>
              </a:rPr>
              <a:t> </a:t>
            </a:r>
            <a:r>
              <a:rPr sz="1000" b="1" dirty="0">
                <a:latin typeface="+mj-lt"/>
                <a:cs typeface="Calibri"/>
              </a:rPr>
              <a:t>Integrated</a:t>
            </a:r>
            <a:r>
              <a:rPr sz="1000" b="1" spc="-50" dirty="0">
                <a:latin typeface="+mj-lt"/>
                <a:cs typeface="Calibri"/>
              </a:rPr>
              <a:t> </a:t>
            </a:r>
            <a:r>
              <a:rPr sz="1000" b="1" spc="-10" dirty="0">
                <a:latin typeface="+mj-lt"/>
                <a:cs typeface="Calibri"/>
              </a:rPr>
              <a:t>Command </a:t>
            </a:r>
            <a:r>
              <a:rPr sz="1000" b="1" dirty="0">
                <a:latin typeface="+mj-lt"/>
                <a:cs typeface="Calibri"/>
              </a:rPr>
              <a:t>and</a:t>
            </a:r>
            <a:r>
              <a:rPr sz="1000" b="1" spc="-20" dirty="0">
                <a:latin typeface="+mj-lt"/>
                <a:cs typeface="Calibri"/>
              </a:rPr>
              <a:t> </a:t>
            </a:r>
            <a:r>
              <a:rPr sz="1000" b="1" spc="-10" dirty="0">
                <a:latin typeface="+mj-lt"/>
                <a:cs typeface="Calibri"/>
              </a:rPr>
              <a:t>Control.</a:t>
            </a:r>
            <a:endParaRPr sz="1000" dirty="0">
              <a:latin typeface="+mj-lt"/>
              <a:cs typeface="Calibri"/>
            </a:endParaRPr>
          </a:p>
          <a:p>
            <a:pPr marL="257810">
              <a:lnSpc>
                <a:spcPct val="100000"/>
              </a:lnSpc>
              <a:spcBef>
                <a:spcPts val="440"/>
              </a:spcBef>
            </a:pPr>
            <a:r>
              <a:rPr sz="1000" b="1" dirty="0">
                <a:solidFill>
                  <a:srgbClr val="FFFFFF"/>
                </a:solidFill>
                <a:latin typeface="+mj-lt"/>
                <a:cs typeface="Calibri"/>
              </a:rPr>
              <a:t>SUSTAINABLE</a:t>
            </a:r>
            <a:r>
              <a:rPr sz="1000" b="1" spc="-5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00" b="1" spc="-20" dirty="0">
                <a:solidFill>
                  <a:srgbClr val="FFFFFF"/>
                </a:solidFill>
                <a:latin typeface="+mj-lt"/>
                <a:cs typeface="Calibri"/>
              </a:rPr>
              <a:t>NODES</a:t>
            </a:r>
            <a:endParaRPr sz="1000" dirty="0">
              <a:latin typeface="+mj-lt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551803" y="1559433"/>
            <a:ext cx="2333625" cy="26104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065" marR="5080" indent="635" algn="ctr">
              <a:lnSpc>
                <a:spcPct val="80000"/>
              </a:lnSpc>
              <a:spcBef>
                <a:spcPts val="480"/>
              </a:spcBef>
            </a:pP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CMS</a:t>
            </a:r>
            <a:r>
              <a:rPr sz="1600" i="1" spc="-7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Computers</a:t>
            </a:r>
            <a:r>
              <a:rPr sz="1600" i="1" spc="-5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spc="-10" dirty="0">
                <a:solidFill>
                  <a:srgbClr val="C00000"/>
                </a:solidFill>
                <a:latin typeface="+mj-lt"/>
                <a:cs typeface="Calibri"/>
              </a:rPr>
              <a:t>seamless integration</a:t>
            </a:r>
            <a:r>
              <a:rPr sz="1600" i="1" spc="1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spc="-10" dirty="0">
                <a:solidFill>
                  <a:srgbClr val="C00000"/>
                </a:solidFill>
                <a:latin typeface="+mj-lt"/>
                <a:cs typeface="Calibri"/>
              </a:rPr>
              <a:t>capabilities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across</a:t>
            </a:r>
            <a:r>
              <a:rPr sz="1600" i="1" spc="-4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spc="-10" dirty="0">
                <a:solidFill>
                  <a:srgbClr val="C00000"/>
                </a:solidFill>
                <a:latin typeface="+mj-lt"/>
                <a:cs typeface="Calibri"/>
              </a:rPr>
              <a:t>Traffic,</a:t>
            </a:r>
            <a:r>
              <a:rPr sz="1600" i="1" spc="-6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Software,</a:t>
            </a:r>
            <a:r>
              <a:rPr sz="1600" i="1" spc="-4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spc="-25" dirty="0">
                <a:solidFill>
                  <a:srgbClr val="C00000"/>
                </a:solidFill>
                <a:latin typeface="+mj-lt"/>
                <a:cs typeface="Calibri"/>
              </a:rPr>
              <a:t>IT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and</a:t>
            </a:r>
            <a:r>
              <a:rPr sz="1600" i="1" spc="-1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IoT</a:t>
            </a:r>
            <a:r>
              <a:rPr sz="1600" i="1" spc="-2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as</a:t>
            </a:r>
            <a:r>
              <a:rPr sz="1600" i="1" spc="-1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well</a:t>
            </a:r>
            <a:r>
              <a:rPr sz="1600" i="1" spc="-3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as</a:t>
            </a:r>
            <a:r>
              <a:rPr sz="1600" i="1" spc="-1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deep</a:t>
            </a:r>
            <a:r>
              <a:rPr sz="1600" i="1" spc="-2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spc="-20" dirty="0">
                <a:solidFill>
                  <a:srgbClr val="C00000"/>
                </a:solidFill>
                <a:latin typeface="+mj-lt"/>
                <a:cs typeface="Calibri"/>
              </a:rPr>
              <a:t>field </a:t>
            </a:r>
            <a:r>
              <a:rPr sz="1600" i="1" spc="-10" dirty="0">
                <a:solidFill>
                  <a:srgbClr val="C00000"/>
                </a:solidFill>
                <a:latin typeface="+mj-lt"/>
                <a:cs typeface="Calibri"/>
              </a:rPr>
              <a:t>expertise,</a:t>
            </a:r>
            <a:r>
              <a:rPr sz="1600" i="1" spc="-3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is</a:t>
            </a:r>
            <a:r>
              <a:rPr sz="1600" i="1" spc="-1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able</a:t>
            </a:r>
            <a:r>
              <a:rPr sz="1600" i="1" spc="-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spc="-25" dirty="0">
                <a:solidFill>
                  <a:srgbClr val="C00000"/>
                </a:solidFill>
                <a:latin typeface="+mj-lt"/>
                <a:cs typeface="Calibri"/>
              </a:rPr>
              <a:t>to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efficiently</a:t>
            </a:r>
            <a:r>
              <a:rPr sz="1600" i="1" spc="-9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manage</a:t>
            </a:r>
            <a:r>
              <a:rPr sz="1600" i="1" spc="-4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spc="-25" dirty="0">
                <a:solidFill>
                  <a:srgbClr val="C00000"/>
                </a:solidFill>
                <a:latin typeface="+mj-lt"/>
                <a:cs typeface="Calibri"/>
              </a:rPr>
              <a:t>key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traffic</a:t>
            </a:r>
            <a:r>
              <a:rPr sz="1600" i="1" spc="-5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nodes,</a:t>
            </a:r>
            <a:r>
              <a:rPr sz="1600" i="1" spc="-3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spc="-10" dirty="0">
                <a:solidFill>
                  <a:srgbClr val="C00000"/>
                </a:solidFill>
                <a:latin typeface="+mj-lt"/>
                <a:cs typeface="Calibri"/>
              </a:rPr>
              <a:t>connecting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multimodal</a:t>
            </a:r>
            <a:r>
              <a:rPr sz="1600" i="1" spc="-8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networks</a:t>
            </a:r>
            <a:r>
              <a:rPr sz="1600" i="1" spc="-7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spc="-25" dirty="0">
                <a:solidFill>
                  <a:srgbClr val="C00000"/>
                </a:solidFill>
                <a:latin typeface="+mj-lt"/>
                <a:cs typeface="Calibri"/>
              </a:rPr>
              <a:t>and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leveraging</a:t>
            </a:r>
            <a:r>
              <a:rPr sz="1600" i="1" spc="-8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spc="-10" dirty="0">
                <a:solidFill>
                  <a:srgbClr val="C00000"/>
                </a:solidFill>
                <a:latin typeface="+mj-lt"/>
                <a:cs typeface="Calibri"/>
              </a:rPr>
              <a:t>technological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innovation</a:t>
            </a:r>
            <a:r>
              <a:rPr sz="1600" i="1" spc="-4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to</a:t>
            </a:r>
            <a:r>
              <a:rPr sz="1600" i="1" spc="-6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spc="-10" dirty="0">
                <a:solidFill>
                  <a:srgbClr val="C00000"/>
                </a:solidFill>
                <a:latin typeface="+mj-lt"/>
                <a:cs typeface="Calibri"/>
              </a:rPr>
              <a:t>provide distinctive</a:t>
            </a:r>
            <a:r>
              <a:rPr sz="1600" i="1" spc="-3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added-</a:t>
            </a:r>
            <a:r>
              <a:rPr sz="1600" i="1" spc="1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spc="-20" dirty="0">
                <a:solidFill>
                  <a:srgbClr val="C00000"/>
                </a:solidFill>
                <a:latin typeface="+mj-lt"/>
                <a:cs typeface="Calibri"/>
              </a:rPr>
              <a:t>value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service</a:t>
            </a:r>
            <a:r>
              <a:rPr sz="1600" i="1" spc="-4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for</a:t>
            </a:r>
            <a:r>
              <a:rPr sz="1600" i="1" spc="-2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Calibri"/>
              </a:rPr>
              <a:t>the</a:t>
            </a:r>
            <a:r>
              <a:rPr sz="1600" i="1" spc="-3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i="1" spc="-10" dirty="0">
                <a:solidFill>
                  <a:srgbClr val="C00000"/>
                </a:solidFill>
                <a:latin typeface="+mj-lt"/>
                <a:cs typeface="Calibri"/>
              </a:rPr>
              <a:t>smoothest traffic.</a:t>
            </a:r>
            <a:endParaRPr sz="1600" dirty="0">
              <a:latin typeface="+mj-lt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970903" y="1284223"/>
            <a:ext cx="15068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+mj-lt"/>
                <a:cs typeface="Calibri"/>
              </a:rPr>
              <a:t>SYSTEMS</a:t>
            </a:r>
            <a:r>
              <a:rPr sz="1200" b="1" spc="-1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+mj-lt"/>
                <a:cs typeface="Calibri"/>
              </a:rPr>
              <a:t>INTEGRATION</a:t>
            </a:r>
            <a:endParaRPr sz="1200">
              <a:latin typeface="+mj-lt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60400" y="1100709"/>
            <a:ext cx="1893570" cy="42164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1347470">
              <a:lnSpc>
                <a:spcPct val="80000"/>
              </a:lnSpc>
              <a:spcBef>
                <a:spcPts val="335"/>
              </a:spcBef>
              <a:tabLst>
                <a:tab pos="1335405" algn="l"/>
              </a:tabLst>
            </a:pPr>
            <a:r>
              <a:rPr sz="1000" b="1" spc="-10" dirty="0">
                <a:solidFill>
                  <a:srgbClr val="006FC0"/>
                </a:solidFill>
                <a:latin typeface="+mj-lt"/>
                <a:cs typeface="Calibri"/>
              </a:rPr>
              <a:t>Traffic </a:t>
            </a:r>
            <a:r>
              <a:rPr sz="1500" b="1" baseline="2777" dirty="0">
                <a:solidFill>
                  <a:srgbClr val="006FC0"/>
                </a:solidFill>
                <a:latin typeface="+mj-lt"/>
                <a:cs typeface="Calibri"/>
              </a:rPr>
              <a:t>Advanced</a:t>
            </a:r>
            <a:r>
              <a:rPr sz="1500" b="1" spc="-52" baseline="2777" dirty="0">
                <a:solidFill>
                  <a:srgbClr val="006FC0"/>
                </a:solidFill>
                <a:latin typeface="+mj-lt"/>
                <a:cs typeface="Calibri"/>
              </a:rPr>
              <a:t> </a:t>
            </a:r>
            <a:r>
              <a:rPr sz="1500" b="1" baseline="2777" dirty="0">
                <a:solidFill>
                  <a:srgbClr val="006FC0"/>
                </a:solidFill>
                <a:latin typeface="+mj-lt"/>
                <a:cs typeface="Calibri"/>
              </a:rPr>
              <a:t>Transport</a:t>
            </a:r>
            <a:r>
              <a:rPr sz="1500" b="1" spc="630" baseline="2777" dirty="0">
                <a:solidFill>
                  <a:srgbClr val="006FC0"/>
                </a:solidFill>
                <a:latin typeface="+mj-lt"/>
                <a:cs typeface="Calibri"/>
              </a:rPr>
              <a:t> </a:t>
            </a:r>
            <a:r>
              <a:rPr sz="1000" b="1" spc="-10" dirty="0">
                <a:solidFill>
                  <a:srgbClr val="006FC0"/>
                </a:solidFill>
                <a:latin typeface="+mj-lt"/>
                <a:cs typeface="Calibri"/>
              </a:rPr>
              <a:t>Management </a:t>
            </a:r>
            <a:r>
              <a:rPr sz="1500" b="1" baseline="2777" dirty="0">
                <a:solidFill>
                  <a:srgbClr val="006FC0"/>
                </a:solidFill>
                <a:latin typeface="+mj-lt"/>
                <a:cs typeface="Calibri"/>
              </a:rPr>
              <a:t>Management</a:t>
            </a:r>
            <a:r>
              <a:rPr sz="1500" b="1" spc="-60" baseline="2777" dirty="0">
                <a:solidFill>
                  <a:srgbClr val="006FC0"/>
                </a:solidFill>
                <a:latin typeface="+mj-lt"/>
                <a:cs typeface="Calibri"/>
              </a:rPr>
              <a:t> </a:t>
            </a:r>
            <a:r>
              <a:rPr sz="1500" b="1" baseline="2777" dirty="0">
                <a:solidFill>
                  <a:srgbClr val="006FC0"/>
                </a:solidFill>
                <a:latin typeface="+mj-lt"/>
                <a:cs typeface="Calibri"/>
              </a:rPr>
              <a:t>&amp;</a:t>
            </a:r>
            <a:r>
              <a:rPr sz="1500" b="1" spc="-37" baseline="2777" dirty="0">
                <a:solidFill>
                  <a:srgbClr val="006FC0"/>
                </a:solidFill>
                <a:latin typeface="+mj-lt"/>
                <a:cs typeface="Calibri"/>
              </a:rPr>
              <a:t> </a:t>
            </a:r>
            <a:r>
              <a:rPr sz="1500" b="1" spc="-30" baseline="2777" dirty="0">
                <a:solidFill>
                  <a:srgbClr val="006FC0"/>
                </a:solidFill>
                <a:latin typeface="+mj-lt"/>
                <a:cs typeface="Calibri"/>
              </a:rPr>
              <a:t>ICCC</a:t>
            </a:r>
            <a:r>
              <a:rPr sz="1500" b="1" baseline="2777" dirty="0">
                <a:solidFill>
                  <a:srgbClr val="006FC0"/>
                </a:solidFill>
                <a:latin typeface="+mj-lt"/>
                <a:cs typeface="Calibri"/>
              </a:rPr>
              <a:t>	</a:t>
            </a:r>
            <a:r>
              <a:rPr sz="1000" b="1" dirty="0">
                <a:solidFill>
                  <a:srgbClr val="006FC0"/>
                </a:solidFill>
                <a:latin typeface="+mj-lt"/>
                <a:cs typeface="Calibri"/>
              </a:rPr>
              <a:t>&amp;</a:t>
            </a:r>
            <a:r>
              <a:rPr sz="1000" b="1" spc="-10" dirty="0">
                <a:solidFill>
                  <a:srgbClr val="006FC0"/>
                </a:solidFill>
                <a:latin typeface="+mj-lt"/>
                <a:cs typeface="Calibri"/>
              </a:rPr>
              <a:t> </a:t>
            </a:r>
            <a:r>
              <a:rPr sz="1000" b="1" spc="-20" dirty="0">
                <a:solidFill>
                  <a:srgbClr val="006FC0"/>
                </a:solidFill>
                <a:latin typeface="+mj-lt"/>
                <a:cs typeface="Calibri"/>
              </a:rPr>
              <a:t>TIMS</a:t>
            </a:r>
            <a:endParaRPr sz="1000" dirty="0">
              <a:latin typeface="+mj-lt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228214" y="1127886"/>
            <a:ext cx="705485" cy="428194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algn="ctr">
              <a:lnSpc>
                <a:spcPts val="960"/>
              </a:lnSpc>
              <a:spcBef>
                <a:spcPts val="325"/>
              </a:spcBef>
            </a:pPr>
            <a:r>
              <a:rPr sz="1000" b="1" spc="-10" dirty="0">
                <a:solidFill>
                  <a:srgbClr val="006FC0"/>
                </a:solidFill>
                <a:latin typeface="+mj-lt"/>
                <a:cs typeface="Calibri"/>
              </a:rPr>
              <a:t>Enforcement </a:t>
            </a:r>
            <a:r>
              <a:rPr sz="1000" b="1" dirty="0">
                <a:solidFill>
                  <a:srgbClr val="006FC0"/>
                </a:solidFill>
                <a:latin typeface="+mj-lt"/>
                <a:cs typeface="Calibri"/>
              </a:rPr>
              <a:t>&amp;</a:t>
            </a:r>
            <a:r>
              <a:rPr sz="1000" b="1" spc="-20" dirty="0">
                <a:solidFill>
                  <a:srgbClr val="006FC0"/>
                </a:solidFill>
                <a:latin typeface="+mj-lt"/>
                <a:cs typeface="Calibri"/>
              </a:rPr>
              <a:t> </a:t>
            </a:r>
            <a:r>
              <a:rPr sz="1000" b="1" spc="-10" dirty="0">
                <a:solidFill>
                  <a:srgbClr val="006FC0"/>
                </a:solidFill>
                <a:latin typeface="+mj-lt"/>
                <a:cs typeface="Calibri"/>
              </a:rPr>
              <a:t>Access Control</a:t>
            </a:r>
            <a:endParaRPr sz="1000" dirty="0">
              <a:latin typeface="+mj-lt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044188" y="1201928"/>
            <a:ext cx="199580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82470" algn="l"/>
              </a:tabLst>
            </a:pPr>
            <a:r>
              <a:rPr sz="1000" b="1" u="sng" dirty="0">
                <a:solidFill>
                  <a:srgbClr val="006FC0"/>
                </a:solidFill>
                <a:uFill>
                  <a:solidFill>
                    <a:srgbClr val="497DBA"/>
                  </a:solidFill>
                </a:uFill>
                <a:latin typeface="+mj-lt"/>
                <a:cs typeface="Calibri"/>
              </a:rPr>
              <a:t>	</a:t>
            </a:r>
            <a:endParaRPr sz="1000">
              <a:latin typeface="+mj-lt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028314" y="1201928"/>
            <a:ext cx="780415" cy="299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24154" marR="5080" indent="-212090">
              <a:lnSpc>
                <a:spcPts val="960"/>
              </a:lnSpc>
              <a:spcBef>
                <a:spcPts val="325"/>
              </a:spcBef>
            </a:pPr>
            <a:r>
              <a:rPr sz="1000" b="1" dirty="0">
                <a:solidFill>
                  <a:srgbClr val="006FC0"/>
                </a:solidFill>
                <a:latin typeface="+mj-lt"/>
                <a:cs typeface="Calibri"/>
              </a:rPr>
              <a:t>Citizen</a:t>
            </a:r>
            <a:r>
              <a:rPr sz="1000" b="1" spc="-20" dirty="0">
                <a:solidFill>
                  <a:srgbClr val="006FC0"/>
                </a:solidFill>
                <a:latin typeface="+mj-lt"/>
                <a:cs typeface="Calibri"/>
              </a:rPr>
              <a:t> </a:t>
            </a:r>
            <a:r>
              <a:rPr sz="1000" b="1" spc="-10" dirty="0">
                <a:solidFill>
                  <a:srgbClr val="006FC0"/>
                </a:solidFill>
                <a:latin typeface="+mj-lt"/>
                <a:cs typeface="Calibri"/>
              </a:rPr>
              <a:t>Portals </a:t>
            </a:r>
            <a:r>
              <a:rPr sz="1000" b="1" dirty="0">
                <a:solidFill>
                  <a:srgbClr val="006FC0"/>
                </a:solidFill>
                <a:latin typeface="+mj-lt"/>
                <a:cs typeface="Calibri"/>
              </a:rPr>
              <a:t>&amp;</a:t>
            </a:r>
            <a:r>
              <a:rPr sz="1000" b="1" spc="-10" dirty="0">
                <a:solidFill>
                  <a:srgbClr val="006FC0"/>
                </a:solidFill>
                <a:latin typeface="+mj-lt"/>
                <a:cs typeface="Calibri"/>
              </a:rPr>
              <a:t> </a:t>
            </a:r>
            <a:r>
              <a:rPr sz="1000" b="1" spc="-25" dirty="0">
                <a:solidFill>
                  <a:srgbClr val="006FC0"/>
                </a:solidFill>
                <a:latin typeface="+mj-lt"/>
                <a:cs typeface="Calibri"/>
              </a:rPr>
              <a:t>App</a:t>
            </a:r>
            <a:endParaRPr sz="1000" dirty="0">
              <a:latin typeface="+mj-lt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012694" y="2146807"/>
            <a:ext cx="591185" cy="42164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43180" marR="5080" indent="-30480" algn="just">
              <a:lnSpc>
                <a:spcPct val="80000"/>
              </a:lnSpc>
              <a:spcBef>
                <a:spcPts val="335"/>
              </a:spcBef>
            </a:pPr>
            <a:r>
              <a:rPr sz="1000" b="1" spc="-10" dirty="0">
                <a:solidFill>
                  <a:srgbClr val="006FC0"/>
                </a:solidFill>
                <a:latin typeface="+mj-lt"/>
                <a:cs typeface="Calibri"/>
              </a:rPr>
              <a:t>Connected </a:t>
            </a:r>
            <a:r>
              <a:rPr sz="1000" b="1" dirty="0">
                <a:solidFill>
                  <a:srgbClr val="006FC0"/>
                </a:solidFill>
                <a:latin typeface="+mj-lt"/>
                <a:cs typeface="Calibri"/>
              </a:rPr>
              <a:t>Cars</a:t>
            </a:r>
            <a:r>
              <a:rPr sz="1000" b="1" spc="-20" dirty="0">
                <a:solidFill>
                  <a:srgbClr val="006FC0"/>
                </a:solidFill>
                <a:latin typeface="+mj-lt"/>
                <a:cs typeface="Calibri"/>
              </a:rPr>
              <a:t> </a:t>
            </a:r>
            <a:r>
              <a:rPr sz="1000" b="1" dirty="0">
                <a:solidFill>
                  <a:srgbClr val="006FC0"/>
                </a:solidFill>
                <a:latin typeface="+mj-lt"/>
                <a:cs typeface="Calibri"/>
              </a:rPr>
              <a:t>&amp;</a:t>
            </a:r>
            <a:r>
              <a:rPr sz="1000" b="1" spc="-15" dirty="0">
                <a:solidFill>
                  <a:srgbClr val="006FC0"/>
                </a:solidFill>
                <a:latin typeface="+mj-lt"/>
                <a:cs typeface="Calibri"/>
              </a:rPr>
              <a:t> </a:t>
            </a:r>
            <a:r>
              <a:rPr sz="1000" b="1" spc="-25" dirty="0">
                <a:solidFill>
                  <a:srgbClr val="006FC0"/>
                </a:solidFill>
                <a:latin typeface="+mj-lt"/>
                <a:cs typeface="Calibri"/>
              </a:rPr>
              <a:t>EV</a:t>
            </a:r>
            <a:r>
              <a:rPr sz="1000" b="1" spc="-10" dirty="0">
                <a:solidFill>
                  <a:srgbClr val="006FC0"/>
                </a:solidFill>
                <a:latin typeface="+mj-lt"/>
                <a:cs typeface="Calibri"/>
              </a:rPr>
              <a:t> Metering</a:t>
            </a:r>
            <a:endParaRPr sz="1000" dirty="0">
              <a:latin typeface="+mj-lt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827402" y="2359278"/>
            <a:ext cx="707390" cy="299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55244" marR="5080" indent="-43180">
              <a:lnSpc>
                <a:spcPts val="960"/>
              </a:lnSpc>
              <a:spcBef>
                <a:spcPts val="325"/>
              </a:spcBef>
            </a:pPr>
            <a:r>
              <a:rPr sz="1000" b="1" spc="-10" dirty="0">
                <a:solidFill>
                  <a:srgbClr val="006FC0"/>
                </a:solidFill>
                <a:latin typeface="+mj-lt"/>
                <a:cs typeface="Calibri"/>
              </a:rPr>
              <a:t>Environment Monitoring</a:t>
            </a:r>
            <a:endParaRPr sz="1000" dirty="0">
              <a:latin typeface="+mj-lt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165047" y="2443733"/>
            <a:ext cx="56070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006FC0"/>
                </a:solidFill>
                <a:latin typeface="+mj-lt"/>
                <a:cs typeface="Calibri"/>
              </a:rPr>
              <a:t>E-mobility</a:t>
            </a:r>
            <a:endParaRPr sz="1000" dirty="0">
              <a:latin typeface="+mj-lt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5575" y="1813305"/>
            <a:ext cx="420370" cy="29972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39370">
              <a:lnSpc>
                <a:spcPct val="80000"/>
              </a:lnSpc>
              <a:spcBef>
                <a:spcPts val="335"/>
              </a:spcBef>
            </a:pPr>
            <a:r>
              <a:rPr sz="1000" b="1" spc="-10" dirty="0">
                <a:solidFill>
                  <a:srgbClr val="006FC0"/>
                </a:solidFill>
                <a:latin typeface="+mj-lt"/>
                <a:cs typeface="Calibri"/>
              </a:rPr>
              <a:t>Smart Parking</a:t>
            </a:r>
            <a:endParaRPr sz="1000" dirty="0">
              <a:latin typeface="+mj-lt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9913" y="3200145"/>
            <a:ext cx="61722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C00000"/>
                </a:solidFill>
                <a:latin typeface="+mj-lt"/>
                <a:cs typeface="Calibri"/>
              </a:rPr>
              <a:t>High</a:t>
            </a:r>
            <a:r>
              <a:rPr sz="1000" b="1" spc="-2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000" b="1" spc="-10" dirty="0">
                <a:solidFill>
                  <a:srgbClr val="C00000"/>
                </a:solidFill>
                <a:latin typeface="+mj-lt"/>
                <a:cs typeface="Calibri"/>
              </a:rPr>
              <a:t>Speed</a:t>
            </a:r>
            <a:endParaRPr sz="1000">
              <a:latin typeface="+mj-lt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19557" y="3322065"/>
            <a:ext cx="22097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C00000"/>
                </a:solidFill>
                <a:latin typeface="+mj-lt"/>
                <a:cs typeface="Calibri"/>
              </a:rPr>
              <a:t>Rail</a:t>
            </a:r>
            <a:endParaRPr sz="1000">
              <a:latin typeface="+mj-lt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334892" y="2903981"/>
            <a:ext cx="5302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C00000"/>
                </a:solidFill>
                <a:latin typeface="+mj-lt"/>
                <a:cs typeface="Calibri"/>
              </a:rPr>
              <a:t>Highways</a:t>
            </a:r>
            <a:endParaRPr sz="1000">
              <a:latin typeface="+mj-lt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264534" y="3748836"/>
            <a:ext cx="626110" cy="299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203835">
              <a:lnSpc>
                <a:spcPts val="960"/>
              </a:lnSpc>
              <a:spcBef>
                <a:spcPts val="325"/>
              </a:spcBef>
            </a:pPr>
            <a:r>
              <a:rPr sz="1000" b="1" spc="-20" dirty="0">
                <a:solidFill>
                  <a:srgbClr val="C00000"/>
                </a:solidFill>
                <a:latin typeface="+mj-lt"/>
                <a:cs typeface="Calibri"/>
              </a:rPr>
              <a:t>Rail </a:t>
            </a:r>
            <a:r>
              <a:rPr sz="1000" b="1" spc="-10" dirty="0">
                <a:solidFill>
                  <a:srgbClr val="C00000"/>
                </a:solidFill>
                <a:latin typeface="+mj-lt"/>
                <a:cs typeface="Calibri"/>
              </a:rPr>
              <a:t>Connection</a:t>
            </a:r>
            <a:endParaRPr sz="1000">
              <a:latin typeface="+mj-lt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51104" y="1627632"/>
            <a:ext cx="3395979" cy="2272665"/>
            <a:chOff x="451104" y="1627632"/>
            <a:chExt cx="3395979" cy="2272665"/>
          </a:xfrm>
        </p:grpSpPr>
        <p:sp>
          <p:nvSpPr>
            <p:cNvPr id="66" name="object 66"/>
            <p:cNvSpPr/>
            <p:nvPr/>
          </p:nvSpPr>
          <p:spPr>
            <a:xfrm>
              <a:off x="998220" y="3128772"/>
              <a:ext cx="586740" cy="684530"/>
            </a:xfrm>
            <a:custGeom>
              <a:avLst/>
              <a:gdLst/>
              <a:ahLst/>
              <a:cxnLst/>
              <a:rect l="l" t="t" r="r" b="b"/>
              <a:pathLst>
                <a:path w="586740" h="684529">
                  <a:moveTo>
                    <a:pt x="586740" y="0"/>
                  </a:moveTo>
                  <a:lnTo>
                    <a:pt x="0" y="684276"/>
                  </a:lnTo>
                </a:path>
              </a:pathLst>
            </a:custGeom>
            <a:ln w="31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1377695" y="3128772"/>
              <a:ext cx="558165" cy="684530"/>
            </a:xfrm>
            <a:custGeom>
              <a:avLst/>
              <a:gdLst/>
              <a:ahLst/>
              <a:cxnLst/>
              <a:rect l="l" t="t" r="r" b="b"/>
              <a:pathLst>
                <a:path w="558164" h="684529">
                  <a:moveTo>
                    <a:pt x="557784" y="0"/>
                  </a:moveTo>
                  <a:lnTo>
                    <a:pt x="0" y="684276"/>
                  </a:lnTo>
                </a:path>
              </a:pathLst>
            </a:custGeom>
            <a:ln w="31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647700" y="3128772"/>
              <a:ext cx="605155" cy="672465"/>
            </a:xfrm>
            <a:custGeom>
              <a:avLst/>
              <a:gdLst/>
              <a:ahLst/>
              <a:cxnLst/>
              <a:rect l="l" t="t" r="r" b="b"/>
              <a:pathLst>
                <a:path w="605155" h="672464">
                  <a:moveTo>
                    <a:pt x="605028" y="0"/>
                  </a:moveTo>
                  <a:lnTo>
                    <a:pt x="0" y="672084"/>
                  </a:lnTo>
                </a:path>
              </a:pathLst>
            </a:custGeom>
            <a:ln w="31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2787396" y="3226308"/>
              <a:ext cx="428625" cy="483234"/>
            </a:xfrm>
            <a:custGeom>
              <a:avLst/>
              <a:gdLst/>
              <a:ahLst/>
              <a:cxnLst/>
              <a:rect l="l" t="t" r="r" b="b"/>
              <a:pathLst>
                <a:path w="428625" h="483235">
                  <a:moveTo>
                    <a:pt x="428244" y="0"/>
                  </a:moveTo>
                  <a:lnTo>
                    <a:pt x="0" y="483108"/>
                  </a:lnTo>
                </a:path>
              </a:pathLst>
            </a:custGeom>
            <a:ln w="31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2618231" y="3230880"/>
              <a:ext cx="259079" cy="327660"/>
            </a:xfrm>
            <a:custGeom>
              <a:avLst/>
              <a:gdLst/>
              <a:ahLst/>
              <a:cxnLst/>
              <a:rect l="l" t="t" r="r" b="b"/>
              <a:pathLst>
                <a:path w="259080" h="327660">
                  <a:moveTo>
                    <a:pt x="259080" y="0"/>
                  </a:moveTo>
                  <a:lnTo>
                    <a:pt x="0" y="327660"/>
                  </a:lnTo>
                </a:path>
              </a:pathLst>
            </a:custGeom>
            <a:ln w="31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2446020" y="3218688"/>
              <a:ext cx="175260" cy="222885"/>
            </a:xfrm>
            <a:custGeom>
              <a:avLst/>
              <a:gdLst/>
              <a:ahLst/>
              <a:cxnLst/>
              <a:rect l="l" t="t" r="r" b="b"/>
              <a:pathLst>
                <a:path w="175260" h="222885">
                  <a:moveTo>
                    <a:pt x="175260" y="0"/>
                  </a:moveTo>
                  <a:lnTo>
                    <a:pt x="0" y="222504"/>
                  </a:lnTo>
                </a:path>
              </a:pathLst>
            </a:custGeom>
            <a:ln w="31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1171955" y="3215640"/>
              <a:ext cx="2047239" cy="10795"/>
            </a:xfrm>
            <a:custGeom>
              <a:avLst/>
              <a:gdLst/>
              <a:ahLst/>
              <a:cxnLst/>
              <a:rect l="l" t="t" r="r" b="b"/>
              <a:pathLst>
                <a:path w="2047239" h="10794">
                  <a:moveTo>
                    <a:pt x="0" y="0"/>
                  </a:moveTo>
                  <a:lnTo>
                    <a:pt x="2046732" y="10668"/>
                  </a:lnTo>
                </a:path>
              </a:pathLst>
            </a:custGeom>
            <a:ln w="31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984504" y="3430524"/>
              <a:ext cx="2047239" cy="10795"/>
            </a:xfrm>
            <a:custGeom>
              <a:avLst/>
              <a:gdLst/>
              <a:ahLst/>
              <a:cxnLst/>
              <a:rect l="l" t="t" r="r" b="b"/>
              <a:pathLst>
                <a:path w="2047239" h="10795">
                  <a:moveTo>
                    <a:pt x="0" y="0"/>
                  </a:moveTo>
                  <a:lnTo>
                    <a:pt x="2046732" y="10668"/>
                  </a:lnTo>
                </a:path>
              </a:pathLst>
            </a:custGeom>
            <a:ln w="31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748284" y="3697224"/>
              <a:ext cx="2047239" cy="12700"/>
            </a:xfrm>
            <a:custGeom>
              <a:avLst/>
              <a:gdLst/>
              <a:ahLst/>
              <a:cxnLst/>
              <a:rect l="l" t="t" r="r" b="b"/>
              <a:pathLst>
                <a:path w="2047239" h="12700">
                  <a:moveTo>
                    <a:pt x="0" y="0"/>
                  </a:moveTo>
                  <a:lnTo>
                    <a:pt x="2046732" y="12192"/>
                  </a:lnTo>
                </a:path>
              </a:pathLst>
            </a:custGeom>
            <a:ln w="31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75" name="object 7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2571" y="1705356"/>
              <a:ext cx="216408" cy="18745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82723" y="2135124"/>
              <a:ext cx="131063" cy="138683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55748" y="3360420"/>
              <a:ext cx="153924" cy="158496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82140" y="3340608"/>
              <a:ext cx="211836" cy="210312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6320" y="3339083"/>
              <a:ext cx="399288" cy="10668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5124" y="3134868"/>
              <a:ext cx="304800" cy="120395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57884" y="2125980"/>
              <a:ext cx="169164" cy="176783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49424" y="1627632"/>
              <a:ext cx="204215" cy="20421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08887" y="1709928"/>
              <a:ext cx="260603" cy="102108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81655" y="2013204"/>
              <a:ext cx="198119" cy="77724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220" y="2127504"/>
              <a:ext cx="155448" cy="158495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9263" y="3497580"/>
              <a:ext cx="202692" cy="217931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73808" y="3270504"/>
              <a:ext cx="202692" cy="216407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4004" y="3668267"/>
              <a:ext cx="153923" cy="156972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66187" y="3573780"/>
              <a:ext cx="254507" cy="254507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2372868" y="3727704"/>
              <a:ext cx="782320" cy="172720"/>
            </a:xfrm>
            <a:custGeom>
              <a:avLst/>
              <a:gdLst/>
              <a:ahLst/>
              <a:cxnLst/>
              <a:rect l="l" t="t" r="r" b="b"/>
              <a:pathLst>
                <a:path w="782319" h="172720">
                  <a:moveTo>
                    <a:pt x="171577" y="0"/>
                  </a:moveTo>
                  <a:lnTo>
                    <a:pt x="0" y="143510"/>
                  </a:lnTo>
                  <a:lnTo>
                    <a:pt x="600710" y="172212"/>
                  </a:lnTo>
                  <a:lnTo>
                    <a:pt x="781812" y="9525"/>
                  </a:lnTo>
                  <a:lnTo>
                    <a:pt x="171577" y="0"/>
                  </a:lnTo>
                  <a:close/>
                </a:path>
              </a:pathLst>
            </a:custGeom>
            <a:solidFill>
              <a:srgbClr val="94B3D6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91" name="object 9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02052" y="3707892"/>
              <a:ext cx="338327" cy="147828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69692" y="3201924"/>
              <a:ext cx="291083" cy="237744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87779" y="3544824"/>
              <a:ext cx="291084" cy="237744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1104" y="3694176"/>
              <a:ext cx="173736" cy="161544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57072" y="3189732"/>
              <a:ext cx="141731" cy="132587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19200" y="3000756"/>
              <a:ext cx="291084" cy="237744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75815" y="3098292"/>
              <a:ext cx="312420" cy="124968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29156" y="1679448"/>
              <a:ext cx="213360" cy="178308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09087" y="1900428"/>
              <a:ext cx="138683" cy="108204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976628" y="2052828"/>
              <a:ext cx="138683" cy="108204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652272" y="2447544"/>
              <a:ext cx="238125" cy="1187450"/>
            </a:xfrm>
            <a:custGeom>
              <a:avLst/>
              <a:gdLst/>
              <a:ahLst/>
              <a:cxnLst/>
              <a:rect l="l" t="t" r="r" b="b"/>
              <a:pathLst>
                <a:path w="238125" h="1187450">
                  <a:moveTo>
                    <a:pt x="0" y="0"/>
                  </a:moveTo>
                  <a:lnTo>
                    <a:pt x="0" y="567182"/>
                  </a:lnTo>
                  <a:lnTo>
                    <a:pt x="237744" y="553974"/>
                  </a:lnTo>
                  <a:lnTo>
                    <a:pt x="237744" y="1187196"/>
                  </a:lnTo>
                </a:path>
              </a:pathLst>
            </a:custGeom>
            <a:ln w="3175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1075944" y="1956816"/>
              <a:ext cx="2037714" cy="551815"/>
            </a:xfrm>
            <a:custGeom>
              <a:avLst/>
              <a:gdLst/>
              <a:ahLst/>
              <a:cxnLst/>
              <a:rect l="l" t="t" r="r" b="b"/>
              <a:pathLst>
                <a:path w="2037714" h="551814">
                  <a:moveTo>
                    <a:pt x="0" y="0"/>
                  </a:moveTo>
                  <a:lnTo>
                    <a:pt x="19037" y="532638"/>
                  </a:lnTo>
                  <a:lnTo>
                    <a:pt x="2037588" y="551688"/>
                  </a:lnTo>
                  <a:lnTo>
                    <a:pt x="2037588" y="0"/>
                  </a:lnTo>
                </a:path>
              </a:pathLst>
            </a:custGeom>
            <a:ln w="3175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1385315" y="2346960"/>
              <a:ext cx="33020" cy="583565"/>
            </a:xfrm>
            <a:custGeom>
              <a:avLst/>
              <a:gdLst/>
              <a:ahLst/>
              <a:cxnLst/>
              <a:rect l="l" t="t" r="r" b="b"/>
              <a:pathLst>
                <a:path w="33019" h="583564">
                  <a:moveTo>
                    <a:pt x="33019" y="0"/>
                  </a:moveTo>
                  <a:lnTo>
                    <a:pt x="0" y="583438"/>
                  </a:lnTo>
                </a:path>
              </a:pathLst>
            </a:custGeom>
            <a:ln w="3175">
              <a:solidFill>
                <a:srgbClr val="497DB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1709928" y="1897380"/>
              <a:ext cx="12700" cy="1143635"/>
            </a:xfrm>
            <a:custGeom>
              <a:avLst/>
              <a:gdLst/>
              <a:ahLst/>
              <a:cxnLst/>
              <a:rect l="l" t="t" r="r" b="b"/>
              <a:pathLst>
                <a:path w="12700" h="1143635">
                  <a:moveTo>
                    <a:pt x="12318" y="0"/>
                  </a:moveTo>
                  <a:lnTo>
                    <a:pt x="0" y="1143381"/>
                  </a:lnTo>
                </a:path>
              </a:pathLst>
            </a:custGeom>
            <a:ln w="3175">
              <a:solidFill>
                <a:srgbClr val="497DB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2426208" y="2499360"/>
              <a:ext cx="3810" cy="631825"/>
            </a:xfrm>
            <a:custGeom>
              <a:avLst/>
              <a:gdLst/>
              <a:ahLst/>
              <a:cxnLst/>
              <a:rect l="l" t="t" r="r" b="b"/>
              <a:pathLst>
                <a:path w="3810" h="631825">
                  <a:moveTo>
                    <a:pt x="3429" y="0"/>
                  </a:moveTo>
                  <a:lnTo>
                    <a:pt x="0" y="631571"/>
                  </a:lnTo>
                </a:path>
              </a:pathLst>
            </a:custGeom>
            <a:ln w="3175">
              <a:solidFill>
                <a:srgbClr val="497DB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2674620" y="2151888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h="370205">
                  <a:moveTo>
                    <a:pt x="0" y="0"/>
                  </a:moveTo>
                  <a:lnTo>
                    <a:pt x="0" y="369824"/>
                  </a:lnTo>
                </a:path>
              </a:pathLst>
            </a:custGeom>
            <a:ln w="3175">
              <a:solidFill>
                <a:srgbClr val="497DB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1981200" y="2485644"/>
              <a:ext cx="13970" cy="543560"/>
            </a:xfrm>
            <a:custGeom>
              <a:avLst/>
              <a:gdLst/>
              <a:ahLst/>
              <a:cxnLst/>
              <a:rect l="l" t="t" r="r" b="b"/>
              <a:pathLst>
                <a:path w="13969" h="543560">
                  <a:moveTo>
                    <a:pt x="13462" y="0"/>
                  </a:moveTo>
                  <a:lnTo>
                    <a:pt x="0" y="543433"/>
                  </a:lnTo>
                </a:path>
              </a:pathLst>
            </a:custGeom>
            <a:ln w="3175">
              <a:solidFill>
                <a:srgbClr val="497DB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3241548" y="3304032"/>
              <a:ext cx="600710" cy="113664"/>
            </a:xfrm>
            <a:custGeom>
              <a:avLst/>
              <a:gdLst/>
              <a:ahLst/>
              <a:cxnLst/>
              <a:rect l="l" t="t" r="r" b="b"/>
              <a:pathLst>
                <a:path w="600710" h="113664">
                  <a:moveTo>
                    <a:pt x="0" y="0"/>
                  </a:moveTo>
                  <a:lnTo>
                    <a:pt x="600583" y="113665"/>
                  </a:lnTo>
                </a:path>
              </a:pathLst>
            </a:custGeom>
            <a:ln w="9144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499872" y="2441448"/>
              <a:ext cx="513715" cy="975360"/>
            </a:xfrm>
            <a:custGeom>
              <a:avLst/>
              <a:gdLst/>
              <a:ahLst/>
              <a:cxnLst/>
              <a:rect l="l" t="t" r="r" b="b"/>
              <a:pathLst>
                <a:path w="513715" h="975360">
                  <a:moveTo>
                    <a:pt x="9512" y="0"/>
                  </a:moveTo>
                  <a:lnTo>
                    <a:pt x="0" y="975360"/>
                  </a:lnTo>
                  <a:lnTo>
                    <a:pt x="513588" y="975360"/>
                  </a:lnTo>
                </a:path>
              </a:pathLst>
            </a:custGeom>
            <a:ln w="3175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361594" y="4067657"/>
            <a:ext cx="420370" cy="29972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68580" marR="5080" indent="-56515">
              <a:lnSpc>
                <a:spcPct val="80000"/>
              </a:lnSpc>
              <a:spcBef>
                <a:spcPts val="335"/>
              </a:spcBef>
            </a:pPr>
            <a:r>
              <a:rPr sz="1000" b="1" spc="-10" dirty="0">
                <a:solidFill>
                  <a:srgbClr val="C00000"/>
                </a:solidFill>
                <a:latin typeface="+mj-lt"/>
                <a:cs typeface="Calibri"/>
              </a:rPr>
              <a:t>Parking spots</a:t>
            </a:r>
            <a:endParaRPr sz="1000">
              <a:latin typeface="+mj-lt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581403" y="4074972"/>
            <a:ext cx="4038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C00000"/>
                </a:solidFill>
                <a:latin typeface="+mj-lt"/>
                <a:cs typeface="Calibri"/>
              </a:rPr>
              <a:t>Airport</a:t>
            </a:r>
            <a:endParaRPr sz="1000">
              <a:latin typeface="+mj-lt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488438" y="4081983"/>
            <a:ext cx="57340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C00000"/>
                </a:solidFill>
                <a:latin typeface="+mj-lt"/>
                <a:cs typeface="Calibri"/>
              </a:rPr>
              <a:t>Waterway</a:t>
            </a:r>
            <a:endParaRPr sz="1000">
              <a:latin typeface="+mj-lt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2161794" y="2834766"/>
            <a:ext cx="528320" cy="299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8415" marR="5080" indent="-6350">
              <a:lnSpc>
                <a:spcPts val="960"/>
              </a:lnSpc>
              <a:spcBef>
                <a:spcPts val="325"/>
              </a:spcBef>
            </a:pPr>
            <a:r>
              <a:rPr sz="1000" b="1" spc="-10" dirty="0">
                <a:solidFill>
                  <a:srgbClr val="C00000"/>
                </a:solidFill>
                <a:latin typeface="+mj-lt"/>
                <a:cs typeface="Calibri"/>
              </a:rPr>
              <a:t>Industrial Corridors</a:t>
            </a:r>
            <a:endParaRPr sz="1000">
              <a:latin typeface="+mj-lt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569772" y="2785998"/>
            <a:ext cx="889000" cy="29972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30504" marR="5080" indent="-218440">
              <a:lnSpc>
                <a:spcPct val="80000"/>
              </a:lnSpc>
              <a:spcBef>
                <a:spcPts val="335"/>
              </a:spcBef>
            </a:pPr>
            <a:r>
              <a:rPr sz="1000" b="1" dirty="0">
                <a:solidFill>
                  <a:srgbClr val="C00000"/>
                </a:solidFill>
                <a:latin typeface="+mj-lt"/>
                <a:cs typeface="Calibri"/>
              </a:rPr>
              <a:t>Central</a:t>
            </a:r>
            <a:r>
              <a:rPr sz="1000" b="1" spc="-4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000" b="1" spc="-10" dirty="0">
                <a:solidFill>
                  <a:srgbClr val="C00000"/>
                </a:solidFill>
                <a:latin typeface="+mj-lt"/>
                <a:cs typeface="Calibri"/>
              </a:rPr>
              <a:t>Business Districts</a:t>
            </a:r>
            <a:endParaRPr sz="1000">
              <a:latin typeface="+mj-lt"/>
              <a:cs typeface="Calibri"/>
            </a:endParaRPr>
          </a:p>
        </p:txBody>
      </p:sp>
      <p:pic>
        <p:nvPicPr>
          <p:cNvPr id="115" name="object 1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7808" y="3624071"/>
            <a:ext cx="172212" cy="176784"/>
          </a:xfrm>
          <a:prstGeom prst="rect">
            <a:avLst/>
          </a:prstGeom>
        </p:spPr>
      </p:pic>
      <p:sp>
        <p:nvSpPr>
          <p:cNvPr id="117" name="object 117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  <p:sp>
        <p:nvSpPr>
          <p:cNvPr id="118" name="object 40">
            <a:extLst>
              <a:ext uri="{FF2B5EF4-FFF2-40B4-BE49-F238E27FC236}">
                <a16:creationId xmlns:a16="http://schemas.microsoft.com/office/drawing/2014/main" id="{CA83ADB5-574C-F822-C441-BCF738369491}"/>
              </a:ext>
            </a:extLst>
          </p:cNvPr>
          <p:cNvSpPr txBox="1">
            <a:spLocks/>
          </p:cNvSpPr>
          <p:nvPr/>
        </p:nvSpPr>
        <p:spPr>
          <a:xfrm>
            <a:off x="0" y="114808"/>
            <a:ext cx="7543797" cy="4505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0" rIns="0" bIns="0" rtlCol="0" anchor="ctr">
            <a:spAutoFit/>
          </a:bodyPr>
          <a:lstStyle>
            <a:lvl1pPr>
              <a:defRPr sz="2800" b="1" i="0">
                <a:solidFill>
                  <a:srgbClr val="009900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l">
              <a:lnSpc>
                <a:spcPts val="3650"/>
              </a:lnSpc>
              <a:spcBef>
                <a:spcPts val="105"/>
              </a:spcBef>
            </a:pPr>
            <a:r>
              <a:rPr lang="en-US" sz="2400" spc="-25" dirty="0">
                <a:solidFill>
                  <a:schemeClr val="bg1"/>
                </a:solidFill>
                <a:latin typeface="+mj-lt"/>
              </a:rPr>
              <a:t>  Traffic</a:t>
            </a:r>
            <a:r>
              <a:rPr lang="en-US" sz="2400" spc="-5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+mj-lt"/>
              </a:rPr>
              <a:t>Engg</a:t>
            </a:r>
            <a:r>
              <a:rPr lang="en-US" sz="2400" spc="-55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+</a:t>
            </a:r>
            <a:r>
              <a:rPr lang="en-US" sz="2400" spc="-35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IoT</a:t>
            </a:r>
            <a:r>
              <a:rPr lang="en-US" sz="2400" spc="-45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+</a:t>
            </a:r>
            <a:r>
              <a:rPr lang="en-US" sz="2400" spc="-4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Software</a:t>
            </a:r>
            <a:r>
              <a:rPr lang="en-US" sz="2400" spc="-45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+</a:t>
            </a:r>
            <a:r>
              <a:rPr lang="en-US" sz="2400" spc="-4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IT</a:t>
            </a:r>
            <a:r>
              <a:rPr lang="en-US" sz="2400" spc="-4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 spc="-10" dirty="0">
                <a:solidFill>
                  <a:schemeClr val="bg1"/>
                </a:solidFill>
                <a:latin typeface="+mj-lt"/>
              </a:rPr>
              <a:t>Infra</a:t>
            </a: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836" y="701759"/>
            <a:ext cx="4942840" cy="3926204"/>
            <a:chOff x="211836" y="568451"/>
            <a:chExt cx="4942840" cy="3926204"/>
          </a:xfrm>
        </p:grpSpPr>
        <p:sp>
          <p:nvSpPr>
            <p:cNvPr id="3" name="object 3"/>
            <p:cNvSpPr/>
            <p:nvPr/>
          </p:nvSpPr>
          <p:spPr>
            <a:xfrm>
              <a:off x="214884" y="571499"/>
              <a:ext cx="4936490" cy="3919854"/>
            </a:xfrm>
            <a:custGeom>
              <a:avLst/>
              <a:gdLst/>
              <a:ahLst/>
              <a:cxnLst/>
              <a:rect l="l" t="t" r="r" b="b"/>
              <a:pathLst>
                <a:path w="4936490" h="3919854">
                  <a:moveTo>
                    <a:pt x="4936236" y="0"/>
                  </a:moveTo>
                  <a:lnTo>
                    <a:pt x="0" y="0"/>
                  </a:lnTo>
                  <a:lnTo>
                    <a:pt x="0" y="3919728"/>
                  </a:lnTo>
                  <a:lnTo>
                    <a:pt x="4936236" y="3919728"/>
                  </a:lnTo>
                  <a:lnTo>
                    <a:pt x="4936236" y="0"/>
                  </a:lnTo>
                  <a:close/>
                </a:path>
              </a:pathLst>
            </a:custGeom>
            <a:solidFill>
              <a:srgbClr val="FFE6B3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14884" y="571499"/>
              <a:ext cx="4936490" cy="3919854"/>
            </a:xfrm>
            <a:custGeom>
              <a:avLst/>
              <a:gdLst/>
              <a:ahLst/>
              <a:cxnLst/>
              <a:rect l="l" t="t" r="r" b="b"/>
              <a:pathLst>
                <a:path w="4936490" h="3919854">
                  <a:moveTo>
                    <a:pt x="0" y="3919728"/>
                  </a:moveTo>
                  <a:lnTo>
                    <a:pt x="4936236" y="3919728"/>
                  </a:lnTo>
                  <a:lnTo>
                    <a:pt x="4936236" y="0"/>
                  </a:lnTo>
                  <a:lnTo>
                    <a:pt x="0" y="0"/>
                  </a:lnTo>
                  <a:lnTo>
                    <a:pt x="0" y="3919728"/>
                  </a:lnTo>
                  <a:close/>
                </a:path>
              </a:pathLst>
            </a:custGeom>
            <a:ln w="6096">
              <a:solidFill>
                <a:srgbClr val="F9870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60" y="2907791"/>
              <a:ext cx="4855464" cy="7802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32" y="595883"/>
              <a:ext cx="4858511" cy="23286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3698747"/>
              <a:ext cx="4901184" cy="7802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 rotWithShape="1">
            <a:blip r:embed="rId4" cstate="print"/>
            <a:srcRect t="1875" b="1875"/>
            <a:stretch/>
          </p:blipFill>
          <p:spPr>
            <a:xfrm>
              <a:off x="458724" y="2935223"/>
              <a:ext cx="725424" cy="7040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000" y="672083"/>
              <a:ext cx="981456" cy="6751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68046" y="659129"/>
              <a:ext cx="1007744" cy="701040"/>
            </a:xfrm>
            <a:custGeom>
              <a:avLst/>
              <a:gdLst/>
              <a:ahLst/>
              <a:cxnLst/>
              <a:rect l="l" t="t" r="r" b="b"/>
              <a:pathLst>
                <a:path w="1007744" h="701040">
                  <a:moveTo>
                    <a:pt x="0" y="701039"/>
                  </a:moveTo>
                  <a:lnTo>
                    <a:pt x="1007363" y="701039"/>
                  </a:lnTo>
                  <a:lnTo>
                    <a:pt x="1007363" y="0"/>
                  </a:lnTo>
                  <a:lnTo>
                    <a:pt x="0" y="0"/>
                  </a:lnTo>
                  <a:lnTo>
                    <a:pt x="0" y="701039"/>
                  </a:lnTo>
                  <a:close/>
                </a:path>
              </a:pathLst>
            </a:custGeom>
            <a:ln w="25908">
              <a:solidFill>
                <a:srgbClr val="2C88E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8996" y="3756659"/>
              <a:ext cx="947928" cy="6614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20" y="1418843"/>
              <a:ext cx="1011936" cy="6797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1000" y="2225040"/>
              <a:ext cx="1013460" cy="63398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358638" y="514350"/>
            <a:ext cx="3523108" cy="3897862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600" b="1" dirty="0">
                <a:solidFill>
                  <a:srgbClr val="006FC0"/>
                </a:solidFill>
                <a:latin typeface="+mj-lt"/>
                <a:cs typeface="Arial"/>
              </a:rPr>
              <a:t>CMS</a:t>
            </a:r>
            <a:r>
              <a:rPr sz="1600" b="1" spc="-15" dirty="0">
                <a:solidFill>
                  <a:srgbClr val="006FC0"/>
                </a:solidFill>
                <a:latin typeface="+mj-lt"/>
                <a:cs typeface="Arial"/>
              </a:rPr>
              <a:t> </a:t>
            </a:r>
            <a:r>
              <a:rPr sz="1600" b="1" dirty="0">
                <a:solidFill>
                  <a:srgbClr val="006FC0"/>
                </a:solidFill>
                <a:latin typeface="+mj-lt"/>
                <a:cs typeface="Arial"/>
              </a:rPr>
              <a:t>can</a:t>
            </a:r>
            <a:r>
              <a:rPr sz="1600" b="1" spc="-10" dirty="0">
                <a:solidFill>
                  <a:srgbClr val="006FC0"/>
                </a:solidFill>
                <a:latin typeface="+mj-lt"/>
                <a:cs typeface="Arial"/>
              </a:rPr>
              <a:t> </a:t>
            </a:r>
            <a:r>
              <a:rPr sz="1600" b="1" spc="-20" dirty="0">
                <a:solidFill>
                  <a:srgbClr val="006FC0"/>
                </a:solidFill>
                <a:latin typeface="+mj-lt"/>
                <a:cs typeface="Arial"/>
              </a:rPr>
              <a:t>help:</a:t>
            </a:r>
            <a:endParaRPr sz="1600" dirty="0">
              <a:latin typeface="+mj-lt"/>
              <a:cs typeface="Arial"/>
            </a:endParaRPr>
          </a:p>
          <a:p>
            <a:pPr marL="187960" marR="209550" indent="-175895">
              <a:lnSpc>
                <a:spcPct val="100000"/>
              </a:lnSpc>
              <a:spcBef>
                <a:spcPts val="670"/>
              </a:spcBef>
              <a:buClr>
                <a:srgbClr val="C00000"/>
              </a:buClr>
              <a:buFont typeface="Wingdings"/>
              <a:buChar char=""/>
              <a:tabLst>
                <a:tab pos="187960" algn="l"/>
              </a:tabLst>
            </a:pPr>
            <a:r>
              <a:rPr sz="1100" b="1" dirty="0">
                <a:latin typeface="+mj-lt"/>
                <a:cs typeface="Arial"/>
              </a:rPr>
              <a:t>Improve</a:t>
            </a:r>
            <a:r>
              <a:rPr sz="1100" b="1" spc="-5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Traffic</a:t>
            </a:r>
            <a:r>
              <a:rPr sz="1100" b="1" spc="-4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Management,</a:t>
            </a:r>
            <a:r>
              <a:rPr sz="1100" b="1" spc="-3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Optimize</a:t>
            </a:r>
            <a:r>
              <a:rPr sz="1100" b="1" spc="-70" dirty="0">
                <a:latin typeface="+mj-lt"/>
                <a:cs typeface="Arial"/>
              </a:rPr>
              <a:t> </a:t>
            </a:r>
            <a:r>
              <a:rPr sz="1100" b="1" spc="-20" dirty="0">
                <a:latin typeface="+mj-lt"/>
                <a:cs typeface="Arial"/>
              </a:rPr>
              <a:t>Road </a:t>
            </a:r>
            <a:r>
              <a:rPr sz="1100" b="1" dirty="0">
                <a:latin typeface="+mj-lt"/>
                <a:cs typeface="Arial"/>
              </a:rPr>
              <a:t>Capacity</a:t>
            </a:r>
            <a:r>
              <a:rPr sz="1100" b="1" spc="-5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&amp;</a:t>
            </a:r>
            <a:r>
              <a:rPr sz="1100" b="1" spc="-2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Enhance</a:t>
            </a:r>
            <a:r>
              <a:rPr sz="1100" b="1" spc="-5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Travel</a:t>
            </a:r>
            <a:r>
              <a:rPr sz="1100" b="1" spc="-20" dirty="0">
                <a:latin typeface="+mj-lt"/>
                <a:cs typeface="Arial"/>
              </a:rPr>
              <a:t> </a:t>
            </a:r>
            <a:r>
              <a:rPr sz="1100" b="1" spc="-10" dirty="0">
                <a:latin typeface="+mj-lt"/>
                <a:cs typeface="Arial"/>
              </a:rPr>
              <a:t>experience.</a:t>
            </a:r>
            <a:endParaRPr sz="1100" dirty="0">
              <a:latin typeface="+mj-lt"/>
              <a:cs typeface="Arial"/>
            </a:endParaRPr>
          </a:p>
          <a:p>
            <a:pPr marL="186690" marR="170815" indent="-174625">
              <a:lnSpc>
                <a:spcPct val="100000"/>
              </a:lnSpc>
              <a:spcBef>
                <a:spcPts val="660"/>
              </a:spcBef>
              <a:buClr>
                <a:srgbClr val="C00000"/>
              </a:buClr>
              <a:buFont typeface="Wingdings"/>
              <a:buChar char=""/>
              <a:tabLst>
                <a:tab pos="187960" algn="l"/>
              </a:tabLst>
            </a:pPr>
            <a:r>
              <a:rPr sz="1100" b="1" dirty="0">
                <a:latin typeface="+mj-lt"/>
                <a:cs typeface="Arial"/>
              </a:rPr>
              <a:t>Predict,</a:t>
            </a:r>
            <a:r>
              <a:rPr sz="1100" b="1" spc="-4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Monitor,</a:t>
            </a:r>
            <a:r>
              <a:rPr sz="1100" b="1" spc="-4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help</a:t>
            </a:r>
            <a:r>
              <a:rPr sz="1100" b="1" spc="-2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mitigate</a:t>
            </a:r>
            <a:r>
              <a:rPr sz="1100" b="1" spc="-7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Crisis</a:t>
            </a:r>
            <a:r>
              <a:rPr sz="1100" b="1" spc="-20" dirty="0">
                <a:latin typeface="+mj-lt"/>
                <a:cs typeface="Arial"/>
              </a:rPr>
              <a:t> </a:t>
            </a:r>
            <a:r>
              <a:rPr sz="1100" b="1" spc="-10" dirty="0">
                <a:latin typeface="+mj-lt"/>
                <a:cs typeface="Arial"/>
              </a:rPr>
              <a:t>through 	</a:t>
            </a:r>
            <a:r>
              <a:rPr sz="1100" b="1" dirty="0">
                <a:latin typeface="+mj-lt"/>
                <a:cs typeface="Arial"/>
              </a:rPr>
              <a:t>Early</a:t>
            </a:r>
            <a:r>
              <a:rPr sz="1100" b="1" spc="-2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Warning</a:t>
            </a:r>
            <a:r>
              <a:rPr sz="1100" b="1" spc="-2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&amp;</a:t>
            </a:r>
            <a:r>
              <a:rPr sz="1100" b="1" spc="-1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Real</a:t>
            </a:r>
            <a:r>
              <a:rPr sz="1100" b="1" spc="-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Time</a:t>
            </a:r>
            <a:r>
              <a:rPr sz="1100" b="1" spc="-3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alerts</a:t>
            </a:r>
            <a:r>
              <a:rPr sz="1100" b="1" spc="-5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as</a:t>
            </a:r>
            <a:r>
              <a:rPr sz="1100" b="1" spc="-1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well</a:t>
            </a:r>
            <a:r>
              <a:rPr sz="1100" b="1" spc="-50" dirty="0">
                <a:latin typeface="+mj-lt"/>
                <a:cs typeface="Arial"/>
              </a:rPr>
              <a:t> </a:t>
            </a:r>
            <a:r>
              <a:rPr sz="1100" b="1" spc="-25" dirty="0">
                <a:latin typeface="+mj-lt"/>
                <a:cs typeface="Arial"/>
              </a:rPr>
              <a:t>as 	</a:t>
            </a:r>
            <a:r>
              <a:rPr sz="1100" b="1" dirty="0">
                <a:latin typeface="+mj-lt"/>
                <a:cs typeface="Arial"/>
              </a:rPr>
              <a:t>crowd</a:t>
            </a:r>
            <a:r>
              <a:rPr sz="1100" b="1" spc="-30" dirty="0">
                <a:latin typeface="+mj-lt"/>
                <a:cs typeface="Arial"/>
              </a:rPr>
              <a:t> </a:t>
            </a:r>
            <a:r>
              <a:rPr sz="1100" b="1" spc="-10" dirty="0">
                <a:latin typeface="+mj-lt"/>
                <a:cs typeface="Arial"/>
              </a:rPr>
              <a:t>management</a:t>
            </a:r>
            <a:endParaRPr sz="1100" dirty="0">
              <a:latin typeface="+mj-lt"/>
              <a:cs typeface="Arial"/>
            </a:endParaRPr>
          </a:p>
          <a:p>
            <a:pPr marL="187960" marR="200025" indent="-175895">
              <a:lnSpc>
                <a:spcPct val="100000"/>
              </a:lnSpc>
              <a:spcBef>
                <a:spcPts val="660"/>
              </a:spcBef>
              <a:buClr>
                <a:srgbClr val="C00000"/>
              </a:buClr>
              <a:buFont typeface="Wingdings"/>
              <a:buChar char=""/>
              <a:tabLst>
                <a:tab pos="187960" algn="l"/>
              </a:tabLst>
            </a:pPr>
            <a:r>
              <a:rPr sz="1100" b="1" dirty="0">
                <a:latin typeface="+mj-lt"/>
                <a:cs typeface="Arial"/>
              </a:rPr>
              <a:t>Provide</a:t>
            </a:r>
            <a:r>
              <a:rPr sz="1100" b="1" spc="-5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Operational</a:t>
            </a:r>
            <a:r>
              <a:rPr sz="1100" b="1" spc="-4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Support</a:t>
            </a:r>
            <a:r>
              <a:rPr sz="1100" b="1" spc="-1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to</a:t>
            </a:r>
            <a:r>
              <a:rPr sz="1100" b="1" spc="-2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Citywide</a:t>
            </a:r>
            <a:r>
              <a:rPr sz="1100" b="1" spc="-75" dirty="0">
                <a:latin typeface="+mj-lt"/>
                <a:cs typeface="Arial"/>
              </a:rPr>
              <a:t> </a:t>
            </a:r>
            <a:r>
              <a:rPr sz="1100" b="1" spc="-50" dirty="0">
                <a:latin typeface="+mj-lt"/>
                <a:cs typeface="Arial"/>
              </a:rPr>
              <a:t>&amp; </a:t>
            </a:r>
            <a:r>
              <a:rPr sz="1100" b="1" spc="-10" dirty="0">
                <a:latin typeface="+mj-lt"/>
                <a:cs typeface="Arial"/>
              </a:rPr>
              <a:t>Campus-</a:t>
            </a:r>
            <a:r>
              <a:rPr sz="1100" b="1" dirty="0">
                <a:latin typeface="+mj-lt"/>
                <a:cs typeface="Arial"/>
              </a:rPr>
              <a:t>wide</a:t>
            </a:r>
            <a:r>
              <a:rPr sz="1100" b="1" spc="-6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Surveillance</a:t>
            </a:r>
            <a:r>
              <a:rPr sz="1100" b="1" spc="-3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and</a:t>
            </a:r>
            <a:r>
              <a:rPr sz="1100" b="1" spc="25" dirty="0">
                <a:latin typeface="+mj-lt"/>
                <a:cs typeface="Arial"/>
              </a:rPr>
              <a:t> </a:t>
            </a:r>
            <a:r>
              <a:rPr sz="1100" b="1" spc="-10" dirty="0">
                <a:latin typeface="+mj-lt"/>
                <a:cs typeface="Arial"/>
              </a:rPr>
              <a:t>management</a:t>
            </a:r>
            <a:endParaRPr sz="1100" dirty="0">
              <a:latin typeface="+mj-lt"/>
              <a:cs typeface="Arial"/>
            </a:endParaRPr>
          </a:p>
          <a:p>
            <a:pPr marL="187960" indent="-175260">
              <a:lnSpc>
                <a:spcPct val="100000"/>
              </a:lnSpc>
              <a:spcBef>
                <a:spcPts val="660"/>
              </a:spcBef>
              <a:buClr>
                <a:srgbClr val="C00000"/>
              </a:buClr>
              <a:buFont typeface="Wingdings"/>
              <a:buChar char=""/>
              <a:tabLst>
                <a:tab pos="187960" algn="l"/>
              </a:tabLst>
            </a:pPr>
            <a:r>
              <a:rPr sz="1100" b="1" dirty="0">
                <a:latin typeface="+mj-lt"/>
                <a:cs typeface="Arial"/>
              </a:rPr>
              <a:t>Integration</a:t>
            </a:r>
            <a:r>
              <a:rPr sz="1100" b="1" spc="-5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of</a:t>
            </a:r>
            <a:r>
              <a:rPr sz="1100" b="1" spc="-3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all</a:t>
            </a:r>
            <a:r>
              <a:rPr sz="1100" b="1" spc="-3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Physical</a:t>
            </a:r>
            <a:r>
              <a:rPr sz="1100" b="1" spc="-1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&amp;</a:t>
            </a:r>
            <a:r>
              <a:rPr sz="1100" b="1" spc="-1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IT</a:t>
            </a:r>
            <a:r>
              <a:rPr sz="1100" b="1" spc="-30" dirty="0">
                <a:latin typeface="+mj-lt"/>
                <a:cs typeface="Arial"/>
              </a:rPr>
              <a:t> </a:t>
            </a:r>
            <a:r>
              <a:rPr sz="1100" b="1" spc="-10" dirty="0">
                <a:latin typeface="+mj-lt"/>
                <a:cs typeface="Arial"/>
              </a:rPr>
              <a:t>City/Campus</a:t>
            </a:r>
            <a:endParaRPr sz="1100" dirty="0">
              <a:latin typeface="+mj-lt"/>
              <a:cs typeface="Arial"/>
            </a:endParaRPr>
          </a:p>
          <a:p>
            <a:pPr marL="187960">
              <a:lnSpc>
                <a:spcPct val="100000"/>
              </a:lnSpc>
            </a:pPr>
            <a:r>
              <a:rPr sz="1100" b="1" spc="-10" dirty="0">
                <a:latin typeface="+mj-lt"/>
                <a:cs typeface="Arial"/>
              </a:rPr>
              <a:t>assets</a:t>
            </a:r>
            <a:endParaRPr sz="1100" dirty="0">
              <a:latin typeface="+mj-lt"/>
              <a:cs typeface="Arial"/>
            </a:endParaRPr>
          </a:p>
          <a:p>
            <a:pPr marL="187960" marR="189865" indent="-175895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Font typeface="Wingdings"/>
              <a:buChar char=""/>
              <a:tabLst>
                <a:tab pos="187960" algn="l"/>
              </a:tabLst>
            </a:pPr>
            <a:r>
              <a:rPr sz="1100" b="1" dirty="0">
                <a:latin typeface="+mj-lt"/>
                <a:cs typeface="Arial"/>
              </a:rPr>
              <a:t>Improve</a:t>
            </a:r>
            <a:r>
              <a:rPr sz="1100" b="1" spc="-6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Citizen</a:t>
            </a:r>
            <a:r>
              <a:rPr sz="1100" b="1" spc="-5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Experience</a:t>
            </a:r>
            <a:r>
              <a:rPr sz="1100" b="1" spc="-5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through</a:t>
            </a:r>
            <a:r>
              <a:rPr sz="1100" b="1" spc="-25" dirty="0">
                <a:latin typeface="+mj-lt"/>
                <a:cs typeface="Arial"/>
              </a:rPr>
              <a:t> </a:t>
            </a:r>
            <a:r>
              <a:rPr sz="1100" b="1" spc="-10" dirty="0">
                <a:latin typeface="+mj-lt"/>
                <a:cs typeface="Arial"/>
              </a:rPr>
              <a:t>Service </a:t>
            </a:r>
            <a:r>
              <a:rPr sz="1100" b="1" dirty="0">
                <a:latin typeface="+mj-lt"/>
                <a:cs typeface="Arial"/>
              </a:rPr>
              <a:t>Delivery,</a:t>
            </a:r>
            <a:r>
              <a:rPr sz="1100" b="1" spc="-4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Citizen</a:t>
            </a:r>
            <a:r>
              <a:rPr sz="1100" b="1" spc="-6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Portals</a:t>
            </a:r>
            <a:r>
              <a:rPr sz="1100" b="1" spc="-5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&amp;</a:t>
            </a:r>
            <a:r>
              <a:rPr sz="1100" b="1" spc="-4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Engagement</a:t>
            </a:r>
            <a:r>
              <a:rPr sz="1100" b="1" spc="-40" dirty="0">
                <a:latin typeface="+mj-lt"/>
                <a:cs typeface="Arial"/>
              </a:rPr>
              <a:t> </a:t>
            </a:r>
            <a:r>
              <a:rPr sz="1100" b="1" spc="-20" dirty="0">
                <a:latin typeface="+mj-lt"/>
                <a:cs typeface="Arial"/>
              </a:rPr>
              <a:t>apps</a:t>
            </a:r>
            <a:endParaRPr sz="1100" dirty="0">
              <a:latin typeface="+mj-lt"/>
              <a:cs typeface="Arial"/>
            </a:endParaRPr>
          </a:p>
          <a:p>
            <a:pPr marL="187960" indent="-175260">
              <a:lnSpc>
                <a:spcPct val="100000"/>
              </a:lnSpc>
              <a:spcBef>
                <a:spcPts val="660"/>
              </a:spcBef>
              <a:buClr>
                <a:srgbClr val="C00000"/>
              </a:buClr>
              <a:buFont typeface="Wingdings"/>
              <a:buChar char=""/>
              <a:tabLst>
                <a:tab pos="187960" algn="l"/>
              </a:tabLst>
            </a:pPr>
            <a:r>
              <a:rPr sz="1100" b="1" spc="-10" dirty="0">
                <a:latin typeface="+mj-lt"/>
                <a:cs typeface="Arial"/>
              </a:rPr>
              <a:t>Co-</a:t>
            </a:r>
            <a:r>
              <a:rPr sz="1100" b="1" dirty="0">
                <a:latin typeface="+mj-lt"/>
                <a:cs typeface="Arial"/>
              </a:rPr>
              <a:t>ordinate</a:t>
            </a:r>
            <a:r>
              <a:rPr sz="1100" b="1" spc="-5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Multi</a:t>
            </a:r>
            <a:r>
              <a:rPr sz="1100" b="1" spc="-6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agency</a:t>
            </a:r>
            <a:r>
              <a:rPr sz="1100" b="1" spc="-1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Responses</a:t>
            </a:r>
            <a:r>
              <a:rPr sz="1100" b="1" spc="-1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and</a:t>
            </a:r>
            <a:r>
              <a:rPr sz="1100" b="1" spc="-10" dirty="0">
                <a:latin typeface="+mj-lt"/>
                <a:cs typeface="Arial"/>
              </a:rPr>
              <a:t> alerts</a:t>
            </a:r>
            <a:endParaRPr sz="1100" dirty="0">
              <a:latin typeface="+mj-lt"/>
              <a:cs typeface="Arial"/>
            </a:endParaRPr>
          </a:p>
          <a:p>
            <a:pPr marL="187960" indent="-175260">
              <a:lnSpc>
                <a:spcPct val="100000"/>
              </a:lnSpc>
              <a:spcBef>
                <a:spcPts val="660"/>
              </a:spcBef>
              <a:buClr>
                <a:srgbClr val="C00000"/>
              </a:buClr>
              <a:buFont typeface="Wingdings"/>
              <a:buChar char=""/>
              <a:tabLst>
                <a:tab pos="187960" algn="l"/>
              </a:tabLst>
            </a:pPr>
            <a:r>
              <a:rPr sz="1100" b="1" dirty="0">
                <a:latin typeface="+mj-lt"/>
                <a:cs typeface="Arial"/>
              </a:rPr>
              <a:t>IT</a:t>
            </a:r>
            <a:r>
              <a:rPr sz="1100" b="1" spc="-4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Datacenter</a:t>
            </a:r>
            <a:r>
              <a:rPr sz="1100" b="1" spc="-4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&amp;</a:t>
            </a:r>
            <a:r>
              <a:rPr sz="1100" b="1" spc="-2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DR</a:t>
            </a:r>
            <a:r>
              <a:rPr sz="1100" b="1" spc="-2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systems</a:t>
            </a:r>
            <a:r>
              <a:rPr sz="1100" b="1" spc="-1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with</a:t>
            </a:r>
            <a:r>
              <a:rPr sz="1100" b="1" spc="-60" dirty="0">
                <a:latin typeface="+mj-lt"/>
                <a:cs typeface="Arial"/>
              </a:rPr>
              <a:t> </a:t>
            </a:r>
            <a:r>
              <a:rPr sz="1100" b="1" spc="-10" dirty="0">
                <a:latin typeface="+mj-lt"/>
                <a:cs typeface="Arial"/>
              </a:rPr>
              <a:t>Information</a:t>
            </a:r>
            <a:endParaRPr sz="1100" dirty="0">
              <a:latin typeface="+mj-lt"/>
              <a:cs typeface="Arial"/>
            </a:endParaRPr>
          </a:p>
          <a:p>
            <a:pPr marL="187960">
              <a:lnSpc>
                <a:spcPct val="100000"/>
              </a:lnSpc>
            </a:pPr>
            <a:r>
              <a:rPr sz="1100" b="1" dirty="0">
                <a:latin typeface="+mj-lt"/>
                <a:cs typeface="Arial"/>
              </a:rPr>
              <a:t>Security</a:t>
            </a:r>
            <a:r>
              <a:rPr sz="1100" b="1" spc="-5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&amp;</a:t>
            </a:r>
            <a:r>
              <a:rPr sz="1100" b="1" spc="-2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Compliance</a:t>
            </a:r>
            <a:r>
              <a:rPr sz="1100" b="1" spc="-70" dirty="0">
                <a:latin typeface="+mj-lt"/>
                <a:cs typeface="Arial"/>
              </a:rPr>
              <a:t> </a:t>
            </a:r>
            <a:r>
              <a:rPr sz="1100" b="1" spc="-10" dirty="0">
                <a:latin typeface="+mj-lt"/>
                <a:cs typeface="Arial"/>
              </a:rPr>
              <a:t>management</a:t>
            </a:r>
            <a:endParaRPr sz="1100" dirty="0">
              <a:latin typeface="+mj-lt"/>
              <a:cs typeface="Arial"/>
            </a:endParaRPr>
          </a:p>
          <a:p>
            <a:pPr marL="187960" indent="-175260">
              <a:lnSpc>
                <a:spcPct val="100000"/>
              </a:lnSpc>
              <a:spcBef>
                <a:spcPts val="660"/>
              </a:spcBef>
              <a:buClr>
                <a:srgbClr val="C00000"/>
              </a:buClr>
              <a:buFont typeface="Wingdings"/>
              <a:buChar char=""/>
              <a:tabLst>
                <a:tab pos="187960" algn="l"/>
              </a:tabLst>
            </a:pPr>
            <a:r>
              <a:rPr sz="1100" b="1" dirty="0">
                <a:latin typeface="+mj-lt"/>
                <a:cs typeface="Arial"/>
              </a:rPr>
              <a:t>Provide</a:t>
            </a:r>
            <a:r>
              <a:rPr sz="1100" b="1" spc="-5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optimized</a:t>
            </a:r>
            <a:r>
              <a:rPr sz="1100" b="1" spc="-3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visualization</a:t>
            </a:r>
            <a:r>
              <a:rPr sz="1100" b="1" spc="-4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of</a:t>
            </a:r>
            <a:r>
              <a:rPr sz="1100" b="1" spc="-25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key</a:t>
            </a:r>
            <a:r>
              <a:rPr sz="1100" b="1" spc="-15" dirty="0">
                <a:latin typeface="+mj-lt"/>
                <a:cs typeface="Arial"/>
              </a:rPr>
              <a:t> </a:t>
            </a:r>
            <a:r>
              <a:rPr sz="1100" b="1" spc="-10" dirty="0">
                <a:latin typeface="+mj-lt"/>
                <a:cs typeface="Arial"/>
              </a:rPr>
              <a:t>events</a:t>
            </a:r>
            <a:endParaRPr sz="1100" dirty="0">
              <a:latin typeface="+mj-lt"/>
              <a:cs typeface="Arial"/>
            </a:endParaRPr>
          </a:p>
          <a:p>
            <a:pPr marL="187960" marR="202565" indent="-175895">
              <a:lnSpc>
                <a:spcPct val="100000"/>
              </a:lnSpc>
              <a:spcBef>
                <a:spcPts val="660"/>
              </a:spcBef>
              <a:buClr>
                <a:srgbClr val="C00000"/>
              </a:buClr>
              <a:buFont typeface="Wingdings"/>
              <a:buChar char=""/>
              <a:tabLst>
                <a:tab pos="187960" algn="l"/>
              </a:tabLst>
            </a:pPr>
            <a:r>
              <a:rPr sz="1100" b="1" dirty="0">
                <a:latin typeface="+mj-lt"/>
                <a:cs typeface="Arial"/>
              </a:rPr>
              <a:t>Automated</a:t>
            </a:r>
            <a:r>
              <a:rPr sz="1100" b="1" spc="-3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management</a:t>
            </a:r>
            <a:r>
              <a:rPr sz="1100" b="1" spc="-5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reporting</a:t>
            </a:r>
            <a:r>
              <a:rPr sz="1100" b="1" spc="-70" dirty="0">
                <a:latin typeface="+mj-lt"/>
                <a:cs typeface="Arial"/>
              </a:rPr>
              <a:t> </a:t>
            </a:r>
            <a:r>
              <a:rPr sz="1100" b="1" dirty="0">
                <a:latin typeface="+mj-lt"/>
                <a:cs typeface="Arial"/>
              </a:rPr>
              <a:t>and</a:t>
            </a:r>
            <a:r>
              <a:rPr sz="1100" b="1" spc="-45" dirty="0">
                <a:latin typeface="+mj-lt"/>
                <a:cs typeface="Arial"/>
              </a:rPr>
              <a:t> </a:t>
            </a:r>
            <a:r>
              <a:rPr sz="1100" b="1" spc="-20" dirty="0">
                <a:latin typeface="+mj-lt"/>
                <a:cs typeface="Arial"/>
              </a:rPr>
              <a:t>trend </a:t>
            </a:r>
            <a:r>
              <a:rPr sz="1100" b="1" spc="-10" dirty="0">
                <a:latin typeface="+mj-lt"/>
                <a:cs typeface="Arial"/>
              </a:rPr>
              <a:t>analysis</a:t>
            </a:r>
            <a:endParaRPr sz="1100" dirty="0">
              <a:latin typeface="+mj-lt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0" y="132835"/>
            <a:ext cx="7543800" cy="38151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  </a:t>
            </a:r>
            <a:r>
              <a:rPr sz="2400" dirty="0">
                <a:solidFill>
                  <a:schemeClr val="bg1"/>
                </a:solidFill>
                <a:latin typeface="+mj-lt"/>
              </a:rPr>
              <a:t>CMS</a:t>
            </a:r>
            <a:r>
              <a:rPr sz="2400" spc="-4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Smart</a:t>
            </a:r>
            <a:r>
              <a:rPr sz="2400" spc="-4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City</a:t>
            </a:r>
            <a:r>
              <a:rPr sz="2400" spc="-5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&amp;</a:t>
            </a:r>
            <a:r>
              <a:rPr sz="2400" spc="-5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Public</a:t>
            </a:r>
            <a:r>
              <a:rPr sz="2400" spc="-6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Safety</a:t>
            </a:r>
            <a:r>
              <a:rPr sz="2400" spc="-3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Solutions</a:t>
            </a: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64196" y="4412212"/>
            <a:ext cx="1264920" cy="69037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532889" y="750844"/>
            <a:ext cx="3361054" cy="38277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006FC0"/>
                </a:solidFill>
                <a:latin typeface="+mj-lt"/>
                <a:cs typeface="Arial"/>
              </a:rPr>
              <a:t>Intelligent</a:t>
            </a:r>
            <a:r>
              <a:rPr sz="1050" b="1" spc="-55" dirty="0">
                <a:solidFill>
                  <a:srgbClr val="006FC0"/>
                </a:solidFill>
                <a:latin typeface="+mj-lt"/>
                <a:cs typeface="Arial"/>
              </a:rPr>
              <a:t> </a:t>
            </a:r>
            <a:r>
              <a:rPr sz="1050" b="1" dirty="0">
                <a:solidFill>
                  <a:srgbClr val="006FC0"/>
                </a:solidFill>
                <a:latin typeface="+mj-lt"/>
                <a:cs typeface="Arial"/>
              </a:rPr>
              <a:t>Transportation</a:t>
            </a:r>
            <a:r>
              <a:rPr sz="1050" b="1" spc="-55" dirty="0">
                <a:solidFill>
                  <a:srgbClr val="006FC0"/>
                </a:solidFill>
                <a:latin typeface="+mj-lt"/>
                <a:cs typeface="Arial"/>
              </a:rPr>
              <a:t> </a:t>
            </a:r>
            <a:r>
              <a:rPr sz="1050" b="1" dirty="0">
                <a:solidFill>
                  <a:srgbClr val="006FC0"/>
                </a:solidFill>
                <a:latin typeface="+mj-lt"/>
                <a:cs typeface="Arial"/>
              </a:rPr>
              <a:t>&amp;</a:t>
            </a:r>
            <a:r>
              <a:rPr sz="1050" b="1" spc="-10" dirty="0">
                <a:solidFill>
                  <a:srgbClr val="006FC0"/>
                </a:solidFill>
                <a:latin typeface="+mj-lt"/>
                <a:cs typeface="Arial"/>
              </a:rPr>
              <a:t> </a:t>
            </a:r>
            <a:r>
              <a:rPr sz="1050" b="1" dirty="0">
                <a:solidFill>
                  <a:srgbClr val="006FC0"/>
                </a:solidFill>
                <a:latin typeface="+mj-lt"/>
                <a:cs typeface="Arial"/>
              </a:rPr>
              <a:t>Traffic</a:t>
            </a:r>
            <a:r>
              <a:rPr sz="1050" b="1" spc="-35" dirty="0">
                <a:solidFill>
                  <a:srgbClr val="006FC0"/>
                </a:solidFill>
                <a:latin typeface="+mj-lt"/>
                <a:cs typeface="Arial"/>
              </a:rPr>
              <a:t> </a:t>
            </a:r>
            <a:r>
              <a:rPr sz="1050" b="1" spc="-10" dirty="0">
                <a:solidFill>
                  <a:srgbClr val="006FC0"/>
                </a:solidFill>
                <a:latin typeface="+mj-lt"/>
                <a:cs typeface="Arial"/>
              </a:rPr>
              <a:t>Management</a:t>
            </a:r>
            <a:endParaRPr sz="1050" dirty="0">
              <a:latin typeface="+mj-lt"/>
              <a:cs typeface="Arial"/>
            </a:endParaRPr>
          </a:p>
          <a:p>
            <a:pPr marL="150495" indent="-110489">
              <a:lnSpc>
                <a:spcPct val="100000"/>
              </a:lnSpc>
              <a:spcBef>
                <a:spcPts val="5"/>
              </a:spcBef>
              <a:buClr>
                <a:srgbClr val="3333FF"/>
              </a:buClr>
              <a:buSzPct val="105555"/>
              <a:buFont typeface="Wingdings"/>
              <a:buChar char=""/>
              <a:tabLst>
                <a:tab pos="150495" algn="l"/>
              </a:tabLst>
            </a:pPr>
            <a:r>
              <a:rPr sz="900" dirty="0">
                <a:latin typeface="+mj-lt"/>
                <a:cs typeface="Arial"/>
              </a:rPr>
              <a:t>Integrated</a:t>
            </a:r>
            <a:r>
              <a:rPr sz="900" spc="-6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Traffic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Management</a:t>
            </a:r>
            <a:r>
              <a:rPr sz="900" spc="-3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(ITMS),</a:t>
            </a:r>
            <a:r>
              <a:rPr sz="900" spc="-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Area</a:t>
            </a:r>
            <a:r>
              <a:rPr sz="900" spc="-3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Traffic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Control</a:t>
            </a:r>
            <a:endParaRPr sz="900" dirty="0">
              <a:latin typeface="+mj-lt"/>
              <a:cs typeface="Arial"/>
            </a:endParaRPr>
          </a:p>
          <a:p>
            <a:pPr marL="150495" indent="-110489">
              <a:lnSpc>
                <a:spcPct val="100000"/>
              </a:lnSpc>
              <a:buClr>
                <a:srgbClr val="3333FF"/>
              </a:buClr>
              <a:buSzPct val="105555"/>
              <a:buFont typeface="Wingdings"/>
              <a:buChar char=""/>
              <a:tabLst>
                <a:tab pos="150495" algn="l"/>
              </a:tabLst>
            </a:pPr>
            <a:r>
              <a:rPr sz="900" dirty="0">
                <a:latin typeface="+mj-lt"/>
                <a:cs typeface="Arial"/>
              </a:rPr>
              <a:t>Products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–</a:t>
            </a:r>
            <a:r>
              <a:rPr sz="900" spc="-2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UCON, GCDT, VMS, IP</a:t>
            </a:r>
            <a:r>
              <a:rPr sz="900" spc="-1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PA,</a:t>
            </a:r>
            <a:r>
              <a:rPr sz="900" spc="-2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ECB,</a:t>
            </a:r>
            <a:r>
              <a:rPr sz="900" spc="-1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Parking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Meters</a:t>
            </a:r>
            <a:endParaRPr sz="900" dirty="0">
              <a:latin typeface="+mj-lt"/>
              <a:cs typeface="Arial"/>
            </a:endParaRPr>
          </a:p>
          <a:p>
            <a:pPr marL="150495" indent="-110489">
              <a:lnSpc>
                <a:spcPct val="100000"/>
              </a:lnSpc>
              <a:buClr>
                <a:srgbClr val="3333FF"/>
              </a:buClr>
              <a:buSzPct val="105555"/>
              <a:buFont typeface="Wingdings"/>
              <a:buChar char=""/>
              <a:tabLst>
                <a:tab pos="150495" algn="l"/>
              </a:tabLst>
            </a:pPr>
            <a:r>
              <a:rPr sz="900" dirty="0">
                <a:latin typeface="+mj-lt"/>
                <a:cs typeface="Arial"/>
              </a:rPr>
              <a:t>Software</a:t>
            </a:r>
            <a:r>
              <a:rPr sz="900" spc="-2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–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Traffview,</a:t>
            </a:r>
            <a:r>
              <a:rPr sz="900" spc="-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Traffvision,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NeatPark,</a:t>
            </a:r>
            <a:r>
              <a:rPr sz="900" spc="-4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ECB/PA</a:t>
            </a:r>
            <a:r>
              <a:rPr sz="900" spc="-20" dirty="0">
                <a:latin typeface="+mj-lt"/>
                <a:cs typeface="Arial"/>
              </a:rPr>
              <a:t> </a:t>
            </a:r>
            <a:r>
              <a:rPr sz="900" spc="-25" dirty="0">
                <a:latin typeface="+mj-lt"/>
                <a:cs typeface="Arial"/>
              </a:rPr>
              <a:t>SW</a:t>
            </a:r>
            <a:endParaRPr sz="900" dirty="0">
              <a:latin typeface="+mj-lt"/>
              <a:cs typeface="Arial"/>
            </a:endParaRPr>
          </a:p>
          <a:p>
            <a:pPr marL="150495" indent="-110489">
              <a:lnSpc>
                <a:spcPct val="100000"/>
              </a:lnSpc>
              <a:buClr>
                <a:srgbClr val="3333FF"/>
              </a:buClr>
              <a:buSzPct val="105555"/>
              <a:buFont typeface="Wingdings"/>
              <a:buChar char=""/>
              <a:tabLst>
                <a:tab pos="150495" algn="l"/>
              </a:tabLst>
            </a:pPr>
            <a:r>
              <a:rPr sz="900" dirty="0">
                <a:latin typeface="+mj-lt"/>
                <a:cs typeface="Arial"/>
              </a:rPr>
              <a:t>Analytics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&amp;</a:t>
            </a:r>
            <a:r>
              <a:rPr sz="900" spc="-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Computer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Vision,</a:t>
            </a:r>
            <a:r>
              <a:rPr sz="900" spc="-4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RLVD,</a:t>
            </a:r>
            <a:r>
              <a:rPr sz="900" spc="-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ANPR,</a:t>
            </a:r>
            <a:r>
              <a:rPr sz="900" spc="-5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Enforcement</a:t>
            </a:r>
            <a:endParaRPr sz="900" dirty="0">
              <a:latin typeface="+mj-lt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5"/>
              </a:spcBef>
            </a:pPr>
            <a:r>
              <a:rPr sz="1050" b="1" dirty="0">
                <a:solidFill>
                  <a:srgbClr val="006FC0"/>
                </a:solidFill>
                <a:latin typeface="+mj-lt"/>
                <a:cs typeface="Arial"/>
              </a:rPr>
              <a:t>Public</a:t>
            </a:r>
            <a:r>
              <a:rPr sz="1050" b="1" spc="-50" dirty="0">
                <a:solidFill>
                  <a:srgbClr val="006FC0"/>
                </a:solidFill>
                <a:latin typeface="+mj-lt"/>
                <a:cs typeface="Arial"/>
              </a:rPr>
              <a:t> </a:t>
            </a:r>
            <a:r>
              <a:rPr sz="1050" b="1" dirty="0">
                <a:solidFill>
                  <a:srgbClr val="006FC0"/>
                </a:solidFill>
                <a:latin typeface="+mj-lt"/>
                <a:cs typeface="Arial"/>
              </a:rPr>
              <a:t>Safety</a:t>
            </a:r>
            <a:r>
              <a:rPr sz="1050" b="1" spc="-15" dirty="0">
                <a:solidFill>
                  <a:srgbClr val="006FC0"/>
                </a:solidFill>
                <a:latin typeface="+mj-lt"/>
                <a:cs typeface="Arial"/>
              </a:rPr>
              <a:t> </a:t>
            </a:r>
            <a:r>
              <a:rPr sz="1050" b="1" spc="-10" dirty="0">
                <a:solidFill>
                  <a:srgbClr val="006FC0"/>
                </a:solidFill>
                <a:latin typeface="+mj-lt"/>
                <a:cs typeface="Arial"/>
              </a:rPr>
              <a:t>Applications</a:t>
            </a:r>
            <a:endParaRPr sz="1050" dirty="0">
              <a:latin typeface="+mj-lt"/>
              <a:cs typeface="Arial"/>
            </a:endParaRPr>
          </a:p>
          <a:p>
            <a:pPr marL="144145" indent="-110489">
              <a:lnSpc>
                <a:spcPct val="100000"/>
              </a:lnSpc>
              <a:spcBef>
                <a:spcPts val="5"/>
              </a:spcBef>
              <a:buClr>
                <a:srgbClr val="3333FF"/>
              </a:buClr>
              <a:buSzPct val="105555"/>
              <a:buFont typeface="Wingdings"/>
              <a:buChar char=""/>
              <a:tabLst>
                <a:tab pos="144145" algn="l"/>
              </a:tabLst>
            </a:pPr>
            <a:r>
              <a:rPr sz="900" dirty="0">
                <a:latin typeface="+mj-lt"/>
                <a:cs typeface="Arial"/>
              </a:rPr>
              <a:t>Citywide</a:t>
            </a:r>
            <a:r>
              <a:rPr sz="900" spc="-1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Surveillance</a:t>
            </a:r>
            <a:r>
              <a:rPr sz="900" spc="-4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&amp;</a:t>
            </a:r>
            <a:r>
              <a:rPr sz="900" spc="-1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Operations,</a:t>
            </a:r>
            <a:r>
              <a:rPr sz="900" spc="-4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Junction</a:t>
            </a:r>
            <a:r>
              <a:rPr sz="900" spc="-45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Surveillance</a:t>
            </a:r>
            <a:endParaRPr sz="900" dirty="0">
              <a:latin typeface="+mj-lt"/>
              <a:cs typeface="Arial"/>
            </a:endParaRPr>
          </a:p>
          <a:p>
            <a:pPr marL="144145" indent="-110489">
              <a:lnSpc>
                <a:spcPct val="100000"/>
              </a:lnSpc>
              <a:buClr>
                <a:srgbClr val="3333FF"/>
              </a:buClr>
              <a:buSzPct val="105555"/>
              <a:buFont typeface="Wingdings"/>
              <a:buChar char=""/>
              <a:tabLst>
                <a:tab pos="144145" algn="l"/>
              </a:tabLst>
            </a:pPr>
            <a:r>
              <a:rPr sz="900" dirty="0">
                <a:latin typeface="+mj-lt"/>
                <a:cs typeface="Arial"/>
              </a:rPr>
              <a:t>Emergency</a:t>
            </a:r>
            <a:r>
              <a:rPr sz="900" spc="-2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Response</a:t>
            </a:r>
            <a:r>
              <a:rPr sz="900" spc="-25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Systems</a:t>
            </a:r>
            <a:endParaRPr sz="900" dirty="0">
              <a:latin typeface="+mj-lt"/>
              <a:cs typeface="Arial"/>
            </a:endParaRPr>
          </a:p>
          <a:p>
            <a:pPr marL="144145" indent="-110489">
              <a:lnSpc>
                <a:spcPct val="100000"/>
              </a:lnSpc>
              <a:buClr>
                <a:srgbClr val="3333FF"/>
              </a:buClr>
              <a:buSzPct val="105555"/>
              <a:buFont typeface="Wingdings"/>
              <a:buChar char=""/>
              <a:tabLst>
                <a:tab pos="144145" algn="l"/>
              </a:tabLst>
            </a:pPr>
            <a:r>
              <a:rPr sz="900" dirty="0">
                <a:latin typeface="+mj-lt"/>
                <a:cs typeface="Arial"/>
              </a:rPr>
              <a:t>Video</a:t>
            </a:r>
            <a:r>
              <a:rPr sz="900" spc="-2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Correlation</a:t>
            </a:r>
            <a:r>
              <a:rPr sz="900" spc="-1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&amp;</a:t>
            </a:r>
            <a:r>
              <a:rPr sz="900" spc="1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Analysis</a:t>
            </a:r>
            <a:r>
              <a:rPr sz="900" spc="-1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for</a:t>
            </a:r>
            <a:r>
              <a:rPr sz="900" spc="-1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Crime</a:t>
            </a:r>
            <a:r>
              <a:rPr sz="900" spc="-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/</a:t>
            </a:r>
            <a:r>
              <a:rPr sz="900" spc="5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Investigation,</a:t>
            </a:r>
            <a:r>
              <a:rPr sz="900" spc="-45" dirty="0">
                <a:latin typeface="+mj-lt"/>
                <a:cs typeface="Arial"/>
              </a:rPr>
              <a:t> </a:t>
            </a:r>
            <a:r>
              <a:rPr sz="900" spc="-20" dirty="0">
                <a:latin typeface="+mj-lt"/>
                <a:cs typeface="Arial"/>
              </a:rPr>
              <a:t>CCTNS</a:t>
            </a:r>
            <a:endParaRPr sz="900" dirty="0">
              <a:latin typeface="+mj-lt"/>
              <a:cs typeface="Arial"/>
            </a:endParaRPr>
          </a:p>
          <a:p>
            <a:pPr marL="144145" indent="-110489">
              <a:lnSpc>
                <a:spcPct val="100000"/>
              </a:lnSpc>
              <a:buClr>
                <a:srgbClr val="3333FF"/>
              </a:buClr>
              <a:buSzPct val="105555"/>
              <a:buFont typeface="Wingdings"/>
              <a:buChar char=""/>
              <a:tabLst>
                <a:tab pos="144145" algn="l"/>
              </a:tabLst>
            </a:pPr>
            <a:r>
              <a:rPr sz="900" dirty="0">
                <a:latin typeface="+mj-lt"/>
                <a:cs typeface="Arial"/>
              </a:rPr>
              <a:t>Early</a:t>
            </a:r>
            <a:r>
              <a:rPr sz="900" spc="-3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Warning,</a:t>
            </a:r>
            <a:r>
              <a:rPr sz="900" spc="-5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RealTime</a:t>
            </a:r>
            <a:r>
              <a:rPr sz="900" spc="-1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Alerts</a:t>
            </a:r>
            <a:r>
              <a:rPr sz="900" spc="-2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with</a:t>
            </a:r>
            <a:r>
              <a:rPr sz="900" spc="-1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Computer</a:t>
            </a:r>
            <a:r>
              <a:rPr sz="900" spc="-4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Aided</a:t>
            </a:r>
            <a:r>
              <a:rPr sz="900" spc="-15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Despatch</a:t>
            </a:r>
            <a:endParaRPr sz="900" dirty="0">
              <a:latin typeface="+mj-lt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40"/>
              </a:spcBef>
            </a:pPr>
            <a:r>
              <a:rPr sz="1050" b="1" dirty="0">
                <a:solidFill>
                  <a:srgbClr val="006FC0"/>
                </a:solidFill>
                <a:latin typeface="+mj-lt"/>
                <a:cs typeface="Arial"/>
              </a:rPr>
              <a:t>Integrated</a:t>
            </a:r>
            <a:r>
              <a:rPr sz="1050" b="1" spc="-35" dirty="0">
                <a:solidFill>
                  <a:srgbClr val="006FC0"/>
                </a:solidFill>
                <a:latin typeface="+mj-lt"/>
                <a:cs typeface="Arial"/>
              </a:rPr>
              <a:t> </a:t>
            </a:r>
            <a:r>
              <a:rPr sz="1050" b="1" dirty="0">
                <a:solidFill>
                  <a:srgbClr val="006FC0"/>
                </a:solidFill>
                <a:latin typeface="+mj-lt"/>
                <a:cs typeface="Arial"/>
              </a:rPr>
              <a:t>Command</a:t>
            </a:r>
            <a:r>
              <a:rPr sz="1050" b="1" spc="-40" dirty="0">
                <a:solidFill>
                  <a:srgbClr val="006FC0"/>
                </a:solidFill>
                <a:latin typeface="+mj-lt"/>
                <a:cs typeface="Arial"/>
              </a:rPr>
              <a:t> </a:t>
            </a:r>
            <a:r>
              <a:rPr sz="1050" b="1" dirty="0">
                <a:solidFill>
                  <a:srgbClr val="006FC0"/>
                </a:solidFill>
                <a:latin typeface="+mj-lt"/>
                <a:cs typeface="Arial"/>
              </a:rPr>
              <a:t>Control</a:t>
            </a:r>
            <a:r>
              <a:rPr sz="1050" b="1" spc="-45" dirty="0">
                <a:solidFill>
                  <a:srgbClr val="006FC0"/>
                </a:solidFill>
                <a:latin typeface="+mj-lt"/>
                <a:cs typeface="Arial"/>
              </a:rPr>
              <a:t> </a:t>
            </a:r>
            <a:r>
              <a:rPr sz="1050" b="1" dirty="0">
                <a:solidFill>
                  <a:srgbClr val="006FC0"/>
                </a:solidFill>
                <a:latin typeface="+mj-lt"/>
                <a:cs typeface="Arial"/>
              </a:rPr>
              <a:t>&amp; City</a:t>
            </a:r>
            <a:r>
              <a:rPr sz="1050" b="1" spc="-20" dirty="0">
                <a:solidFill>
                  <a:srgbClr val="006FC0"/>
                </a:solidFill>
                <a:latin typeface="+mj-lt"/>
                <a:cs typeface="Arial"/>
              </a:rPr>
              <a:t> </a:t>
            </a:r>
            <a:r>
              <a:rPr sz="1050" b="1" spc="-10" dirty="0">
                <a:solidFill>
                  <a:srgbClr val="006FC0"/>
                </a:solidFill>
                <a:latin typeface="+mj-lt"/>
                <a:cs typeface="Arial"/>
              </a:rPr>
              <a:t>Dashboards</a:t>
            </a:r>
            <a:endParaRPr sz="1050" dirty="0">
              <a:latin typeface="+mj-lt"/>
              <a:cs typeface="Arial"/>
            </a:endParaRPr>
          </a:p>
          <a:p>
            <a:pPr marL="144145" indent="-110489">
              <a:lnSpc>
                <a:spcPct val="100000"/>
              </a:lnSpc>
              <a:spcBef>
                <a:spcPts val="5"/>
              </a:spcBef>
              <a:buClr>
                <a:srgbClr val="3333FF"/>
              </a:buClr>
              <a:buSzPct val="105555"/>
              <a:buFont typeface="Wingdings"/>
              <a:buChar char=""/>
              <a:tabLst>
                <a:tab pos="144145" algn="l"/>
              </a:tabLst>
            </a:pPr>
            <a:r>
              <a:rPr sz="900" dirty="0">
                <a:latin typeface="+mj-lt"/>
                <a:cs typeface="Arial"/>
              </a:rPr>
              <a:t>Heterogenous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Data</a:t>
            </a:r>
            <a:r>
              <a:rPr sz="900" spc="-1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Collection</a:t>
            </a:r>
            <a:r>
              <a:rPr sz="900" spc="-4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&amp; </a:t>
            </a:r>
            <a:r>
              <a:rPr sz="900" spc="-10" dirty="0">
                <a:latin typeface="+mj-lt"/>
                <a:cs typeface="Arial"/>
              </a:rPr>
              <a:t>Integration</a:t>
            </a:r>
            <a:endParaRPr sz="900" dirty="0">
              <a:latin typeface="+mj-lt"/>
              <a:cs typeface="Arial"/>
            </a:endParaRPr>
          </a:p>
          <a:p>
            <a:pPr marL="144145" indent="-110489">
              <a:lnSpc>
                <a:spcPct val="100000"/>
              </a:lnSpc>
              <a:buClr>
                <a:srgbClr val="3333FF"/>
              </a:buClr>
              <a:buSzPct val="105555"/>
              <a:buFont typeface="Wingdings"/>
              <a:buChar char=""/>
              <a:tabLst>
                <a:tab pos="144145" algn="l"/>
              </a:tabLst>
            </a:pPr>
            <a:r>
              <a:rPr sz="900" dirty="0">
                <a:latin typeface="+mj-lt"/>
                <a:cs typeface="Arial"/>
              </a:rPr>
              <a:t>Cross</a:t>
            </a:r>
            <a:r>
              <a:rPr sz="900" spc="-1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Agency</a:t>
            </a:r>
            <a:r>
              <a:rPr sz="900" spc="-3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Collaboration,</a:t>
            </a:r>
            <a:r>
              <a:rPr sz="900" spc="-4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Incident</a:t>
            </a:r>
            <a:r>
              <a:rPr sz="900" spc="-4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management</a:t>
            </a:r>
            <a:r>
              <a:rPr sz="900" spc="-4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with</a:t>
            </a:r>
            <a:r>
              <a:rPr sz="900" spc="-10" dirty="0">
                <a:latin typeface="+mj-lt"/>
                <a:cs typeface="Arial"/>
              </a:rPr>
              <a:t> KPI’s</a:t>
            </a:r>
            <a:endParaRPr sz="900" dirty="0">
              <a:latin typeface="+mj-lt"/>
              <a:cs typeface="Arial"/>
            </a:endParaRPr>
          </a:p>
          <a:p>
            <a:pPr marL="144145" indent="-110489">
              <a:lnSpc>
                <a:spcPct val="100000"/>
              </a:lnSpc>
              <a:buClr>
                <a:srgbClr val="3333FF"/>
              </a:buClr>
              <a:buSzPct val="105555"/>
              <a:buFont typeface="Wingdings"/>
              <a:buChar char=""/>
              <a:tabLst>
                <a:tab pos="144145" algn="l"/>
              </a:tabLst>
            </a:pPr>
            <a:r>
              <a:rPr sz="900" dirty="0">
                <a:latin typeface="+mj-lt"/>
                <a:cs typeface="Arial"/>
              </a:rPr>
              <a:t>Integrated</a:t>
            </a:r>
            <a:r>
              <a:rPr sz="900" spc="-5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System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Monitoring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&amp;</a:t>
            </a:r>
            <a:r>
              <a:rPr sz="900" spc="-20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Visualizations</a:t>
            </a:r>
            <a:endParaRPr sz="900" dirty="0">
              <a:latin typeface="+mj-lt"/>
              <a:cs typeface="Arial"/>
            </a:endParaRPr>
          </a:p>
          <a:p>
            <a:pPr marL="144145" indent="-110489">
              <a:lnSpc>
                <a:spcPct val="100000"/>
              </a:lnSpc>
              <a:buClr>
                <a:srgbClr val="3333FF"/>
              </a:buClr>
              <a:buSzPct val="105555"/>
              <a:buFont typeface="Wingdings"/>
              <a:buChar char=""/>
              <a:tabLst>
                <a:tab pos="144145" algn="l"/>
              </a:tabLst>
            </a:pPr>
            <a:r>
              <a:rPr sz="900" dirty="0">
                <a:latin typeface="+mj-lt"/>
                <a:cs typeface="Arial"/>
              </a:rPr>
              <a:t>Datacenter,</a:t>
            </a:r>
            <a:r>
              <a:rPr sz="900" spc="-4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Cloud</a:t>
            </a:r>
            <a:r>
              <a:rPr sz="900" spc="-1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&amp;</a:t>
            </a:r>
            <a:r>
              <a:rPr sz="900" spc="-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Information</a:t>
            </a:r>
            <a:r>
              <a:rPr sz="900" spc="-4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Security</a:t>
            </a:r>
            <a:r>
              <a:rPr sz="900" spc="-40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Services</a:t>
            </a:r>
            <a:endParaRPr sz="900" dirty="0">
              <a:latin typeface="+mj-lt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050" b="1" dirty="0">
                <a:solidFill>
                  <a:srgbClr val="006FC0"/>
                </a:solidFill>
                <a:latin typeface="+mj-lt"/>
                <a:cs typeface="Arial"/>
              </a:rPr>
              <a:t>Smart</a:t>
            </a:r>
            <a:r>
              <a:rPr sz="1050" b="1" spc="-25" dirty="0">
                <a:solidFill>
                  <a:srgbClr val="006FC0"/>
                </a:solidFill>
                <a:latin typeface="+mj-lt"/>
                <a:cs typeface="Arial"/>
              </a:rPr>
              <a:t> </a:t>
            </a:r>
            <a:r>
              <a:rPr sz="1050" b="1" spc="-10" dirty="0">
                <a:solidFill>
                  <a:srgbClr val="006FC0"/>
                </a:solidFill>
                <a:latin typeface="+mj-lt"/>
                <a:cs typeface="Arial"/>
              </a:rPr>
              <a:t>Campus</a:t>
            </a:r>
            <a:endParaRPr sz="1050" dirty="0">
              <a:latin typeface="+mj-lt"/>
              <a:cs typeface="Arial"/>
            </a:endParaRPr>
          </a:p>
          <a:p>
            <a:pPr marL="123189" indent="-110489">
              <a:lnSpc>
                <a:spcPct val="100000"/>
              </a:lnSpc>
              <a:spcBef>
                <a:spcPts val="5"/>
              </a:spcBef>
              <a:buClr>
                <a:srgbClr val="3333FF"/>
              </a:buClr>
              <a:buSzPct val="105555"/>
              <a:buFont typeface="Wingdings"/>
              <a:buChar char=""/>
              <a:tabLst>
                <a:tab pos="123189" algn="l"/>
              </a:tabLst>
            </a:pPr>
            <a:r>
              <a:rPr sz="900" spc="-10" dirty="0">
                <a:latin typeface="+mj-lt"/>
                <a:cs typeface="Arial"/>
              </a:rPr>
              <a:t>Campus-</a:t>
            </a:r>
            <a:r>
              <a:rPr sz="900" dirty="0">
                <a:latin typeface="+mj-lt"/>
                <a:cs typeface="Arial"/>
              </a:rPr>
              <a:t>wide</a:t>
            </a:r>
            <a:r>
              <a:rPr sz="900" spc="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Surveillance</a:t>
            </a:r>
            <a:r>
              <a:rPr sz="900" spc="-1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&amp;</a:t>
            </a:r>
            <a:r>
              <a:rPr sz="900" spc="3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Energy</a:t>
            </a:r>
            <a:r>
              <a:rPr sz="900" spc="15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Monitoring/Smart </a:t>
            </a:r>
            <a:r>
              <a:rPr sz="900" spc="-20" dirty="0">
                <a:latin typeface="+mj-lt"/>
                <a:cs typeface="Arial"/>
              </a:rPr>
              <a:t>Grid</a:t>
            </a:r>
            <a:endParaRPr sz="900" dirty="0">
              <a:latin typeface="+mj-lt"/>
              <a:cs typeface="Arial"/>
            </a:endParaRPr>
          </a:p>
          <a:p>
            <a:pPr marL="123189" indent="-110489">
              <a:lnSpc>
                <a:spcPct val="100000"/>
              </a:lnSpc>
              <a:spcBef>
                <a:spcPts val="5"/>
              </a:spcBef>
              <a:buClr>
                <a:srgbClr val="3333FF"/>
              </a:buClr>
              <a:buSzPct val="105555"/>
              <a:buFont typeface="Wingdings"/>
              <a:buChar char=""/>
              <a:tabLst>
                <a:tab pos="123189" algn="l"/>
              </a:tabLst>
            </a:pPr>
            <a:r>
              <a:rPr sz="900" dirty="0">
                <a:latin typeface="+mj-lt"/>
                <a:cs typeface="Arial"/>
              </a:rPr>
              <a:t>RFID</a:t>
            </a:r>
            <a:r>
              <a:rPr sz="900" spc="-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based</a:t>
            </a:r>
            <a:r>
              <a:rPr sz="900" spc="-2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Access</a:t>
            </a:r>
            <a:r>
              <a:rPr sz="900" spc="-3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Control</a:t>
            </a:r>
            <a:r>
              <a:rPr sz="900" spc="-1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&amp;</a:t>
            </a:r>
            <a:r>
              <a:rPr sz="900" spc="-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Intrusion</a:t>
            </a:r>
            <a:r>
              <a:rPr sz="900" spc="-4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Detection</a:t>
            </a:r>
            <a:r>
              <a:rPr sz="900" spc="-20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Systems</a:t>
            </a:r>
            <a:endParaRPr sz="900" dirty="0">
              <a:latin typeface="+mj-lt"/>
              <a:cs typeface="Arial"/>
            </a:endParaRPr>
          </a:p>
          <a:p>
            <a:pPr marL="123189" indent="-110489">
              <a:lnSpc>
                <a:spcPct val="100000"/>
              </a:lnSpc>
              <a:buClr>
                <a:srgbClr val="3333FF"/>
              </a:buClr>
              <a:buSzPct val="105555"/>
              <a:buFont typeface="Wingdings"/>
              <a:buChar char=""/>
              <a:tabLst>
                <a:tab pos="123189" algn="l"/>
              </a:tabLst>
            </a:pPr>
            <a:r>
              <a:rPr sz="900" dirty="0">
                <a:latin typeface="+mj-lt"/>
                <a:cs typeface="Arial"/>
              </a:rPr>
              <a:t>Asset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Tracking</a:t>
            </a:r>
            <a:r>
              <a:rPr sz="900" spc="-1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&amp;</a:t>
            </a:r>
            <a:r>
              <a:rPr sz="900" spc="-2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Parking</a:t>
            </a:r>
            <a:r>
              <a:rPr sz="900" spc="-25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Management</a:t>
            </a:r>
            <a:endParaRPr sz="900" dirty="0">
              <a:latin typeface="+mj-lt"/>
              <a:cs typeface="Arial"/>
            </a:endParaRPr>
          </a:p>
          <a:p>
            <a:pPr marL="123189" indent="-110489">
              <a:lnSpc>
                <a:spcPct val="100000"/>
              </a:lnSpc>
              <a:buClr>
                <a:srgbClr val="3333FF"/>
              </a:buClr>
              <a:buSzPct val="105555"/>
              <a:buFont typeface="Wingdings"/>
              <a:buChar char=""/>
              <a:tabLst>
                <a:tab pos="123189" algn="l"/>
              </a:tabLst>
            </a:pPr>
            <a:r>
              <a:rPr sz="900" dirty="0">
                <a:latin typeface="+mj-lt"/>
                <a:cs typeface="Arial"/>
              </a:rPr>
              <a:t>Workforce</a:t>
            </a:r>
            <a:r>
              <a:rPr sz="900" spc="-5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Management</a:t>
            </a:r>
            <a:r>
              <a:rPr sz="900" spc="-2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&amp;</a:t>
            </a:r>
            <a:r>
              <a:rPr sz="900" spc="-1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Front</a:t>
            </a:r>
            <a:r>
              <a:rPr sz="900" spc="-2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Office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Digital</a:t>
            </a:r>
            <a:r>
              <a:rPr sz="900" spc="-25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Lounge</a:t>
            </a:r>
            <a:endParaRPr sz="900" dirty="0">
              <a:latin typeface="+mj-lt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505"/>
              </a:spcBef>
            </a:pPr>
            <a:r>
              <a:rPr sz="1050" b="1" dirty="0">
                <a:solidFill>
                  <a:srgbClr val="006FC0"/>
                </a:solidFill>
                <a:latin typeface="+mj-lt"/>
                <a:cs typeface="Arial"/>
              </a:rPr>
              <a:t>Citizen</a:t>
            </a:r>
            <a:r>
              <a:rPr sz="1050" b="1" spc="-40" dirty="0">
                <a:solidFill>
                  <a:srgbClr val="006FC0"/>
                </a:solidFill>
                <a:latin typeface="+mj-lt"/>
                <a:cs typeface="Arial"/>
              </a:rPr>
              <a:t> </a:t>
            </a:r>
            <a:r>
              <a:rPr sz="1050" b="1" spc="-10" dirty="0">
                <a:solidFill>
                  <a:srgbClr val="006FC0"/>
                </a:solidFill>
                <a:latin typeface="+mj-lt"/>
                <a:cs typeface="Arial"/>
              </a:rPr>
              <a:t>Experience</a:t>
            </a:r>
            <a:endParaRPr sz="1050" dirty="0">
              <a:latin typeface="+mj-lt"/>
              <a:cs typeface="Arial"/>
            </a:endParaRPr>
          </a:p>
          <a:p>
            <a:pPr marL="150495" indent="-110489">
              <a:lnSpc>
                <a:spcPct val="100000"/>
              </a:lnSpc>
              <a:spcBef>
                <a:spcPts val="5"/>
              </a:spcBef>
              <a:buClr>
                <a:srgbClr val="3333FF"/>
              </a:buClr>
              <a:buSzPct val="105555"/>
              <a:buFont typeface="Wingdings"/>
              <a:buChar char=""/>
              <a:tabLst>
                <a:tab pos="150495" algn="l"/>
              </a:tabLst>
            </a:pPr>
            <a:r>
              <a:rPr sz="900" dirty="0">
                <a:latin typeface="+mj-lt"/>
                <a:cs typeface="Arial"/>
              </a:rPr>
              <a:t>Electronic</a:t>
            </a:r>
            <a:r>
              <a:rPr sz="900" spc="-4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Delivery</a:t>
            </a:r>
            <a:r>
              <a:rPr sz="900" spc="-2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of</a:t>
            </a:r>
            <a:r>
              <a:rPr sz="900" spc="-2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Citizen</a:t>
            </a:r>
            <a:r>
              <a:rPr sz="900" spc="-25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Services</a:t>
            </a:r>
            <a:endParaRPr sz="900" dirty="0">
              <a:latin typeface="+mj-lt"/>
              <a:cs typeface="Arial"/>
            </a:endParaRPr>
          </a:p>
          <a:p>
            <a:pPr marL="150495" indent="-110489">
              <a:lnSpc>
                <a:spcPct val="100000"/>
              </a:lnSpc>
              <a:buClr>
                <a:srgbClr val="3333FF"/>
              </a:buClr>
              <a:buSzPct val="105555"/>
              <a:buFont typeface="Wingdings"/>
              <a:buChar char=""/>
              <a:tabLst>
                <a:tab pos="150495" algn="l"/>
              </a:tabLst>
            </a:pPr>
            <a:r>
              <a:rPr sz="900" dirty="0">
                <a:latin typeface="+mj-lt"/>
                <a:cs typeface="Arial"/>
              </a:rPr>
              <a:t>Citizen</a:t>
            </a:r>
            <a:r>
              <a:rPr sz="900" spc="-2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Portal</a:t>
            </a:r>
            <a:r>
              <a:rPr sz="900" spc="-2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&amp;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Engagement</a:t>
            </a:r>
            <a:r>
              <a:rPr sz="900" spc="-45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Platform</a:t>
            </a:r>
            <a:endParaRPr sz="900" dirty="0">
              <a:latin typeface="+mj-lt"/>
              <a:cs typeface="Arial"/>
            </a:endParaRPr>
          </a:p>
          <a:p>
            <a:pPr marL="150495" indent="-110489">
              <a:lnSpc>
                <a:spcPct val="100000"/>
              </a:lnSpc>
              <a:buClr>
                <a:srgbClr val="3333FF"/>
              </a:buClr>
              <a:buSzPct val="105555"/>
              <a:buFont typeface="Wingdings"/>
              <a:buChar char=""/>
              <a:tabLst>
                <a:tab pos="150495" algn="l"/>
              </a:tabLst>
            </a:pPr>
            <a:r>
              <a:rPr sz="900" dirty="0">
                <a:latin typeface="+mj-lt"/>
                <a:cs typeface="Arial"/>
              </a:rPr>
              <a:t>Workflow</a:t>
            </a:r>
            <a:r>
              <a:rPr sz="900" spc="-5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and</a:t>
            </a:r>
            <a:r>
              <a:rPr sz="900" spc="-2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Crowd</a:t>
            </a:r>
            <a:r>
              <a:rPr sz="900" spc="-1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Sourcing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applications</a:t>
            </a:r>
            <a:endParaRPr sz="900" dirty="0">
              <a:latin typeface="+mj-lt"/>
              <a:cs typeface="Arial"/>
            </a:endParaRPr>
          </a:p>
          <a:p>
            <a:pPr marL="150495" indent="-110489">
              <a:lnSpc>
                <a:spcPct val="100000"/>
              </a:lnSpc>
              <a:buClr>
                <a:srgbClr val="3333FF"/>
              </a:buClr>
              <a:buSzPct val="105555"/>
              <a:buFont typeface="Wingdings"/>
              <a:buChar char=""/>
              <a:tabLst>
                <a:tab pos="150495" algn="l"/>
              </a:tabLst>
            </a:pPr>
            <a:r>
              <a:rPr sz="900" dirty="0">
                <a:latin typeface="+mj-lt"/>
                <a:cs typeface="Arial"/>
              </a:rPr>
              <a:t>Single</a:t>
            </a:r>
            <a:r>
              <a:rPr sz="900" spc="-2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Window</a:t>
            </a:r>
            <a:r>
              <a:rPr sz="900" spc="-3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–</a:t>
            </a:r>
            <a:r>
              <a:rPr sz="900" spc="-1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Ease</a:t>
            </a:r>
            <a:r>
              <a:rPr sz="900" spc="-1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of</a:t>
            </a:r>
            <a:r>
              <a:rPr sz="900" spc="-10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Doing</a:t>
            </a:r>
            <a:r>
              <a:rPr sz="900" spc="-5" dirty="0">
                <a:latin typeface="+mj-lt"/>
                <a:cs typeface="Arial"/>
              </a:rPr>
              <a:t> </a:t>
            </a:r>
            <a:r>
              <a:rPr sz="900" dirty="0">
                <a:latin typeface="+mj-lt"/>
                <a:cs typeface="Arial"/>
              </a:rPr>
              <a:t>business</a:t>
            </a:r>
            <a:r>
              <a:rPr sz="900" spc="-30" dirty="0">
                <a:latin typeface="+mj-lt"/>
                <a:cs typeface="Arial"/>
              </a:rPr>
              <a:t> </a:t>
            </a:r>
            <a:r>
              <a:rPr sz="900" spc="-10" dirty="0">
                <a:latin typeface="+mj-lt"/>
                <a:cs typeface="Arial"/>
              </a:rPr>
              <a:t>Services</a:t>
            </a:r>
            <a:endParaRPr sz="900" dirty="0">
              <a:latin typeface="+mj-lt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63046"/>
            <a:ext cx="7543799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marL="200025" algn="l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chemeClr val="bg1"/>
                </a:solidFill>
                <a:latin typeface="+mj-lt"/>
              </a:rPr>
              <a:t>Energy</a:t>
            </a:r>
            <a:r>
              <a:rPr sz="2400" spc="-7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&amp;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Utilities</a:t>
            </a:r>
            <a:r>
              <a:rPr sz="2400" spc="-8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Solutions</a:t>
            </a:r>
            <a:endParaRPr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0" y="722154"/>
            <a:ext cx="1264919" cy="69037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217926" y="1418621"/>
            <a:ext cx="2753995" cy="1739264"/>
          </a:xfrm>
          <a:custGeom>
            <a:avLst/>
            <a:gdLst/>
            <a:ahLst/>
            <a:cxnLst/>
            <a:rect l="l" t="t" r="r" b="b"/>
            <a:pathLst>
              <a:path w="2753995" h="1739264">
                <a:moveTo>
                  <a:pt x="2753868" y="0"/>
                </a:moveTo>
                <a:lnTo>
                  <a:pt x="0" y="0"/>
                </a:lnTo>
                <a:lnTo>
                  <a:pt x="0" y="1738883"/>
                </a:lnTo>
                <a:lnTo>
                  <a:pt x="2753868" y="1738883"/>
                </a:lnTo>
                <a:lnTo>
                  <a:pt x="275386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34512" y="1824767"/>
            <a:ext cx="824484" cy="82752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83286" y="1418621"/>
            <a:ext cx="2753995" cy="1739264"/>
          </a:xfrm>
          <a:custGeom>
            <a:avLst/>
            <a:gdLst/>
            <a:ahLst/>
            <a:cxnLst/>
            <a:rect l="l" t="t" r="r" b="b"/>
            <a:pathLst>
              <a:path w="2533015" h="1739264">
                <a:moveTo>
                  <a:pt x="2532888" y="0"/>
                </a:moveTo>
                <a:lnTo>
                  <a:pt x="0" y="0"/>
                </a:lnTo>
                <a:lnTo>
                  <a:pt x="0" y="1738883"/>
                </a:lnTo>
                <a:lnTo>
                  <a:pt x="2532888" y="1738883"/>
                </a:lnTo>
                <a:lnTo>
                  <a:pt x="2532888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093" y="1824767"/>
            <a:ext cx="823573" cy="838201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6086094" y="1418621"/>
            <a:ext cx="2689860" cy="1739264"/>
          </a:xfrm>
          <a:custGeom>
            <a:avLst/>
            <a:gdLst/>
            <a:ahLst/>
            <a:cxnLst/>
            <a:rect l="l" t="t" r="r" b="b"/>
            <a:pathLst>
              <a:path w="2689859" h="1739264">
                <a:moveTo>
                  <a:pt x="2689859" y="0"/>
                </a:moveTo>
                <a:lnTo>
                  <a:pt x="0" y="0"/>
                </a:lnTo>
                <a:lnTo>
                  <a:pt x="0" y="1738883"/>
                </a:lnTo>
                <a:lnTo>
                  <a:pt x="2689859" y="1738883"/>
                </a:lnTo>
                <a:lnTo>
                  <a:pt x="2689859" y="0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12764" y="1766031"/>
            <a:ext cx="882395" cy="91162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66104" y="1835651"/>
            <a:ext cx="775716" cy="826770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83199" y="3242150"/>
            <a:ext cx="4313093" cy="1434465"/>
          </a:xfrm>
          <a:custGeom>
            <a:avLst/>
            <a:gdLst/>
            <a:ahLst/>
            <a:cxnLst/>
            <a:rect l="l" t="t" r="r" b="b"/>
            <a:pathLst>
              <a:path w="4206240" h="1434464">
                <a:moveTo>
                  <a:pt x="4206240" y="0"/>
                </a:moveTo>
                <a:lnTo>
                  <a:pt x="0" y="0"/>
                </a:lnTo>
                <a:lnTo>
                  <a:pt x="0" y="1434084"/>
                </a:lnTo>
                <a:lnTo>
                  <a:pt x="4206240" y="1434084"/>
                </a:lnTo>
                <a:lnTo>
                  <a:pt x="420624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3199" y="3242150"/>
            <a:ext cx="4313093" cy="1434465"/>
          </a:xfrm>
          <a:custGeom>
            <a:avLst/>
            <a:gdLst/>
            <a:ahLst/>
            <a:cxnLst/>
            <a:rect l="l" t="t" r="r" b="b"/>
            <a:pathLst>
              <a:path w="4206240" h="1434464">
                <a:moveTo>
                  <a:pt x="0" y="1434084"/>
                </a:moveTo>
                <a:lnTo>
                  <a:pt x="4206240" y="1434084"/>
                </a:lnTo>
                <a:lnTo>
                  <a:pt x="420624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ln w="25908">
            <a:solidFill>
              <a:srgbClr val="548ED4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7805" y="3598056"/>
            <a:ext cx="898561" cy="90574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2500" y="3672620"/>
            <a:ext cx="789171" cy="815938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4761925" y="3242150"/>
            <a:ext cx="4000550" cy="1432560"/>
          </a:xfrm>
          <a:custGeom>
            <a:avLst/>
            <a:gdLst/>
            <a:ahLst/>
            <a:cxnLst/>
            <a:rect l="l" t="t" r="r" b="b"/>
            <a:pathLst>
              <a:path w="3901440" h="1432560">
                <a:moveTo>
                  <a:pt x="3901440" y="0"/>
                </a:moveTo>
                <a:lnTo>
                  <a:pt x="0" y="0"/>
                </a:lnTo>
                <a:lnTo>
                  <a:pt x="0" y="1432560"/>
                </a:lnTo>
                <a:lnTo>
                  <a:pt x="3901440" y="1432560"/>
                </a:lnTo>
                <a:lnTo>
                  <a:pt x="390144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761925" y="3242150"/>
            <a:ext cx="4000550" cy="1432560"/>
          </a:xfrm>
          <a:custGeom>
            <a:avLst/>
            <a:gdLst/>
            <a:ahLst/>
            <a:cxnLst/>
            <a:rect l="l" t="t" r="r" b="b"/>
            <a:pathLst>
              <a:path w="3901440" h="1432560">
                <a:moveTo>
                  <a:pt x="0" y="1432560"/>
                </a:moveTo>
                <a:lnTo>
                  <a:pt x="3901440" y="1432560"/>
                </a:lnTo>
                <a:lnTo>
                  <a:pt x="3901440" y="0"/>
                </a:lnTo>
                <a:lnTo>
                  <a:pt x="0" y="0"/>
                </a:lnTo>
                <a:lnTo>
                  <a:pt x="0" y="1432560"/>
                </a:lnTo>
                <a:close/>
              </a:path>
            </a:pathLst>
          </a:custGeom>
          <a:ln w="25908">
            <a:solidFill>
              <a:srgbClr val="548ED4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1889" y="1418621"/>
            <a:ext cx="2533015" cy="1555554"/>
          </a:xfrm>
          <a:prstGeom prst="rect">
            <a:avLst/>
          </a:prstGeom>
          <a:ln w="25908">
            <a:noFill/>
          </a:ln>
        </p:spPr>
        <p:txBody>
          <a:bodyPr vert="horz" wrap="square" lIns="0" tIns="3810" rIns="0" bIns="0" rtlCol="0">
            <a:spAutoFit/>
          </a:bodyPr>
          <a:lstStyle/>
          <a:p>
            <a:pPr marL="478790">
              <a:lnSpc>
                <a:spcPct val="100000"/>
              </a:lnSpc>
              <a:spcBef>
                <a:spcPts val="30"/>
              </a:spcBef>
            </a:pPr>
            <a:r>
              <a:rPr sz="2000" b="1" dirty="0">
                <a:solidFill>
                  <a:srgbClr val="FFFFFF"/>
                </a:solidFill>
                <a:latin typeface="+mj-lt"/>
                <a:cs typeface="Calibri"/>
              </a:rPr>
              <a:t>Power</a:t>
            </a:r>
            <a:r>
              <a:rPr sz="2000" b="1" spc="-10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+mj-lt"/>
                <a:cs typeface="Calibri"/>
              </a:rPr>
              <a:t>Generation</a:t>
            </a:r>
            <a:endParaRPr sz="2000" dirty="0">
              <a:latin typeface="+mj-lt"/>
              <a:cs typeface="Calibri"/>
            </a:endParaRPr>
          </a:p>
          <a:p>
            <a:pPr marL="995680" marR="104775">
              <a:lnSpc>
                <a:spcPct val="100000"/>
              </a:lnSpc>
              <a:spcBef>
                <a:spcPts val="1250"/>
              </a:spcBef>
            </a:pPr>
            <a:r>
              <a:rPr sz="1400" b="1" dirty="0">
                <a:solidFill>
                  <a:srgbClr val="FFFFFF"/>
                </a:solidFill>
                <a:latin typeface="+mj-lt"/>
                <a:cs typeface="Calibri"/>
              </a:rPr>
              <a:t>Driving</a:t>
            </a:r>
            <a:r>
              <a:rPr sz="1400" b="1" spc="-7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+mj-lt"/>
                <a:cs typeface="Calibri"/>
              </a:rPr>
              <a:t>operational excellence </a:t>
            </a:r>
            <a:r>
              <a:rPr sz="1400" b="1" spc="-25" dirty="0">
                <a:solidFill>
                  <a:srgbClr val="FFFFFF"/>
                </a:solidFill>
                <a:latin typeface="+mj-lt"/>
                <a:cs typeface="Calibri"/>
              </a:rPr>
              <a:t>in </a:t>
            </a:r>
            <a:r>
              <a:rPr sz="1400" b="1" spc="-10" dirty="0">
                <a:solidFill>
                  <a:srgbClr val="FFFFFF"/>
                </a:solidFill>
                <a:latin typeface="+mj-lt"/>
                <a:cs typeface="Calibri"/>
              </a:rPr>
              <a:t>Generation </a:t>
            </a:r>
            <a:r>
              <a:rPr sz="1400" b="1" dirty="0">
                <a:solidFill>
                  <a:srgbClr val="FFFFFF"/>
                </a:solidFill>
                <a:latin typeface="+mj-lt"/>
                <a:cs typeface="Calibri"/>
              </a:rPr>
              <a:t>Companies.</a:t>
            </a:r>
            <a:r>
              <a:rPr sz="1400" b="1" spc="-6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+mj-lt"/>
                <a:cs typeface="Calibri"/>
              </a:rPr>
              <a:t>Asset </a:t>
            </a:r>
            <a:r>
              <a:rPr sz="1400" b="1" spc="-10" dirty="0">
                <a:solidFill>
                  <a:srgbClr val="FFFFFF"/>
                </a:solidFill>
                <a:latin typeface="+mj-lt"/>
                <a:cs typeface="Calibri"/>
              </a:rPr>
              <a:t>Utilisation.</a:t>
            </a:r>
            <a:endParaRPr sz="1400" dirty="0">
              <a:latin typeface="+mj-lt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37281" y="1428750"/>
            <a:ext cx="2753995" cy="1233671"/>
          </a:xfrm>
          <a:prstGeom prst="rect">
            <a:avLst/>
          </a:prstGeom>
          <a:ln w="25907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527685">
              <a:lnSpc>
                <a:spcPts val="2345"/>
              </a:lnSpc>
            </a:pPr>
            <a:r>
              <a:rPr sz="2000" b="1" dirty="0">
                <a:solidFill>
                  <a:srgbClr val="16375E"/>
                </a:solidFill>
                <a:latin typeface="+mj-lt"/>
                <a:cs typeface="Calibri"/>
              </a:rPr>
              <a:t>Smart</a:t>
            </a:r>
            <a:r>
              <a:rPr sz="2000" b="1" spc="-30" dirty="0">
                <a:solidFill>
                  <a:srgbClr val="16375E"/>
                </a:solidFill>
                <a:latin typeface="+mj-lt"/>
                <a:cs typeface="Calibri"/>
              </a:rPr>
              <a:t> </a:t>
            </a:r>
            <a:r>
              <a:rPr sz="2000" b="1" spc="-10" dirty="0">
                <a:solidFill>
                  <a:srgbClr val="16375E"/>
                </a:solidFill>
                <a:latin typeface="+mj-lt"/>
                <a:cs typeface="Calibri"/>
              </a:rPr>
              <a:t>Distribution</a:t>
            </a:r>
            <a:endParaRPr sz="2000" dirty="0">
              <a:latin typeface="+mj-lt"/>
              <a:cs typeface="Calibri"/>
            </a:endParaRPr>
          </a:p>
          <a:p>
            <a:pPr marL="1185545" marR="170815">
              <a:lnSpc>
                <a:spcPct val="100000"/>
              </a:lnSpc>
              <a:spcBef>
                <a:spcPts val="590"/>
              </a:spcBef>
            </a:pPr>
            <a:r>
              <a:rPr sz="1400" b="1" spc="-10" dirty="0">
                <a:solidFill>
                  <a:srgbClr val="16375E"/>
                </a:solidFill>
                <a:latin typeface="+mj-lt"/>
                <a:cs typeface="Calibri"/>
              </a:rPr>
              <a:t>Leveraging</a:t>
            </a:r>
            <a:r>
              <a:rPr sz="1400" b="1" spc="-20" dirty="0">
                <a:solidFill>
                  <a:srgbClr val="16375E"/>
                </a:solidFill>
                <a:latin typeface="+mj-lt"/>
                <a:cs typeface="Calibri"/>
              </a:rPr>
              <a:t> Smart </a:t>
            </a:r>
            <a:r>
              <a:rPr sz="1400" b="1" dirty="0">
                <a:solidFill>
                  <a:srgbClr val="16375E"/>
                </a:solidFill>
                <a:latin typeface="+mj-lt"/>
                <a:cs typeface="Calibri"/>
              </a:rPr>
              <a:t>Grid</a:t>
            </a:r>
            <a:r>
              <a:rPr sz="1400" b="1" spc="-50" dirty="0">
                <a:solidFill>
                  <a:srgbClr val="16375E"/>
                </a:solidFill>
                <a:latin typeface="+mj-lt"/>
                <a:cs typeface="Calibri"/>
              </a:rPr>
              <a:t> </a:t>
            </a:r>
            <a:r>
              <a:rPr sz="1400" b="1" spc="-10" dirty="0">
                <a:solidFill>
                  <a:srgbClr val="16375E"/>
                </a:solidFill>
                <a:latin typeface="+mj-lt"/>
                <a:cs typeface="Calibri"/>
              </a:rPr>
              <a:t>technologies </a:t>
            </a:r>
            <a:r>
              <a:rPr sz="1400" b="1" dirty="0">
                <a:solidFill>
                  <a:srgbClr val="16375E"/>
                </a:solidFill>
                <a:latin typeface="+mj-lt"/>
                <a:cs typeface="Calibri"/>
              </a:rPr>
              <a:t>for</a:t>
            </a:r>
            <a:r>
              <a:rPr sz="1400" b="1" spc="-50" dirty="0">
                <a:solidFill>
                  <a:srgbClr val="16375E"/>
                </a:solidFill>
                <a:latin typeface="+mj-lt"/>
                <a:cs typeface="Calibri"/>
              </a:rPr>
              <a:t> </a:t>
            </a:r>
            <a:r>
              <a:rPr sz="1400" b="1" dirty="0">
                <a:solidFill>
                  <a:srgbClr val="16375E"/>
                </a:solidFill>
                <a:latin typeface="+mj-lt"/>
                <a:cs typeface="Calibri"/>
              </a:rPr>
              <a:t>agility</a:t>
            </a:r>
            <a:r>
              <a:rPr sz="1400" b="1" spc="-40" dirty="0">
                <a:solidFill>
                  <a:srgbClr val="16375E"/>
                </a:solidFill>
                <a:latin typeface="+mj-lt"/>
                <a:cs typeface="Calibri"/>
              </a:rPr>
              <a:t> </a:t>
            </a:r>
            <a:r>
              <a:rPr sz="1400" b="1" spc="-25" dirty="0">
                <a:solidFill>
                  <a:srgbClr val="16375E"/>
                </a:solidFill>
                <a:latin typeface="+mj-lt"/>
                <a:cs typeface="Calibri"/>
              </a:rPr>
              <a:t>and </a:t>
            </a:r>
            <a:r>
              <a:rPr sz="1400" b="1" dirty="0">
                <a:solidFill>
                  <a:srgbClr val="16375E"/>
                </a:solidFill>
                <a:latin typeface="+mj-lt"/>
                <a:cs typeface="Calibri"/>
              </a:rPr>
              <a:t>higher</a:t>
            </a:r>
            <a:r>
              <a:rPr sz="1400" b="1" spc="-60" dirty="0">
                <a:solidFill>
                  <a:srgbClr val="16375E"/>
                </a:solidFill>
                <a:latin typeface="+mj-lt"/>
                <a:cs typeface="Calibri"/>
              </a:rPr>
              <a:t> </a:t>
            </a:r>
            <a:r>
              <a:rPr sz="1400" b="1" spc="-10" dirty="0">
                <a:solidFill>
                  <a:srgbClr val="16375E"/>
                </a:solidFill>
                <a:latin typeface="+mj-lt"/>
                <a:cs typeface="Calibri"/>
              </a:rPr>
              <a:t>profitability</a:t>
            </a:r>
            <a:endParaRPr sz="1400" dirty="0">
              <a:latin typeface="+mj-lt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8748" y="3254340"/>
            <a:ext cx="4313093" cy="13567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62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+mj-lt"/>
                <a:cs typeface="Calibri"/>
              </a:rPr>
              <a:t>Connected</a:t>
            </a:r>
            <a:r>
              <a:rPr sz="1800" b="1" spc="-5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+mj-lt"/>
                <a:cs typeface="Calibri"/>
              </a:rPr>
              <a:t>Intelligence</a:t>
            </a:r>
            <a:r>
              <a:rPr sz="1800" b="1" spc="-4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+mj-lt"/>
                <a:cs typeface="Calibri"/>
              </a:rPr>
              <a:t>Solutions</a:t>
            </a:r>
            <a:endParaRPr sz="1800" dirty="0">
              <a:latin typeface="+mj-lt"/>
              <a:cs typeface="Calibri"/>
            </a:endParaRPr>
          </a:p>
          <a:p>
            <a:pPr marL="1088390" marR="113030">
              <a:lnSpc>
                <a:spcPct val="100000"/>
              </a:lnSpc>
              <a:spcBef>
                <a:spcPts val="1595"/>
              </a:spcBef>
            </a:pP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Capture</a:t>
            </a:r>
            <a:r>
              <a:rPr sz="1400" spc="-2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opportunities</a:t>
            </a:r>
            <a:r>
              <a:rPr sz="1400" spc="-1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across</a:t>
            </a:r>
            <a:r>
              <a:rPr sz="1400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Value</a:t>
            </a:r>
            <a:r>
              <a:rPr sz="1400" spc="-1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Chain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through</a:t>
            </a:r>
            <a:r>
              <a:rPr sz="1400" spc="-3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Digital</a:t>
            </a:r>
            <a:r>
              <a:rPr sz="1400" spc="-3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+mj-lt"/>
                <a:cs typeface="Calibri"/>
              </a:rPr>
              <a:t>Transformation</a:t>
            </a:r>
            <a:r>
              <a:rPr sz="1400" spc="-4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leveraging Information</a:t>
            </a:r>
            <a:r>
              <a:rPr sz="1400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flows</a:t>
            </a:r>
            <a:r>
              <a:rPr sz="1400" spc="-5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–</a:t>
            </a:r>
            <a:r>
              <a:rPr sz="1400" spc="-1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Asset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Management,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Plant</a:t>
            </a:r>
            <a:r>
              <a:rPr sz="1400" spc="-3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Maintenance,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Blockchain.</a:t>
            </a:r>
            <a:endParaRPr sz="1400" dirty="0">
              <a:latin typeface="+mj-lt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49952" y="3674903"/>
            <a:ext cx="719327" cy="734307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4816386" y="3254340"/>
            <a:ext cx="3891628" cy="111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+mj-lt"/>
                <a:cs typeface="Calibri"/>
              </a:rPr>
              <a:t>Agile</a:t>
            </a:r>
            <a:r>
              <a:rPr sz="1800" b="1" spc="-5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+mj-lt"/>
                <a:cs typeface="Calibri"/>
              </a:rPr>
              <a:t>IT</a:t>
            </a:r>
            <a:endParaRPr sz="1800" dirty="0">
              <a:latin typeface="+mj-lt"/>
              <a:cs typeface="Calibri"/>
            </a:endParaRPr>
          </a:p>
          <a:p>
            <a:pPr marL="969644" marR="215265" algn="just">
              <a:lnSpc>
                <a:spcPct val="100000"/>
              </a:lnSpc>
              <a:spcBef>
                <a:spcPts val="1435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Real</a:t>
            </a:r>
            <a:r>
              <a:rPr sz="1400" spc="-4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time</a:t>
            </a:r>
            <a:r>
              <a:rPr sz="1400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available,</a:t>
            </a:r>
            <a:r>
              <a:rPr sz="1400" spc="-2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scalable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systems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spanning</a:t>
            </a:r>
            <a:r>
              <a:rPr sz="1400" spc="-1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IT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&amp;</a:t>
            </a:r>
            <a:r>
              <a:rPr sz="1400" spc="-3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IoT</a:t>
            </a:r>
            <a:r>
              <a:rPr sz="1400" spc="-2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technologies</a:t>
            </a:r>
            <a:r>
              <a:rPr sz="1400" spc="-1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using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Computing</a:t>
            </a:r>
            <a:r>
              <a:rPr sz="1400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Infrastructures</a:t>
            </a:r>
            <a:r>
              <a:rPr sz="1400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and</a:t>
            </a:r>
            <a:r>
              <a:rPr sz="1400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Cloud.</a:t>
            </a:r>
            <a:endParaRPr sz="1400" dirty="0">
              <a:latin typeface="+mj-lt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86094" y="1418621"/>
            <a:ext cx="2689860" cy="1440138"/>
          </a:xfrm>
          <a:prstGeom prst="rect">
            <a:avLst/>
          </a:prstGeom>
          <a:ln w="25907">
            <a:noFill/>
          </a:ln>
        </p:spPr>
        <p:txBody>
          <a:bodyPr vert="horz" wrap="square" lIns="0" tIns="381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30"/>
              </a:spcBef>
            </a:pPr>
            <a:r>
              <a:rPr sz="2000" b="1" spc="-20" dirty="0">
                <a:solidFill>
                  <a:srgbClr val="FFFFFF"/>
                </a:solidFill>
                <a:latin typeface="+mj-lt"/>
                <a:cs typeface="Calibri"/>
              </a:rPr>
              <a:t>Townships</a:t>
            </a:r>
            <a:r>
              <a:rPr sz="2000" b="1" spc="-5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+mj-lt"/>
                <a:cs typeface="Calibri"/>
              </a:rPr>
              <a:t>&amp;</a:t>
            </a:r>
            <a:r>
              <a:rPr sz="2000" b="1" spc="-10" dirty="0">
                <a:solidFill>
                  <a:srgbClr val="FFFFFF"/>
                </a:solidFill>
                <a:latin typeface="+mj-lt"/>
                <a:cs typeface="Calibri"/>
              </a:rPr>
              <a:t> Consumer</a:t>
            </a:r>
            <a:endParaRPr sz="2000" dirty="0">
              <a:latin typeface="+mj-lt"/>
              <a:cs typeface="Calibri"/>
            </a:endParaRPr>
          </a:p>
          <a:p>
            <a:pPr marL="947419" marR="56515">
              <a:lnSpc>
                <a:spcPct val="100000"/>
              </a:lnSpc>
              <a:spcBef>
                <a:spcPts val="420"/>
              </a:spcBef>
            </a:pP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Deliver</a:t>
            </a:r>
            <a:r>
              <a:rPr sz="1400" spc="-5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personalized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customer</a:t>
            </a:r>
            <a:r>
              <a:rPr sz="1400" spc="-4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experience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+mj-lt"/>
                <a:cs typeface="Calibri"/>
              </a:rPr>
              <a:t>&amp;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give</a:t>
            </a:r>
            <a:r>
              <a:rPr sz="1400" spc="-4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stakeholders</a:t>
            </a:r>
            <a:r>
              <a:rPr sz="1400" spc="-3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+mj-lt"/>
                <a:cs typeface="Calibri"/>
              </a:rPr>
              <a:t>more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control</a:t>
            </a:r>
            <a:r>
              <a:rPr sz="1400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of</a:t>
            </a:r>
            <a:r>
              <a:rPr sz="1400" spc="-5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their</a:t>
            </a:r>
            <a:r>
              <a:rPr sz="1400" spc="-3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energy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sources</a:t>
            </a:r>
            <a:r>
              <a:rPr sz="1400" spc="-5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and</a:t>
            </a:r>
            <a:r>
              <a:rPr sz="1400" spc="-4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usage.</a:t>
            </a:r>
            <a:endParaRPr sz="1400" dirty="0">
              <a:latin typeface="+mj-lt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11" y="99505"/>
            <a:ext cx="7522575" cy="38151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  </a:t>
            </a:r>
            <a:r>
              <a:rPr sz="2400" dirty="0">
                <a:solidFill>
                  <a:schemeClr val="bg1"/>
                </a:solidFill>
                <a:latin typeface="+mj-lt"/>
              </a:rPr>
              <a:t>CMS</a:t>
            </a:r>
            <a:r>
              <a:rPr sz="2400" spc="-1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End</a:t>
            </a:r>
            <a:r>
              <a:rPr sz="2400" spc="-3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to</a:t>
            </a:r>
            <a:r>
              <a:rPr sz="2400" spc="-3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End</a:t>
            </a:r>
            <a:r>
              <a:rPr sz="2400" spc="-3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Smart</a:t>
            </a:r>
            <a:r>
              <a:rPr sz="2400" spc="-2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Grid</a:t>
            </a:r>
            <a:r>
              <a:rPr sz="2400" spc="-2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Solution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52737" y="1149254"/>
            <a:ext cx="3796029" cy="525780"/>
            <a:chOff x="2852737" y="1149254"/>
            <a:chExt cx="3796029" cy="525780"/>
          </a:xfrm>
        </p:grpSpPr>
        <p:sp>
          <p:nvSpPr>
            <p:cNvPr id="4" name="object 4"/>
            <p:cNvSpPr/>
            <p:nvPr/>
          </p:nvSpPr>
          <p:spPr>
            <a:xfrm>
              <a:off x="2857500" y="1367027"/>
              <a:ext cx="3786504" cy="242570"/>
            </a:xfrm>
            <a:custGeom>
              <a:avLst/>
              <a:gdLst/>
              <a:ahLst/>
              <a:cxnLst/>
              <a:rect l="l" t="t" r="r" b="b"/>
              <a:pathLst>
                <a:path w="3786504" h="242569">
                  <a:moveTo>
                    <a:pt x="0" y="0"/>
                  </a:moveTo>
                  <a:lnTo>
                    <a:pt x="3786251" y="242061"/>
                  </a:lnTo>
                </a:path>
              </a:pathLst>
            </a:custGeom>
            <a:ln w="9144">
              <a:solidFill>
                <a:srgbClr val="548ED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286228" y="1162272"/>
              <a:ext cx="929005" cy="499745"/>
            </a:xfrm>
            <a:custGeom>
              <a:avLst/>
              <a:gdLst/>
              <a:ahLst/>
              <a:cxnLst/>
              <a:rect l="l" t="t" r="r" b="b"/>
              <a:pathLst>
                <a:path w="929004" h="499744">
                  <a:moveTo>
                    <a:pt x="573250" y="0"/>
                  </a:moveTo>
                  <a:lnTo>
                    <a:pt x="537533" y="3428"/>
                  </a:lnTo>
                  <a:lnTo>
                    <a:pt x="506174" y="16430"/>
                  </a:lnTo>
                  <a:lnTo>
                    <a:pt x="483256" y="38004"/>
                  </a:lnTo>
                  <a:lnTo>
                    <a:pt x="477142" y="33887"/>
                  </a:lnTo>
                  <a:lnTo>
                    <a:pt x="470636" y="30114"/>
                  </a:lnTo>
                  <a:lnTo>
                    <a:pt x="463772" y="26699"/>
                  </a:lnTo>
                  <a:lnTo>
                    <a:pt x="456586" y="23653"/>
                  </a:lnTo>
                  <a:lnTo>
                    <a:pt x="412888" y="14106"/>
                  </a:lnTo>
                  <a:lnTo>
                    <a:pt x="369131" y="17478"/>
                  </a:lnTo>
                  <a:lnTo>
                    <a:pt x="330303" y="32637"/>
                  </a:lnTo>
                  <a:lnTo>
                    <a:pt x="301392" y="58451"/>
                  </a:lnTo>
                  <a:lnTo>
                    <a:pt x="279542" y="50774"/>
                  </a:lnTo>
                  <a:lnTo>
                    <a:pt x="256418" y="45894"/>
                  </a:lnTo>
                  <a:lnTo>
                    <a:pt x="232509" y="43896"/>
                  </a:lnTo>
                  <a:lnTo>
                    <a:pt x="208301" y="44862"/>
                  </a:lnTo>
                  <a:lnTo>
                    <a:pt x="153816" y="58697"/>
                  </a:lnTo>
                  <a:lnTo>
                    <a:pt x="112273" y="85820"/>
                  </a:lnTo>
                  <a:lnTo>
                    <a:pt x="87661" y="122372"/>
                  </a:lnTo>
                  <a:lnTo>
                    <a:pt x="83968" y="164496"/>
                  </a:lnTo>
                  <a:lnTo>
                    <a:pt x="83206" y="166147"/>
                  </a:lnTo>
                  <a:lnTo>
                    <a:pt x="42122" y="176688"/>
                  </a:lnTo>
                  <a:lnTo>
                    <a:pt x="0" y="225633"/>
                  </a:lnTo>
                  <a:lnTo>
                    <a:pt x="2260" y="251952"/>
                  </a:lnTo>
                  <a:lnTo>
                    <a:pt x="17783" y="275722"/>
                  </a:lnTo>
                  <a:lnTo>
                    <a:pt x="45487" y="293909"/>
                  </a:lnTo>
                  <a:lnTo>
                    <a:pt x="33244" y="305855"/>
                  </a:lnTo>
                  <a:lnTo>
                    <a:pt x="24882" y="319277"/>
                  </a:lnTo>
                  <a:lnTo>
                    <a:pt x="20663" y="333700"/>
                  </a:lnTo>
                  <a:lnTo>
                    <a:pt x="20849" y="348646"/>
                  </a:lnTo>
                  <a:lnTo>
                    <a:pt x="32388" y="374499"/>
                  </a:lnTo>
                  <a:lnTo>
                    <a:pt x="55822" y="394398"/>
                  </a:lnTo>
                  <a:lnTo>
                    <a:pt x="87804" y="406439"/>
                  </a:lnTo>
                  <a:lnTo>
                    <a:pt x="124989" y="408717"/>
                  </a:lnTo>
                  <a:lnTo>
                    <a:pt x="126640" y="410876"/>
                  </a:lnTo>
                  <a:lnTo>
                    <a:pt x="160993" y="440739"/>
                  </a:lnTo>
                  <a:lnTo>
                    <a:pt x="204716" y="460524"/>
                  </a:lnTo>
                  <a:lnTo>
                    <a:pt x="254071" y="469544"/>
                  </a:lnTo>
                  <a:lnTo>
                    <a:pt x="305322" y="467110"/>
                  </a:lnTo>
                  <a:lnTo>
                    <a:pt x="354732" y="452532"/>
                  </a:lnTo>
                  <a:lnTo>
                    <a:pt x="370373" y="466899"/>
                  </a:lnTo>
                  <a:lnTo>
                    <a:pt x="388991" y="478980"/>
                  </a:lnTo>
                  <a:lnTo>
                    <a:pt x="410132" y="488537"/>
                  </a:lnTo>
                  <a:lnTo>
                    <a:pt x="433345" y="495331"/>
                  </a:lnTo>
                  <a:lnTo>
                    <a:pt x="490809" y="499381"/>
                  </a:lnTo>
                  <a:lnTo>
                    <a:pt x="544058" y="487346"/>
                  </a:lnTo>
                  <a:lnTo>
                    <a:pt x="587257" y="461523"/>
                  </a:lnTo>
                  <a:lnTo>
                    <a:pt x="614574" y="424211"/>
                  </a:lnTo>
                  <a:lnTo>
                    <a:pt x="629679" y="430107"/>
                  </a:lnTo>
                  <a:lnTo>
                    <a:pt x="645689" y="434419"/>
                  </a:lnTo>
                  <a:lnTo>
                    <a:pt x="662366" y="437088"/>
                  </a:lnTo>
                  <a:lnTo>
                    <a:pt x="679471" y="438054"/>
                  </a:lnTo>
                  <a:lnTo>
                    <a:pt x="727991" y="431178"/>
                  </a:lnTo>
                  <a:lnTo>
                    <a:pt x="767784" y="411908"/>
                  </a:lnTo>
                  <a:lnTo>
                    <a:pt x="794789" y="383137"/>
                  </a:lnTo>
                  <a:lnTo>
                    <a:pt x="804947" y="347757"/>
                  </a:lnTo>
                  <a:lnTo>
                    <a:pt x="823247" y="344910"/>
                  </a:lnTo>
                  <a:lnTo>
                    <a:pt x="873146" y="326675"/>
                  </a:lnTo>
                  <a:lnTo>
                    <a:pt x="911177" y="294765"/>
                  </a:lnTo>
                  <a:lnTo>
                    <a:pt x="928883" y="255984"/>
                  </a:lnTo>
                  <a:lnTo>
                    <a:pt x="925421" y="215179"/>
                  </a:lnTo>
                  <a:lnTo>
                    <a:pt x="899943" y="177196"/>
                  </a:lnTo>
                  <a:lnTo>
                    <a:pt x="903753" y="169830"/>
                  </a:lnTo>
                  <a:lnTo>
                    <a:pt x="905150" y="166147"/>
                  </a:lnTo>
                  <a:lnTo>
                    <a:pt x="908178" y="132742"/>
                  </a:lnTo>
                  <a:lnTo>
                    <a:pt x="894038" y="102171"/>
                  </a:lnTo>
                  <a:lnTo>
                    <a:pt x="865324" y="77743"/>
                  </a:lnTo>
                  <a:lnTo>
                    <a:pt x="824632" y="62769"/>
                  </a:lnTo>
                  <a:lnTo>
                    <a:pt x="819902" y="50051"/>
                  </a:lnTo>
                  <a:lnTo>
                    <a:pt x="789326" y="18065"/>
                  </a:lnTo>
                  <a:lnTo>
                    <a:pt x="752967" y="3470"/>
                  </a:lnTo>
                  <a:lnTo>
                    <a:pt x="713142" y="269"/>
                  </a:lnTo>
                  <a:lnTo>
                    <a:pt x="674580" y="8189"/>
                  </a:lnTo>
                  <a:lnTo>
                    <a:pt x="642006" y="26955"/>
                  </a:lnTo>
                  <a:lnTo>
                    <a:pt x="634994" y="20984"/>
                  </a:lnTo>
                  <a:lnTo>
                    <a:pt x="627147" y="15668"/>
                  </a:lnTo>
                  <a:lnTo>
                    <a:pt x="618539" y="11043"/>
                  </a:lnTo>
                  <a:lnTo>
                    <a:pt x="609240" y="7143"/>
                  </a:lnTo>
                  <a:lnTo>
                    <a:pt x="57325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286228" y="1162272"/>
              <a:ext cx="929005" cy="499745"/>
            </a:xfrm>
            <a:custGeom>
              <a:avLst/>
              <a:gdLst/>
              <a:ahLst/>
              <a:cxnLst/>
              <a:rect l="l" t="t" r="r" b="b"/>
              <a:pathLst>
                <a:path w="929004" h="499744">
                  <a:moveTo>
                    <a:pt x="83968" y="164496"/>
                  </a:moveTo>
                  <a:lnTo>
                    <a:pt x="87661" y="122372"/>
                  </a:lnTo>
                  <a:lnTo>
                    <a:pt x="112273" y="85820"/>
                  </a:lnTo>
                  <a:lnTo>
                    <a:pt x="153816" y="58697"/>
                  </a:lnTo>
                  <a:lnTo>
                    <a:pt x="208301" y="44862"/>
                  </a:lnTo>
                  <a:lnTo>
                    <a:pt x="232509" y="43896"/>
                  </a:lnTo>
                  <a:lnTo>
                    <a:pt x="256418" y="45894"/>
                  </a:lnTo>
                  <a:lnTo>
                    <a:pt x="279542" y="50774"/>
                  </a:lnTo>
                  <a:lnTo>
                    <a:pt x="301392" y="58451"/>
                  </a:lnTo>
                  <a:lnTo>
                    <a:pt x="330303" y="32637"/>
                  </a:lnTo>
                  <a:lnTo>
                    <a:pt x="369131" y="17478"/>
                  </a:lnTo>
                  <a:lnTo>
                    <a:pt x="412888" y="14106"/>
                  </a:lnTo>
                  <a:lnTo>
                    <a:pt x="456586" y="23653"/>
                  </a:lnTo>
                  <a:lnTo>
                    <a:pt x="463772" y="26699"/>
                  </a:lnTo>
                  <a:lnTo>
                    <a:pt x="470636" y="30114"/>
                  </a:lnTo>
                  <a:lnTo>
                    <a:pt x="477142" y="33887"/>
                  </a:lnTo>
                  <a:lnTo>
                    <a:pt x="483256" y="38004"/>
                  </a:lnTo>
                  <a:lnTo>
                    <a:pt x="506174" y="16430"/>
                  </a:lnTo>
                  <a:lnTo>
                    <a:pt x="537533" y="3428"/>
                  </a:lnTo>
                  <a:lnTo>
                    <a:pt x="573250" y="0"/>
                  </a:lnTo>
                  <a:lnTo>
                    <a:pt x="609240" y="7143"/>
                  </a:lnTo>
                  <a:lnTo>
                    <a:pt x="618539" y="11043"/>
                  </a:lnTo>
                  <a:lnTo>
                    <a:pt x="627147" y="15668"/>
                  </a:lnTo>
                  <a:lnTo>
                    <a:pt x="634994" y="20984"/>
                  </a:lnTo>
                  <a:lnTo>
                    <a:pt x="642006" y="26955"/>
                  </a:lnTo>
                  <a:lnTo>
                    <a:pt x="674580" y="8189"/>
                  </a:lnTo>
                  <a:lnTo>
                    <a:pt x="713142" y="269"/>
                  </a:lnTo>
                  <a:lnTo>
                    <a:pt x="752967" y="3470"/>
                  </a:lnTo>
                  <a:lnTo>
                    <a:pt x="789326" y="18065"/>
                  </a:lnTo>
                  <a:lnTo>
                    <a:pt x="802058" y="27426"/>
                  </a:lnTo>
                  <a:lnTo>
                    <a:pt x="812313" y="38179"/>
                  </a:lnTo>
                  <a:lnTo>
                    <a:pt x="819902" y="50051"/>
                  </a:lnTo>
                  <a:lnTo>
                    <a:pt x="824632" y="62769"/>
                  </a:lnTo>
                  <a:lnTo>
                    <a:pt x="865324" y="77743"/>
                  </a:lnTo>
                  <a:lnTo>
                    <a:pt x="894038" y="102171"/>
                  </a:lnTo>
                  <a:lnTo>
                    <a:pt x="908178" y="132742"/>
                  </a:lnTo>
                  <a:lnTo>
                    <a:pt x="905150" y="166147"/>
                  </a:lnTo>
                  <a:lnTo>
                    <a:pt x="903753" y="169830"/>
                  </a:lnTo>
                  <a:lnTo>
                    <a:pt x="901975" y="173513"/>
                  </a:lnTo>
                  <a:lnTo>
                    <a:pt x="899943" y="177196"/>
                  </a:lnTo>
                  <a:lnTo>
                    <a:pt x="925421" y="215179"/>
                  </a:lnTo>
                  <a:lnTo>
                    <a:pt x="928883" y="255984"/>
                  </a:lnTo>
                  <a:lnTo>
                    <a:pt x="911177" y="294765"/>
                  </a:lnTo>
                  <a:lnTo>
                    <a:pt x="873146" y="326675"/>
                  </a:lnTo>
                  <a:lnTo>
                    <a:pt x="823247" y="344910"/>
                  </a:lnTo>
                  <a:lnTo>
                    <a:pt x="804947" y="347757"/>
                  </a:lnTo>
                  <a:lnTo>
                    <a:pt x="794789" y="383137"/>
                  </a:lnTo>
                  <a:lnTo>
                    <a:pt x="767784" y="411908"/>
                  </a:lnTo>
                  <a:lnTo>
                    <a:pt x="727991" y="431178"/>
                  </a:lnTo>
                  <a:lnTo>
                    <a:pt x="679471" y="438054"/>
                  </a:lnTo>
                  <a:lnTo>
                    <a:pt x="662366" y="437088"/>
                  </a:lnTo>
                  <a:lnTo>
                    <a:pt x="645689" y="434419"/>
                  </a:lnTo>
                  <a:lnTo>
                    <a:pt x="629679" y="430107"/>
                  </a:lnTo>
                  <a:lnTo>
                    <a:pt x="614574" y="424211"/>
                  </a:lnTo>
                  <a:lnTo>
                    <a:pt x="587257" y="461523"/>
                  </a:lnTo>
                  <a:lnTo>
                    <a:pt x="544058" y="487346"/>
                  </a:lnTo>
                  <a:lnTo>
                    <a:pt x="490809" y="499381"/>
                  </a:lnTo>
                  <a:lnTo>
                    <a:pt x="433345" y="495331"/>
                  </a:lnTo>
                  <a:lnTo>
                    <a:pt x="410132" y="488537"/>
                  </a:lnTo>
                  <a:lnTo>
                    <a:pt x="388991" y="478980"/>
                  </a:lnTo>
                  <a:lnTo>
                    <a:pt x="370373" y="466899"/>
                  </a:lnTo>
                  <a:lnTo>
                    <a:pt x="354732" y="452532"/>
                  </a:lnTo>
                  <a:lnTo>
                    <a:pt x="305322" y="467110"/>
                  </a:lnTo>
                  <a:lnTo>
                    <a:pt x="254071" y="469544"/>
                  </a:lnTo>
                  <a:lnTo>
                    <a:pt x="204716" y="460524"/>
                  </a:lnTo>
                  <a:lnTo>
                    <a:pt x="160993" y="440739"/>
                  </a:lnTo>
                  <a:lnTo>
                    <a:pt x="126640" y="410876"/>
                  </a:lnTo>
                  <a:lnTo>
                    <a:pt x="126132" y="410114"/>
                  </a:lnTo>
                  <a:lnTo>
                    <a:pt x="125497" y="409479"/>
                  </a:lnTo>
                  <a:lnTo>
                    <a:pt x="124989" y="408717"/>
                  </a:lnTo>
                  <a:lnTo>
                    <a:pt x="87804" y="406439"/>
                  </a:lnTo>
                  <a:lnTo>
                    <a:pt x="55822" y="394398"/>
                  </a:lnTo>
                  <a:lnTo>
                    <a:pt x="32388" y="374499"/>
                  </a:lnTo>
                  <a:lnTo>
                    <a:pt x="20849" y="348646"/>
                  </a:lnTo>
                  <a:lnTo>
                    <a:pt x="20663" y="333700"/>
                  </a:lnTo>
                  <a:lnTo>
                    <a:pt x="24882" y="319277"/>
                  </a:lnTo>
                  <a:lnTo>
                    <a:pt x="33244" y="305855"/>
                  </a:lnTo>
                  <a:lnTo>
                    <a:pt x="45487" y="293909"/>
                  </a:lnTo>
                  <a:lnTo>
                    <a:pt x="17783" y="275722"/>
                  </a:lnTo>
                  <a:lnTo>
                    <a:pt x="2260" y="251952"/>
                  </a:lnTo>
                  <a:lnTo>
                    <a:pt x="0" y="225633"/>
                  </a:lnTo>
                  <a:lnTo>
                    <a:pt x="12086" y="199802"/>
                  </a:lnTo>
                  <a:lnTo>
                    <a:pt x="25342" y="186864"/>
                  </a:lnTo>
                  <a:lnTo>
                    <a:pt x="42122" y="176688"/>
                  </a:lnTo>
                  <a:lnTo>
                    <a:pt x="61664" y="169656"/>
                  </a:lnTo>
                  <a:lnTo>
                    <a:pt x="83206" y="166147"/>
                  </a:lnTo>
                  <a:lnTo>
                    <a:pt x="83968" y="164496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332732" y="1187577"/>
              <a:ext cx="853440" cy="425450"/>
            </a:xfrm>
            <a:custGeom>
              <a:avLst/>
              <a:gdLst/>
              <a:ahLst/>
              <a:cxnLst/>
              <a:rect l="l" t="t" r="r" b="b"/>
              <a:pathLst>
                <a:path w="853439" h="425450">
                  <a:moveTo>
                    <a:pt x="54483" y="275844"/>
                  </a:moveTo>
                  <a:lnTo>
                    <a:pt x="40255" y="275877"/>
                  </a:lnTo>
                  <a:lnTo>
                    <a:pt x="26289" y="274304"/>
                  </a:lnTo>
                  <a:lnTo>
                    <a:pt x="12799" y="271182"/>
                  </a:lnTo>
                  <a:lnTo>
                    <a:pt x="0" y="266573"/>
                  </a:lnTo>
                </a:path>
                <a:path w="853439" h="425450">
                  <a:moveTo>
                    <a:pt x="102616" y="376809"/>
                  </a:moveTo>
                  <a:lnTo>
                    <a:pt x="94996" y="378968"/>
                  </a:lnTo>
                  <a:lnTo>
                    <a:pt x="86995" y="380492"/>
                  </a:lnTo>
                  <a:lnTo>
                    <a:pt x="78740" y="381127"/>
                  </a:lnTo>
                </a:path>
                <a:path w="853439" h="425450">
                  <a:moveTo>
                    <a:pt x="308102" y="425323"/>
                  </a:moveTo>
                  <a:lnTo>
                    <a:pt x="302387" y="418973"/>
                  </a:lnTo>
                  <a:lnTo>
                    <a:pt x="297561" y="412242"/>
                  </a:lnTo>
                  <a:lnTo>
                    <a:pt x="293751" y="405130"/>
                  </a:lnTo>
                </a:path>
                <a:path w="853439" h="425450">
                  <a:moveTo>
                    <a:pt x="573913" y="375031"/>
                  </a:moveTo>
                  <a:lnTo>
                    <a:pt x="573024" y="382524"/>
                  </a:lnTo>
                  <a:lnTo>
                    <a:pt x="571119" y="390017"/>
                  </a:lnTo>
                  <a:lnTo>
                    <a:pt x="568071" y="397129"/>
                  </a:lnTo>
                </a:path>
                <a:path w="853439" h="425450">
                  <a:moveTo>
                    <a:pt x="687959" y="238506"/>
                  </a:moveTo>
                  <a:lnTo>
                    <a:pt x="717163" y="252958"/>
                  </a:lnTo>
                  <a:lnTo>
                    <a:pt x="739282" y="272399"/>
                  </a:lnTo>
                  <a:lnTo>
                    <a:pt x="753235" y="295530"/>
                  </a:lnTo>
                  <a:lnTo>
                    <a:pt x="757936" y="321056"/>
                  </a:lnTo>
                </a:path>
                <a:path w="853439" h="425450">
                  <a:moveTo>
                    <a:pt x="852932" y="150622"/>
                  </a:moveTo>
                  <a:lnTo>
                    <a:pt x="847016" y="159303"/>
                  </a:lnTo>
                  <a:lnTo>
                    <a:pt x="839803" y="167401"/>
                  </a:lnTo>
                  <a:lnTo>
                    <a:pt x="831375" y="174857"/>
                  </a:lnTo>
                  <a:lnTo>
                    <a:pt x="821817" y="181610"/>
                  </a:lnTo>
                </a:path>
                <a:path w="853439" h="425450">
                  <a:moveTo>
                    <a:pt x="778256" y="35687"/>
                  </a:moveTo>
                  <a:lnTo>
                    <a:pt x="779399" y="40513"/>
                  </a:lnTo>
                  <a:lnTo>
                    <a:pt x="779907" y="45466"/>
                  </a:lnTo>
                  <a:lnTo>
                    <a:pt x="779907" y="50419"/>
                  </a:lnTo>
                </a:path>
                <a:path w="853439" h="425450">
                  <a:moveTo>
                    <a:pt x="579247" y="18669"/>
                  </a:moveTo>
                  <a:lnTo>
                    <a:pt x="583311" y="11938"/>
                  </a:lnTo>
                  <a:lnTo>
                    <a:pt x="588645" y="5588"/>
                  </a:lnTo>
                  <a:lnTo>
                    <a:pt x="595249" y="0"/>
                  </a:lnTo>
                </a:path>
                <a:path w="853439" h="425450">
                  <a:moveTo>
                    <a:pt x="430022" y="27559"/>
                  </a:moveTo>
                  <a:lnTo>
                    <a:pt x="431673" y="21971"/>
                  </a:lnTo>
                  <a:lnTo>
                    <a:pt x="434213" y="16637"/>
                  </a:lnTo>
                  <a:lnTo>
                    <a:pt x="437769" y="11430"/>
                  </a:lnTo>
                </a:path>
                <a:path w="853439" h="425450">
                  <a:moveTo>
                    <a:pt x="254762" y="33020"/>
                  </a:moveTo>
                  <a:lnTo>
                    <a:pt x="262235" y="36443"/>
                  </a:lnTo>
                  <a:lnTo>
                    <a:pt x="269398" y="40211"/>
                  </a:lnTo>
                  <a:lnTo>
                    <a:pt x="276228" y="44289"/>
                  </a:lnTo>
                  <a:lnTo>
                    <a:pt x="282702" y="48641"/>
                  </a:lnTo>
                </a:path>
                <a:path w="853439" h="425450">
                  <a:moveTo>
                    <a:pt x="42291" y="155702"/>
                  </a:moveTo>
                  <a:lnTo>
                    <a:pt x="40132" y="150241"/>
                  </a:lnTo>
                  <a:lnTo>
                    <a:pt x="38481" y="144780"/>
                  </a:lnTo>
                  <a:lnTo>
                    <a:pt x="37465" y="139192"/>
                  </a:lnTo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720201" y="1171575"/>
            <a:ext cx="182038" cy="10242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65" dirty="0">
                <a:solidFill>
                  <a:srgbClr val="006FC0"/>
                </a:solidFill>
                <a:latin typeface="+mj-lt"/>
                <a:cs typeface="Calibri"/>
              </a:rPr>
              <a:t>DATA</a:t>
            </a:r>
            <a:r>
              <a:rPr sz="1400" b="1" spc="-15" dirty="0">
                <a:solidFill>
                  <a:srgbClr val="006FC0"/>
                </a:solidFill>
                <a:latin typeface="+mj-lt"/>
                <a:cs typeface="Calibri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+mj-lt"/>
                <a:cs typeface="Calibri"/>
              </a:rPr>
              <a:t>CENTER</a:t>
            </a:r>
            <a:endParaRPr sz="1400">
              <a:latin typeface="+mj-lt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4690" y="1252220"/>
            <a:ext cx="43434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FFFFFF"/>
                </a:solidFill>
                <a:latin typeface="+mj-lt"/>
                <a:cs typeface="Calibri"/>
              </a:rPr>
              <a:t>MPLS</a:t>
            </a:r>
            <a:endParaRPr sz="1400">
              <a:latin typeface="+mj-lt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872" y="4451603"/>
            <a:ext cx="1358265" cy="205184"/>
          </a:xfrm>
          <a:prstGeom prst="rect">
            <a:avLst/>
          </a:prstGeom>
          <a:solidFill>
            <a:srgbClr val="007635"/>
          </a:solidFill>
        </p:spPr>
        <p:txBody>
          <a:bodyPr vert="horz" wrap="square" lIns="0" tIns="0" rIns="0" bIns="0" rtlCol="0">
            <a:spAutoFit/>
          </a:bodyPr>
          <a:lstStyle/>
          <a:p>
            <a:pPr marL="42545">
              <a:lnSpc>
                <a:spcPts val="1639"/>
              </a:lnSpc>
            </a:pPr>
            <a:r>
              <a:rPr sz="1400" b="1" dirty="0">
                <a:solidFill>
                  <a:srgbClr val="FFFFFF"/>
                </a:solidFill>
                <a:latin typeface="+mj-lt"/>
                <a:cs typeface="Calibri"/>
              </a:rPr>
              <a:t>OFFICE</a:t>
            </a:r>
            <a:r>
              <a:rPr sz="1400" b="1" spc="-3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+mj-lt"/>
                <a:cs typeface="Calibri"/>
              </a:rPr>
              <a:t>COMPLEX</a:t>
            </a:r>
            <a:endParaRPr sz="1400">
              <a:latin typeface="+mj-lt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29755" y="4489703"/>
            <a:ext cx="1356360" cy="205184"/>
          </a:xfrm>
          <a:prstGeom prst="rect">
            <a:avLst/>
          </a:prstGeom>
          <a:solidFill>
            <a:srgbClr val="007635"/>
          </a:solidFill>
        </p:spPr>
        <p:txBody>
          <a:bodyPr vert="horz" wrap="square" lIns="0" tIns="0" rIns="0" bIns="0" rtlCol="0">
            <a:spAutoFit/>
          </a:bodyPr>
          <a:lstStyle/>
          <a:p>
            <a:pPr marL="203200">
              <a:lnSpc>
                <a:spcPts val="1630"/>
              </a:lnSpc>
            </a:pPr>
            <a:r>
              <a:rPr sz="1400" b="1" spc="-10" dirty="0">
                <a:solidFill>
                  <a:srgbClr val="FFFFFF"/>
                </a:solidFill>
                <a:latin typeface="+mj-lt"/>
                <a:cs typeface="Calibri"/>
              </a:rPr>
              <a:t>RESIDENTIAL</a:t>
            </a:r>
            <a:endParaRPr sz="1400">
              <a:latin typeface="+mj-lt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52215" y="4460747"/>
            <a:ext cx="1754505" cy="205184"/>
          </a:xfrm>
          <a:prstGeom prst="rect">
            <a:avLst/>
          </a:prstGeom>
          <a:solidFill>
            <a:srgbClr val="007635"/>
          </a:solidFill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1630"/>
              </a:lnSpc>
            </a:pPr>
            <a:r>
              <a:rPr sz="1400" b="1" spc="-25" dirty="0">
                <a:solidFill>
                  <a:srgbClr val="FFFFFF"/>
                </a:solidFill>
                <a:latin typeface="+mj-lt"/>
                <a:cs typeface="Calibri"/>
              </a:rPr>
              <a:t>FACTORY</a:t>
            </a:r>
            <a:r>
              <a:rPr sz="1400" b="1" spc="-3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+mj-lt"/>
                <a:cs typeface="Calibri"/>
              </a:rPr>
              <a:t>/</a:t>
            </a:r>
            <a:r>
              <a:rPr sz="1400" b="1" spc="1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+mj-lt"/>
                <a:cs typeface="Calibri"/>
              </a:rPr>
              <a:t>CAMPUS</a:t>
            </a:r>
            <a:endParaRPr sz="1400">
              <a:latin typeface="+mj-lt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11872" y="811403"/>
            <a:ext cx="1101090" cy="3942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77495" marR="5080" indent="-265430">
              <a:lnSpc>
                <a:spcPts val="1340"/>
              </a:lnSpc>
              <a:spcBef>
                <a:spcPts val="430"/>
              </a:spcBef>
            </a:pPr>
            <a:r>
              <a:rPr sz="1400" b="1" dirty="0">
                <a:solidFill>
                  <a:srgbClr val="C00000"/>
                </a:solidFill>
                <a:latin typeface="+mj-lt"/>
                <a:cs typeface="Calibri"/>
              </a:rPr>
              <a:t>CMS</a:t>
            </a:r>
            <a:r>
              <a:rPr sz="1400" b="1" spc="-1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+mj-lt"/>
                <a:cs typeface="Calibri"/>
              </a:rPr>
              <a:t>GridLogik Servers</a:t>
            </a:r>
            <a:endParaRPr sz="1400">
              <a:latin typeface="+mj-lt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88022" y="2180285"/>
            <a:ext cx="27178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latin typeface="+mj-lt"/>
                <a:cs typeface="Calibri"/>
              </a:rPr>
              <a:t>GIS</a:t>
            </a:r>
            <a:endParaRPr sz="1400">
              <a:latin typeface="+mj-lt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39710" y="2195830"/>
            <a:ext cx="10369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+mj-lt"/>
                <a:cs typeface="Calibri"/>
              </a:rPr>
              <a:t>Billing</a:t>
            </a:r>
            <a:r>
              <a:rPr sz="1400" b="1" spc="-35" dirty="0">
                <a:latin typeface="+mj-lt"/>
                <a:cs typeface="Calibri"/>
              </a:rPr>
              <a:t> </a:t>
            </a:r>
            <a:r>
              <a:rPr sz="1400" b="1" dirty="0">
                <a:latin typeface="+mj-lt"/>
                <a:cs typeface="Calibri"/>
              </a:rPr>
              <a:t>&amp;</a:t>
            </a:r>
            <a:r>
              <a:rPr sz="1400" b="1" spc="-30" dirty="0">
                <a:latin typeface="+mj-lt"/>
                <a:cs typeface="Calibri"/>
              </a:rPr>
              <a:t> </a:t>
            </a:r>
            <a:r>
              <a:rPr sz="1400" b="1" spc="-25" dirty="0">
                <a:latin typeface="+mj-lt"/>
                <a:cs typeface="Calibri"/>
              </a:rPr>
              <a:t>CRM</a:t>
            </a:r>
            <a:endParaRPr sz="1400">
              <a:latin typeface="+mj-lt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6615" y="3407664"/>
            <a:ext cx="2232660" cy="1007744"/>
            <a:chOff x="356615" y="3407664"/>
            <a:chExt cx="2232660" cy="1007744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6615" y="3407664"/>
              <a:ext cx="1786127" cy="100126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2743" y="3785616"/>
              <a:ext cx="446531" cy="629412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2429255" y="2421635"/>
            <a:ext cx="5660390" cy="2065020"/>
            <a:chOff x="2429255" y="2421635"/>
            <a:chExt cx="5660390" cy="206502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5744" y="3357371"/>
              <a:ext cx="1905000" cy="107137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29255" y="2421635"/>
              <a:ext cx="528828" cy="31546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9407" y="3785615"/>
              <a:ext cx="445008" cy="6294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44384" y="3857243"/>
              <a:ext cx="445007" cy="629412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71627" y="847344"/>
            <a:ext cx="8572500" cy="1511935"/>
            <a:chOff x="71627" y="847344"/>
            <a:chExt cx="8572500" cy="1511935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43116" y="1214628"/>
              <a:ext cx="2001012" cy="103174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01056" y="1431036"/>
              <a:ext cx="169163" cy="16916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71972" y="1476756"/>
              <a:ext cx="169163" cy="16916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17563" y="1533144"/>
              <a:ext cx="169163" cy="16763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15283" y="1328927"/>
              <a:ext cx="169163" cy="1676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61816" y="1354836"/>
              <a:ext cx="169163" cy="16916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627" y="847344"/>
              <a:ext cx="2747772" cy="1511808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924304" y="2505201"/>
            <a:ext cx="716915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295"/>
              </a:lnSpc>
              <a:spcBef>
                <a:spcPts val="100"/>
              </a:spcBef>
            </a:pPr>
            <a:r>
              <a:rPr sz="1200" b="1" spc="-20" dirty="0">
                <a:latin typeface="+mj-lt"/>
                <a:cs typeface="Calibri"/>
              </a:rPr>
              <a:t>GPRS</a:t>
            </a:r>
            <a:endParaRPr sz="1200">
              <a:latin typeface="+mj-lt"/>
              <a:cs typeface="Calibri"/>
            </a:endParaRPr>
          </a:p>
          <a:p>
            <a:pPr marL="12700" marR="5080" algn="ctr">
              <a:lnSpc>
                <a:spcPts val="1160"/>
              </a:lnSpc>
              <a:spcBef>
                <a:spcPts val="125"/>
              </a:spcBef>
            </a:pPr>
            <a:r>
              <a:rPr sz="1200" dirty="0">
                <a:latin typeface="+mj-lt"/>
                <a:cs typeface="Calibri"/>
              </a:rPr>
              <a:t>Over</a:t>
            </a:r>
            <a:r>
              <a:rPr sz="1200" spc="-30" dirty="0">
                <a:latin typeface="+mj-lt"/>
                <a:cs typeface="Calibri"/>
              </a:rPr>
              <a:t> </a:t>
            </a:r>
            <a:r>
              <a:rPr sz="1200" spc="-20" dirty="0">
                <a:latin typeface="+mj-lt"/>
                <a:cs typeface="Calibri"/>
              </a:rPr>
              <a:t>DLMS </a:t>
            </a:r>
            <a:r>
              <a:rPr sz="1200" spc="-10" dirty="0">
                <a:latin typeface="+mj-lt"/>
                <a:cs typeface="Calibri"/>
              </a:rPr>
              <a:t>Protocol</a:t>
            </a:r>
            <a:endParaRPr sz="1200">
              <a:latin typeface="+mj-lt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573011" y="3378708"/>
            <a:ext cx="1071372" cy="1071372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8393430" y="2725927"/>
            <a:ext cx="360680" cy="3942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8415" marR="5080" indent="-6350">
              <a:lnSpc>
                <a:spcPts val="1340"/>
              </a:lnSpc>
              <a:spcBef>
                <a:spcPts val="430"/>
              </a:spcBef>
            </a:pPr>
            <a:r>
              <a:rPr sz="1400" b="1" spc="-25" dirty="0">
                <a:solidFill>
                  <a:srgbClr val="C00000"/>
                </a:solidFill>
                <a:latin typeface="+mj-lt"/>
                <a:cs typeface="Calibri"/>
              </a:rPr>
              <a:t>CMS DCU</a:t>
            </a:r>
            <a:endParaRPr sz="1400">
              <a:latin typeface="+mj-lt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60395" y="3631819"/>
            <a:ext cx="18034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+mj-lt"/>
                <a:cs typeface="Calibri"/>
              </a:rPr>
              <a:t>RF</a:t>
            </a:r>
            <a:endParaRPr sz="1200">
              <a:latin typeface="+mj-lt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89778" y="3651884"/>
            <a:ext cx="18034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+mj-lt"/>
                <a:cs typeface="Calibri"/>
              </a:rPr>
              <a:t>RF</a:t>
            </a:r>
            <a:endParaRPr sz="1200">
              <a:latin typeface="+mj-lt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76158" y="3566921"/>
            <a:ext cx="18034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+mj-lt"/>
                <a:cs typeface="Calibri"/>
              </a:rPr>
              <a:t>RF</a:t>
            </a:r>
            <a:endParaRPr sz="1200">
              <a:latin typeface="+mj-lt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78914" y="4397146"/>
            <a:ext cx="826135" cy="358688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5715">
              <a:lnSpc>
                <a:spcPts val="1150"/>
              </a:lnSpc>
              <a:spcBef>
                <a:spcPts val="380"/>
              </a:spcBef>
            </a:pPr>
            <a:r>
              <a:rPr sz="1200" b="1" dirty="0">
                <a:solidFill>
                  <a:srgbClr val="C00000"/>
                </a:solidFill>
                <a:latin typeface="+mj-lt"/>
                <a:cs typeface="Calibri"/>
              </a:rPr>
              <a:t>Single</a:t>
            </a:r>
            <a:r>
              <a:rPr sz="1200" b="1" spc="-3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200" b="1" spc="-10" dirty="0">
                <a:solidFill>
                  <a:srgbClr val="C00000"/>
                </a:solidFill>
                <a:latin typeface="+mj-lt"/>
                <a:cs typeface="Calibri"/>
              </a:rPr>
              <a:t>Phase </a:t>
            </a:r>
            <a:r>
              <a:rPr sz="1200" b="1" dirty="0">
                <a:solidFill>
                  <a:srgbClr val="C00000"/>
                </a:solidFill>
                <a:latin typeface="+mj-lt"/>
                <a:cs typeface="Calibri"/>
              </a:rPr>
              <a:t>Smart</a:t>
            </a:r>
            <a:r>
              <a:rPr sz="1200" b="1" spc="-3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200" b="1" spc="-10" dirty="0">
                <a:solidFill>
                  <a:srgbClr val="C00000"/>
                </a:solidFill>
                <a:latin typeface="+mj-lt"/>
                <a:cs typeface="Calibri"/>
              </a:rPr>
              <a:t>Meter</a:t>
            </a:r>
            <a:endParaRPr sz="1200">
              <a:latin typeface="+mj-lt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51297" y="4417872"/>
            <a:ext cx="826135" cy="358688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15240">
              <a:lnSpc>
                <a:spcPts val="1150"/>
              </a:lnSpc>
              <a:spcBef>
                <a:spcPts val="380"/>
              </a:spcBef>
            </a:pPr>
            <a:r>
              <a:rPr sz="1200" b="1" dirty="0">
                <a:solidFill>
                  <a:srgbClr val="C00000"/>
                </a:solidFill>
                <a:latin typeface="+mj-lt"/>
                <a:cs typeface="Calibri"/>
              </a:rPr>
              <a:t>Three</a:t>
            </a:r>
            <a:r>
              <a:rPr sz="1200" b="1" spc="-4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200" b="1" spc="-10" dirty="0">
                <a:solidFill>
                  <a:srgbClr val="C00000"/>
                </a:solidFill>
                <a:latin typeface="+mj-lt"/>
                <a:cs typeface="Calibri"/>
              </a:rPr>
              <a:t>Phase </a:t>
            </a:r>
            <a:r>
              <a:rPr sz="1200" b="1" dirty="0">
                <a:solidFill>
                  <a:srgbClr val="C00000"/>
                </a:solidFill>
                <a:latin typeface="+mj-lt"/>
                <a:cs typeface="Calibri"/>
              </a:rPr>
              <a:t>Smart</a:t>
            </a:r>
            <a:r>
              <a:rPr sz="1200" b="1" spc="-3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200" b="1" spc="-10" dirty="0">
                <a:solidFill>
                  <a:srgbClr val="C00000"/>
                </a:solidFill>
                <a:latin typeface="+mj-lt"/>
                <a:cs typeface="Calibri"/>
              </a:rPr>
              <a:t>Meter</a:t>
            </a:r>
            <a:endParaRPr sz="1200">
              <a:latin typeface="+mj-lt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034208" y="4408932"/>
            <a:ext cx="826135" cy="358688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5715">
              <a:lnSpc>
                <a:spcPts val="1150"/>
              </a:lnSpc>
              <a:spcBef>
                <a:spcPts val="380"/>
              </a:spcBef>
            </a:pPr>
            <a:r>
              <a:rPr sz="1200" b="1" dirty="0">
                <a:solidFill>
                  <a:srgbClr val="C00000"/>
                </a:solidFill>
                <a:latin typeface="+mj-lt"/>
                <a:cs typeface="Calibri"/>
              </a:rPr>
              <a:t>Single</a:t>
            </a:r>
            <a:r>
              <a:rPr sz="1200" b="1" spc="-3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200" b="1" spc="-10" dirty="0">
                <a:solidFill>
                  <a:srgbClr val="C00000"/>
                </a:solidFill>
                <a:latin typeface="+mj-lt"/>
                <a:cs typeface="Calibri"/>
              </a:rPr>
              <a:t>Phase </a:t>
            </a:r>
            <a:r>
              <a:rPr sz="1200" b="1" dirty="0">
                <a:solidFill>
                  <a:srgbClr val="C00000"/>
                </a:solidFill>
                <a:latin typeface="+mj-lt"/>
                <a:cs typeface="Calibri"/>
              </a:rPr>
              <a:t>Smart</a:t>
            </a:r>
            <a:r>
              <a:rPr sz="1200" b="1" spc="-3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200" b="1" spc="-10" dirty="0">
                <a:solidFill>
                  <a:srgbClr val="C00000"/>
                </a:solidFill>
                <a:latin typeface="+mj-lt"/>
                <a:cs typeface="Calibri"/>
              </a:rPr>
              <a:t>Meter</a:t>
            </a:r>
            <a:endParaRPr sz="1200">
              <a:latin typeface="+mj-lt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857500" y="2429255"/>
            <a:ext cx="5686425" cy="1252855"/>
            <a:chOff x="2857500" y="2429255"/>
            <a:chExt cx="5686425" cy="1252855"/>
          </a:xfrm>
        </p:grpSpPr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27247" y="3194304"/>
              <a:ext cx="428244" cy="21336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26251" y="3243072"/>
              <a:ext cx="428244" cy="21488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15300" y="3095243"/>
              <a:ext cx="428244" cy="21488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35194" y="2552153"/>
              <a:ext cx="549322" cy="38879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2464" y="2714243"/>
              <a:ext cx="614172" cy="29565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291712" y="2714243"/>
              <a:ext cx="2370455" cy="215265"/>
            </a:xfrm>
            <a:custGeom>
              <a:avLst/>
              <a:gdLst/>
              <a:ahLst/>
              <a:cxnLst/>
              <a:rect l="l" t="t" r="r" b="b"/>
              <a:pathLst>
                <a:path w="2370454" h="215264">
                  <a:moveTo>
                    <a:pt x="0" y="41148"/>
                  </a:moveTo>
                  <a:lnTo>
                    <a:pt x="26059" y="59065"/>
                  </a:lnTo>
                  <a:lnTo>
                    <a:pt x="38359" y="67310"/>
                  </a:lnTo>
                  <a:lnTo>
                    <a:pt x="44060" y="69629"/>
                  </a:lnTo>
                  <a:lnTo>
                    <a:pt x="50318" y="69772"/>
                  </a:lnTo>
                  <a:lnTo>
                    <a:pt x="64292" y="71485"/>
                  </a:lnTo>
                  <a:lnTo>
                    <a:pt x="93139" y="78517"/>
                  </a:lnTo>
                  <a:lnTo>
                    <a:pt x="144018" y="94615"/>
                  </a:lnTo>
                  <a:lnTo>
                    <a:pt x="153777" y="98145"/>
                  </a:lnTo>
                  <a:lnTo>
                    <a:pt x="163512" y="101806"/>
                  </a:lnTo>
                  <a:lnTo>
                    <a:pt x="173343" y="105205"/>
                  </a:lnTo>
                  <a:lnTo>
                    <a:pt x="183388" y="107950"/>
                  </a:lnTo>
                  <a:lnTo>
                    <a:pt x="234086" y="117584"/>
                  </a:lnTo>
                  <a:lnTo>
                    <a:pt x="279511" y="123301"/>
                  </a:lnTo>
                  <a:lnTo>
                    <a:pt x="325959" y="128041"/>
                  </a:lnTo>
                  <a:lnTo>
                    <a:pt x="379730" y="134747"/>
                  </a:lnTo>
                  <a:lnTo>
                    <a:pt x="396130" y="137669"/>
                  </a:lnTo>
                  <a:lnTo>
                    <a:pt x="412448" y="141271"/>
                  </a:lnTo>
                  <a:lnTo>
                    <a:pt x="428789" y="144944"/>
                  </a:lnTo>
                  <a:lnTo>
                    <a:pt x="445262" y="148082"/>
                  </a:lnTo>
                  <a:lnTo>
                    <a:pt x="491184" y="154231"/>
                  </a:lnTo>
                  <a:lnTo>
                    <a:pt x="537273" y="159369"/>
                  </a:lnTo>
                  <a:lnTo>
                    <a:pt x="583172" y="165530"/>
                  </a:lnTo>
                  <a:lnTo>
                    <a:pt x="628523" y="174752"/>
                  </a:lnTo>
                  <a:lnTo>
                    <a:pt x="641520" y="178444"/>
                  </a:lnTo>
                  <a:lnTo>
                    <a:pt x="654494" y="182387"/>
                  </a:lnTo>
                  <a:lnTo>
                    <a:pt x="667563" y="185878"/>
                  </a:lnTo>
                  <a:lnTo>
                    <a:pt x="710611" y="190662"/>
                  </a:lnTo>
                  <a:lnTo>
                    <a:pt x="760920" y="194131"/>
                  </a:lnTo>
                  <a:lnTo>
                    <a:pt x="824731" y="198237"/>
                  </a:lnTo>
                  <a:lnTo>
                    <a:pt x="895000" y="202596"/>
                  </a:lnTo>
                  <a:lnTo>
                    <a:pt x="964687" y="206824"/>
                  </a:lnTo>
                  <a:lnTo>
                    <a:pt x="1026747" y="210538"/>
                  </a:lnTo>
                  <a:lnTo>
                    <a:pt x="1074139" y="213352"/>
                  </a:lnTo>
                  <a:lnTo>
                    <a:pt x="1099820" y="214884"/>
                  </a:lnTo>
                  <a:lnTo>
                    <a:pt x="1147535" y="213532"/>
                  </a:lnTo>
                  <a:lnTo>
                    <a:pt x="1196324" y="212335"/>
                  </a:lnTo>
                  <a:lnTo>
                    <a:pt x="1245998" y="211199"/>
                  </a:lnTo>
                  <a:lnTo>
                    <a:pt x="1296373" y="210029"/>
                  </a:lnTo>
                  <a:lnTo>
                    <a:pt x="1347261" y="208733"/>
                  </a:lnTo>
                  <a:lnTo>
                    <a:pt x="1398476" y="207216"/>
                  </a:lnTo>
                  <a:lnTo>
                    <a:pt x="1449831" y="205384"/>
                  </a:lnTo>
                  <a:lnTo>
                    <a:pt x="1501140" y="203143"/>
                  </a:lnTo>
                  <a:lnTo>
                    <a:pt x="1552215" y="200400"/>
                  </a:lnTo>
                  <a:lnTo>
                    <a:pt x="1602872" y="197059"/>
                  </a:lnTo>
                  <a:lnTo>
                    <a:pt x="1652922" y="193029"/>
                  </a:lnTo>
                  <a:lnTo>
                    <a:pt x="1702181" y="188214"/>
                  </a:lnTo>
                  <a:lnTo>
                    <a:pt x="1744731" y="182705"/>
                  </a:lnTo>
                  <a:lnTo>
                    <a:pt x="1796639" y="170497"/>
                  </a:lnTo>
                  <a:lnTo>
                    <a:pt x="1833118" y="161417"/>
                  </a:lnTo>
                  <a:lnTo>
                    <a:pt x="1849463" y="158011"/>
                  </a:lnTo>
                  <a:lnTo>
                    <a:pt x="1865868" y="154940"/>
                  </a:lnTo>
                  <a:lnTo>
                    <a:pt x="1882249" y="151772"/>
                  </a:lnTo>
                  <a:lnTo>
                    <a:pt x="1898523" y="148082"/>
                  </a:lnTo>
                  <a:lnTo>
                    <a:pt x="1908478" y="145069"/>
                  </a:lnTo>
                  <a:lnTo>
                    <a:pt x="1918255" y="141509"/>
                  </a:lnTo>
                  <a:lnTo>
                    <a:pt x="1928008" y="137902"/>
                  </a:lnTo>
                  <a:lnTo>
                    <a:pt x="1937893" y="134747"/>
                  </a:lnTo>
                  <a:lnTo>
                    <a:pt x="1964086" y="128131"/>
                  </a:lnTo>
                  <a:lnTo>
                    <a:pt x="1990471" y="122110"/>
                  </a:lnTo>
                  <a:lnTo>
                    <a:pt x="2016760" y="115708"/>
                  </a:lnTo>
                  <a:lnTo>
                    <a:pt x="2042668" y="107950"/>
                  </a:lnTo>
                  <a:lnTo>
                    <a:pt x="2062146" y="100675"/>
                  </a:lnTo>
                  <a:lnTo>
                    <a:pt x="2081530" y="92995"/>
                  </a:lnTo>
                  <a:lnTo>
                    <a:pt x="2101103" y="86125"/>
                  </a:lnTo>
                  <a:lnTo>
                    <a:pt x="2121154" y="81280"/>
                  </a:lnTo>
                  <a:lnTo>
                    <a:pt x="2140848" y="78232"/>
                  </a:lnTo>
                  <a:lnTo>
                    <a:pt x="2160603" y="75374"/>
                  </a:lnTo>
                  <a:lnTo>
                    <a:pt x="2180286" y="72136"/>
                  </a:lnTo>
                  <a:lnTo>
                    <a:pt x="2220102" y="63061"/>
                  </a:lnTo>
                  <a:lnTo>
                    <a:pt x="2260060" y="50960"/>
                  </a:lnTo>
                  <a:lnTo>
                    <a:pt x="2300662" y="25413"/>
                  </a:lnTo>
                  <a:lnTo>
                    <a:pt x="2315702" y="15478"/>
                  </a:lnTo>
                  <a:lnTo>
                    <a:pt x="2331670" y="8376"/>
                  </a:lnTo>
                  <a:lnTo>
                    <a:pt x="2356866" y="1143"/>
                  </a:lnTo>
                  <a:lnTo>
                    <a:pt x="2361057" y="0"/>
                  </a:lnTo>
                  <a:lnTo>
                    <a:pt x="2365629" y="1143"/>
                  </a:lnTo>
                  <a:lnTo>
                    <a:pt x="2369947" y="1143"/>
                  </a:lnTo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5935472" y="2683763"/>
              <a:ext cx="2209165" cy="173990"/>
            </a:xfrm>
            <a:custGeom>
              <a:avLst/>
              <a:gdLst/>
              <a:ahLst/>
              <a:cxnLst/>
              <a:rect l="l" t="t" r="r" b="b"/>
              <a:pathLst>
                <a:path w="2209165" h="173989">
                  <a:moveTo>
                    <a:pt x="0" y="33274"/>
                  </a:moveTo>
                  <a:lnTo>
                    <a:pt x="26868" y="49348"/>
                  </a:lnTo>
                  <a:lnTo>
                    <a:pt x="37822" y="55447"/>
                  </a:lnTo>
                  <a:lnTo>
                    <a:pt x="43449" y="56388"/>
                  </a:lnTo>
                  <a:lnTo>
                    <a:pt x="54337" y="56990"/>
                  </a:lnTo>
                  <a:lnTo>
                    <a:pt x="81071" y="62072"/>
                  </a:lnTo>
                  <a:lnTo>
                    <a:pt x="134239" y="76454"/>
                  </a:lnTo>
                  <a:lnTo>
                    <a:pt x="143329" y="79355"/>
                  </a:lnTo>
                  <a:lnTo>
                    <a:pt x="152384" y="82327"/>
                  </a:lnTo>
                  <a:lnTo>
                    <a:pt x="161510" y="85062"/>
                  </a:lnTo>
                  <a:lnTo>
                    <a:pt x="170815" y="87249"/>
                  </a:lnTo>
                  <a:lnTo>
                    <a:pt x="218110" y="95053"/>
                  </a:lnTo>
                  <a:lnTo>
                    <a:pt x="260476" y="99679"/>
                  </a:lnTo>
                  <a:lnTo>
                    <a:pt x="303795" y="103518"/>
                  </a:lnTo>
                  <a:lnTo>
                    <a:pt x="353949" y="108966"/>
                  </a:lnTo>
                  <a:lnTo>
                    <a:pt x="369224" y="111313"/>
                  </a:lnTo>
                  <a:lnTo>
                    <a:pt x="384429" y="114220"/>
                  </a:lnTo>
                  <a:lnTo>
                    <a:pt x="399633" y="117199"/>
                  </a:lnTo>
                  <a:lnTo>
                    <a:pt x="414909" y="119761"/>
                  </a:lnTo>
                  <a:lnTo>
                    <a:pt x="457708" y="124723"/>
                  </a:lnTo>
                  <a:lnTo>
                    <a:pt x="500697" y="128889"/>
                  </a:lnTo>
                  <a:lnTo>
                    <a:pt x="543496" y="133887"/>
                  </a:lnTo>
                  <a:lnTo>
                    <a:pt x="585724" y="141351"/>
                  </a:lnTo>
                  <a:lnTo>
                    <a:pt x="597864" y="144323"/>
                  </a:lnTo>
                  <a:lnTo>
                    <a:pt x="609980" y="147510"/>
                  </a:lnTo>
                  <a:lnTo>
                    <a:pt x="622192" y="150316"/>
                  </a:lnTo>
                  <a:lnTo>
                    <a:pt x="662337" y="154136"/>
                  </a:lnTo>
                  <a:lnTo>
                    <a:pt x="709209" y="156948"/>
                  </a:lnTo>
                  <a:lnTo>
                    <a:pt x="768669" y="160272"/>
                  </a:lnTo>
                  <a:lnTo>
                    <a:pt x="834151" y="163798"/>
                  </a:lnTo>
                  <a:lnTo>
                    <a:pt x="899092" y="167217"/>
                  </a:lnTo>
                  <a:lnTo>
                    <a:pt x="956927" y="170219"/>
                  </a:lnTo>
                  <a:lnTo>
                    <a:pt x="1001090" y="172495"/>
                  </a:lnTo>
                  <a:lnTo>
                    <a:pt x="1025016" y="173736"/>
                  </a:lnTo>
                  <a:lnTo>
                    <a:pt x="1073609" y="172554"/>
                  </a:lnTo>
                  <a:lnTo>
                    <a:pt x="1123362" y="171509"/>
                  </a:lnTo>
                  <a:lnTo>
                    <a:pt x="1174051" y="170501"/>
                  </a:lnTo>
                  <a:lnTo>
                    <a:pt x="1225453" y="169435"/>
                  </a:lnTo>
                  <a:lnTo>
                    <a:pt x="1277343" y="168213"/>
                  </a:lnTo>
                  <a:lnTo>
                    <a:pt x="1329496" y="166737"/>
                  </a:lnTo>
                  <a:lnTo>
                    <a:pt x="1381688" y="164910"/>
                  </a:lnTo>
                  <a:lnTo>
                    <a:pt x="1433694" y="162634"/>
                  </a:lnTo>
                  <a:lnTo>
                    <a:pt x="1485291" y="159813"/>
                  </a:lnTo>
                  <a:lnTo>
                    <a:pt x="1536253" y="156350"/>
                  </a:lnTo>
                  <a:lnTo>
                    <a:pt x="1586357" y="152146"/>
                  </a:lnTo>
                  <a:lnTo>
                    <a:pt x="1626018" y="147701"/>
                  </a:lnTo>
                  <a:lnTo>
                    <a:pt x="1674385" y="137858"/>
                  </a:lnTo>
                  <a:lnTo>
                    <a:pt x="1708404" y="130556"/>
                  </a:lnTo>
                  <a:lnTo>
                    <a:pt x="1723681" y="127779"/>
                  </a:lnTo>
                  <a:lnTo>
                    <a:pt x="1738995" y="125301"/>
                  </a:lnTo>
                  <a:lnTo>
                    <a:pt x="1754284" y="122751"/>
                  </a:lnTo>
                  <a:lnTo>
                    <a:pt x="1769491" y="119761"/>
                  </a:lnTo>
                  <a:lnTo>
                    <a:pt x="1778706" y="117306"/>
                  </a:lnTo>
                  <a:lnTo>
                    <a:pt x="1787778" y="114411"/>
                  </a:lnTo>
                  <a:lnTo>
                    <a:pt x="1796851" y="111492"/>
                  </a:lnTo>
                  <a:lnTo>
                    <a:pt x="1806067" y="108966"/>
                  </a:lnTo>
                  <a:lnTo>
                    <a:pt x="1830506" y="103572"/>
                  </a:lnTo>
                  <a:lnTo>
                    <a:pt x="1855089" y="98679"/>
                  </a:lnTo>
                  <a:lnTo>
                    <a:pt x="1879576" y="93499"/>
                  </a:lnTo>
                  <a:lnTo>
                    <a:pt x="1903730" y="87249"/>
                  </a:lnTo>
                  <a:lnTo>
                    <a:pt x="1921875" y="81410"/>
                  </a:lnTo>
                  <a:lnTo>
                    <a:pt x="1939924" y="75215"/>
                  </a:lnTo>
                  <a:lnTo>
                    <a:pt x="1958165" y="69639"/>
                  </a:lnTo>
                  <a:lnTo>
                    <a:pt x="1976882" y="65659"/>
                  </a:lnTo>
                  <a:lnTo>
                    <a:pt x="1995243" y="63222"/>
                  </a:lnTo>
                  <a:lnTo>
                    <a:pt x="2013664" y="60928"/>
                  </a:lnTo>
                  <a:lnTo>
                    <a:pt x="2032013" y="58300"/>
                  </a:lnTo>
                  <a:lnTo>
                    <a:pt x="2088070" y="46783"/>
                  </a:lnTo>
                  <a:lnTo>
                    <a:pt x="2144192" y="20570"/>
                  </a:lnTo>
                  <a:lnTo>
                    <a:pt x="2158238" y="12509"/>
                  </a:lnTo>
                  <a:lnTo>
                    <a:pt x="2173140" y="6734"/>
                  </a:lnTo>
                  <a:lnTo>
                    <a:pt x="2196592" y="889"/>
                  </a:lnTo>
                  <a:lnTo>
                    <a:pt x="2200529" y="0"/>
                  </a:lnTo>
                  <a:lnTo>
                    <a:pt x="2204720" y="889"/>
                  </a:lnTo>
                  <a:lnTo>
                    <a:pt x="2208784" y="889"/>
                  </a:lnTo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57744" y="2500883"/>
              <a:ext cx="606551" cy="118109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36692" y="2462783"/>
              <a:ext cx="606551" cy="118109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57500" y="2429255"/>
              <a:ext cx="606551" cy="1181100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6041897" y="2814955"/>
            <a:ext cx="360680" cy="3942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8415" marR="5080" indent="-6350">
              <a:lnSpc>
                <a:spcPts val="1340"/>
              </a:lnSpc>
              <a:spcBef>
                <a:spcPts val="430"/>
              </a:spcBef>
            </a:pPr>
            <a:r>
              <a:rPr sz="1400" b="1" spc="-25" dirty="0">
                <a:solidFill>
                  <a:srgbClr val="C00000"/>
                </a:solidFill>
                <a:latin typeface="+mj-lt"/>
                <a:cs typeface="Calibri"/>
              </a:rPr>
              <a:t>CMS DCU</a:t>
            </a:r>
            <a:endParaRPr sz="1400">
              <a:latin typeface="+mj-lt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350133" y="2823718"/>
            <a:ext cx="360680" cy="3942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8415" marR="5080" indent="-6350">
              <a:lnSpc>
                <a:spcPts val="1340"/>
              </a:lnSpc>
              <a:spcBef>
                <a:spcPts val="430"/>
              </a:spcBef>
            </a:pPr>
            <a:r>
              <a:rPr sz="1400" b="1" spc="-25" dirty="0">
                <a:solidFill>
                  <a:srgbClr val="C00000"/>
                </a:solidFill>
                <a:latin typeface="+mj-lt"/>
                <a:cs typeface="Calibri"/>
              </a:rPr>
              <a:t>CMS DCU</a:t>
            </a:r>
            <a:endParaRPr sz="1400">
              <a:latin typeface="+mj-lt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826189" y="2963988"/>
            <a:ext cx="716915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1295"/>
              </a:lnSpc>
              <a:spcBef>
                <a:spcPts val="100"/>
              </a:spcBef>
            </a:pPr>
            <a:r>
              <a:rPr sz="1200" b="1" spc="-20" dirty="0">
                <a:latin typeface="+mj-lt"/>
                <a:cs typeface="Calibri"/>
              </a:rPr>
              <a:t>GPRS</a:t>
            </a:r>
            <a:endParaRPr sz="1200" dirty="0">
              <a:latin typeface="+mj-lt"/>
              <a:cs typeface="Calibri"/>
            </a:endParaRPr>
          </a:p>
          <a:p>
            <a:pPr marL="12700" marR="5080" algn="ctr">
              <a:lnSpc>
                <a:spcPts val="1150"/>
              </a:lnSpc>
              <a:spcBef>
                <a:spcPts val="135"/>
              </a:spcBef>
            </a:pPr>
            <a:r>
              <a:rPr sz="1200" dirty="0">
                <a:latin typeface="+mj-lt"/>
                <a:cs typeface="Calibri"/>
              </a:rPr>
              <a:t>Over</a:t>
            </a:r>
            <a:r>
              <a:rPr sz="1200" spc="-30" dirty="0">
                <a:latin typeface="+mj-lt"/>
                <a:cs typeface="Calibri"/>
              </a:rPr>
              <a:t> </a:t>
            </a:r>
            <a:r>
              <a:rPr sz="1200" spc="-20" dirty="0">
                <a:latin typeface="+mj-lt"/>
                <a:cs typeface="Calibri"/>
              </a:rPr>
              <a:t>DLMS </a:t>
            </a:r>
            <a:r>
              <a:rPr sz="1200" spc="-10" dirty="0">
                <a:latin typeface="+mj-lt"/>
                <a:cs typeface="Calibri"/>
              </a:rPr>
              <a:t>Protocol</a:t>
            </a:r>
            <a:endParaRPr sz="1200" dirty="0">
              <a:latin typeface="+mj-lt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927595" y="2679573"/>
            <a:ext cx="716915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295"/>
              </a:lnSpc>
              <a:spcBef>
                <a:spcPts val="100"/>
              </a:spcBef>
            </a:pPr>
            <a:r>
              <a:rPr sz="1200" b="1" spc="-20" dirty="0">
                <a:latin typeface="+mj-lt"/>
                <a:cs typeface="Calibri"/>
              </a:rPr>
              <a:t>GPRS</a:t>
            </a:r>
            <a:endParaRPr sz="1200">
              <a:latin typeface="+mj-lt"/>
              <a:cs typeface="Calibri"/>
            </a:endParaRPr>
          </a:p>
          <a:p>
            <a:pPr marL="12065" marR="5080" algn="ctr">
              <a:lnSpc>
                <a:spcPts val="1150"/>
              </a:lnSpc>
              <a:spcBef>
                <a:spcPts val="135"/>
              </a:spcBef>
            </a:pPr>
            <a:r>
              <a:rPr sz="1200" dirty="0">
                <a:latin typeface="+mj-lt"/>
                <a:cs typeface="Calibri"/>
              </a:rPr>
              <a:t>Over</a:t>
            </a:r>
            <a:r>
              <a:rPr sz="1200" spc="-30" dirty="0">
                <a:latin typeface="+mj-lt"/>
                <a:cs typeface="Calibri"/>
              </a:rPr>
              <a:t> </a:t>
            </a:r>
            <a:r>
              <a:rPr sz="1200" spc="-20" dirty="0">
                <a:latin typeface="+mj-lt"/>
                <a:cs typeface="Calibri"/>
              </a:rPr>
              <a:t>DLMS </a:t>
            </a:r>
            <a:r>
              <a:rPr sz="1200" spc="-10" dirty="0">
                <a:latin typeface="+mj-lt"/>
                <a:cs typeface="Calibri"/>
              </a:rPr>
              <a:t>Protocol</a:t>
            </a:r>
            <a:endParaRPr sz="1200">
              <a:latin typeface="+mj-lt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05993" y="546863"/>
            <a:ext cx="24790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C00000"/>
                </a:solidFill>
                <a:latin typeface="+mj-lt"/>
                <a:cs typeface="Calibri"/>
              </a:rPr>
              <a:t>Integrated</a:t>
            </a:r>
            <a:r>
              <a:rPr sz="1600" b="1" spc="-55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b="1" dirty="0">
                <a:solidFill>
                  <a:srgbClr val="C00000"/>
                </a:solidFill>
                <a:latin typeface="+mj-lt"/>
                <a:cs typeface="Calibri"/>
              </a:rPr>
              <a:t>Command</a:t>
            </a:r>
            <a:r>
              <a:rPr sz="1600" b="1" spc="-50" dirty="0">
                <a:solidFill>
                  <a:srgbClr val="C00000"/>
                </a:solidFill>
                <a:latin typeface="+mj-lt"/>
                <a:cs typeface="Calibri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+mj-lt"/>
                <a:cs typeface="Calibri"/>
              </a:rPr>
              <a:t>Control</a:t>
            </a:r>
            <a:endParaRPr sz="1600" dirty="0">
              <a:latin typeface="+mj-lt"/>
              <a:cs typeface="Calibri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7830" y="2135353"/>
            <a:ext cx="1075944" cy="7299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9293" y="1370843"/>
            <a:ext cx="884890" cy="15262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5130" y="1195227"/>
            <a:ext cx="884889" cy="86243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40019" y="1053946"/>
            <a:ext cx="1025651" cy="100279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58703" y="1433545"/>
            <a:ext cx="1230948" cy="100279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0" y="117052"/>
            <a:ext cx="7440019" cy="3827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5"/>
              </a:spcBef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  </a:t>
            </a:r>
            <a:r>
              <a:rPr sz="2400" dirty="0">
                <a:solidFill>
                  <a:schemeClr val="bg1"/>
                </a:solidFill>
                <a:latin typeface="+mj-lt"/>
              </a:rPr>
              <a:t>CMS</a:t>
            </a:r>
            <a:r>
              <a:rPr sz="2400" spc="-9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Hardware</a:t>
            </a:r>
            <a:r>
              <a:rPr sz="2400" spc="-10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&amp;</a:t>
            </a:r>
            <a:r>
              <a:rPr sz="2400" spc="-9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Software</a:t>
            </a:r>
            <a:r>
              <a:rPr sz="2400" spc="-9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IP/Assets</a:t>
            </a:r>
            <a:endParaRPr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4029" y="807719"/>
            <a:ext cx="1903477" cy="29426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b="1" spc="-10" dirty="0">
                <a:solidFill>
                  <a:schemeClr val="bg1"/>
                </a:solidFill>
                <a:latin typeface="+mj-lt"/>
                <a:cs typeface="Cambria"/>
              </a:rPr>
              <a:t>   </a:t>
            </a:r>
            <a:r>
              <a:rPr b="1" spc="-10" dirty="0">
                <a:solidFill>
                  <a:schemeClr val="bg1"/>
                </a:solidFill>
                <a:latin typeface="+mj-lt"/>
                <a:cs typeface="Cambria"/>
              </a:rPr>
              <a:t>Software</a:t>
            </a:r>
            <a:r>
              <a:rPr b="1" spc="-4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b="1" spc="-10" dirty="0">
                <a:solidFill>
                  <a:schemeClr val="bg1"/>
                </a:solidFill>
                <a:latin typeface="+mj-lt"/>
                <a:cs typeface="Cambria"/>
              </a:rPr>
              <a:t>Assets</a:t>
            </a:r>
            <a:endParaRPr dirty="0">
              <a:solidFill>
                <a:schemeClr val="bg1"/>
              </a:solidFill>
              <a:latin typeface="+mj-lt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3171" y="1124464"/>
            <a:ext cx="3328670" cy="337057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27329" indent="-214629">
              <a:lnSpc>
                <a:spcPct val="100000"/>
              </a:lnSpc>
              <a:spcBef>
                <a:spcPts val="505"/>
              </a:spcBef>
              <a:buFont typeface="Arial"/>
              <a:buChar char="–"/>
              <a:tabLst>
                <a:tab pos="227329" algn="l"/>
              </a:tabLst>
            </a:pPr>
            <a:r>
              <a:rPr sz="1350" spc="-35" dirty="0">
                <a:latin typeface="+mj-lt"/>
                <a:cs typeface="Cambria"/>
              </a:rPr>
              <a:t>KAWACH</a:t>
            </a:r>
            <a:r>
              <a:rPr sz="1350" spc="-4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Disaster</a:t>
            </a:r>
            <a:r>
              <a:rPr sz="1350" spc="-7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Management</a:t>
            </a:r>
            <a:r>
              <a:rPr sz="1350" spc="-45" dirty="0">
                <a:latin typeface="+mj-lt"/>
                <a:cs typeface="Cambria"/>
              </a:rPr>
              <a:t> </a:t>
            </a:r>
            <a:r>
              <a:rPr sz="1350" spc="-10" dirty="0">
                <a:latin typeface="+mj-lt"/>
                <a:cs typeface="Cambria"/>
              </a:rPr>
              <a:t>System</a:t>
            </a:r>
            <a:endParaRPr sz="1350" dirty="0">
              <a:latin typeface="+mj-lt"/>
              <a:cs typeface="Cambria"/>
            </a:endParaRPr>
          </a:p>
          <a:p>
            <a:pPr marL="227329" indent="-214629">
              <a:lnSpc>
                <a:spcPct val="100000"/>
              </a:lnSpc>
              <a:spcBef>
                <a:spcPts val="409"/>
              </a:spcBef>
              <a:buFont typeface="Arial"/>
              <a:buChar char="–"/>
              <a:tabLst>
                <a:tab pos="227329" algn="l"/>
              </a:tabLst>
            </a:pPr>
            <a:r>
              <a:rPr sz="1350" spc="-40" dirty="0">
                <a:latin typeface="+mj-lt"/>
                <a:cs typeface="Cambria"/>
              </a:rPr>
              <a:t>SARVA</a:t>
            </a:r>
            <a:r>
              <a:rPr sz="1350" spc="-35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ERP</a:t>
            </a:r>
            <a:r>
              <a:rPr sz="1350" spc="-35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System</a:t>
            </a:r>
            <a:r>
              <a:rPr sz="1350" spc="-3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–</a:t>
            </a:r>
            <a:r>
              <a:rPr sz="1350" spc="-2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Back</a:t>
            </a:r>
            <a:r>
              <a:rPr sz="1350" spc="-20" dirty="0">
                <a:latin typeface="+mj-lt"/>
                <a:cs typeface="Cambria"/>
              </a:rPr>
              <a:t> </a:t>
            </a:r>
            <a:r>
              <a:rPr sz="1350" spc="-10" dirty="0">
                <a:latin typeface="+mj-lt"/>
                <a:cs typeface="Cambria"/>
              </a:rPr>
              <a:t>Office</a:t>
            </a:r>
            <a:endParaRPr sz="1350" dirty="0">
              <a:latin typeface="+mj-lt"/>
              <a:cs typeface="Cambria"/>
            </a:endParaRPr>
          </a:p>
          <a:p>
            <a:pPr marL="227329" indent="-214629">
              <a:lnSpc>
                <a:spcPct val="100000"/>
              </a:lnSpc>
              <a:spcBef>
                <a:spcPts val="405"/>
              </a:spcBef>
              <a:buFont typeface="Arial"/>
              <a:buChar char="–"/>
              <a:tabLst>
                <a:tab pos="227329" algn="l"/>
              </a:tabLst>
            </a:pPr>
            <a:r>
              <a:rPr sz="1350" dirty="0">
                <a:latin typeface="+mj-lt"/>
                <a:cs typeface="Cambria"/>
              </a:rPr>
              <a:t>Digital</a:t>
            </a:r>
            <a:r>
              <a:rPr sz="1350" spc="-2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Lounge</a:t>
            </a:r>
            <a:r>
              <a:rPr sz="1350" spc="-35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–</a:t>
            </a:r>
            <a:r>
              <a:rPr sz="1350" spc="-10" dirty="0">
                <a:latin typeface="+mj-lt"/>
                <a:cs typeface="Cambria"/>
              </a:rPr>
              <a:t> Front</a:t>
            </a:r>
            <a:r>
              <a:rPr sz="1350" spc="-25" dirty="0">
                <a:latin typeface="+mj-lt"/>
                <a:cs typeface="Cambria"/>
              </a:rPr>
              <a:t> </a:t>
            </a:r>
            <a:r>
              <a:rPr sz="1350" spc="-10" dirty="0">
                <a:latin typeface="+mj-lt"/>
                <a:cs typeface="Cambria"/>
              </a:rPr>
              <a:t>Office</a:t>
            </a:r>
            <a:endParaRPr sz="1350" dirty="0">
              <a:latin typeface="+mj-lt"/>
              <a:cs typeface="Cambria"/>
            </a:endParaRPr>
          </a:p>
          <a:p>
            <a:pPr marL="227329" indent="-214629">
              <a:lnSpc>
                <a:spcPct val="100000"/>
              </a:lnSpc>
              <a:spcBef>
                <a:spcPts val="409"/>
              </a:spcBef>
              <a:buFont typeface="Arial"/>
              <a:buChar char="–"/>
              <a:tabLst>
                <a:tab pos="227329" algn="l"/>
              </a:tabLst>
            </a:pPr>
            <a:r>
              <a:rPr sz="1350" dirty="0">
                <a:latin typeface="+mj-lt"/>
                <a:cs typeface="Cambria"/>
              </a:rPr>
              <a:t>Case</a:t>
            </a:r>
            <a:r>
              <a:rPr sz="1350" spc="-40" dirty="0">
                <a:latin typeface="+mj-lt"/>
                <a:cs typeface="Cambria"/>
              </a:rPr>
              <a:t> </a:t>
            </a:r>
            <a:r>
              <a:rPr sz="1350" spc="-10" dirty="0">
                <a:latin typeface="+mj-lt"/>
                <a:cs typeface="Cambria"/>
              </a:rPr>
              <a:t>Watch</a:t>
            </a:r>
            <a:r>
              <a:rPr sz="1350" spc="-15" dirty="0">
                <a:latin typeface="+mj-lt"/>
                <a:cs typeface="Cambria"/>
              </a:rPr>
              <a:t> </a:t>
            </a:r>
            <a:r>
              <a:rPr sz="1350" spc="-10" dirty="0">
                <a:latin typeface="+mj-lt"/>
                <a:cs typeface="Cambria"/>
              </a:rPr>
              <a:t>System</a:t>
            </a:r>
            <a:r>
              <a:rPr sz="1350" spc="-35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for</a:t>
            </a:r>
            <a:r>
              <a:rPr sz="1350" spc="-3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Judiciary</a:t>
            </a:r>
            <a:r>
              <a:rPr sz="1350" spc="-35" dirty="0">
                <a:latin typeface="+mj-lt"/>
                <a:cs typeface="Cambria"/>
              </a:rPr>
              <a:t> </a:t>
            </a:r>
            <a:r>
              <a:rPr sz="1350" spc="-10" dirty="0">
                <a:latin typeface="+mj-lt"/>
                <a:cs typeface="Cambria"/>
              </a:rPr>
              <a:t>Tribunals</a:t>
            </a:r>
            <a:endParaRPr sz="1350" dirty="0">
              <a:latin typeface="+mj-lt"/>
              <a:cs typeface="Cambria"/>
            </a:endParaRPr>
          </a:p>
          <a:p>
            <a:pPr marL="227329" indent="-214629">
              <a:lnSpc>
                <a:spcPct val="100000"/>
              </a:lnSpc>
              <a:spcBef>
                <a:spcPts val="400"/>
              </a:spcBef>
              <a:buFont typeface="Arial"/>
              <a:buChar char="–"/>
              <a:tabLst>
                <a:tab pos="227329" algn="l"/>
              </a:tabLst>
            </a:pPr>
            <a:r>
              <a:rPr sz="1350" dirty="0">
                <a:latin typeface="+mj-lt"/>
                <a:cs typeface="Cambria"/>
              </a:rPr>
              <a:t>eDistrict</a:t>
            </a:r>
            <a:r>
              <a:rPr sz="1350" spc="-3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Citizen</a:t>
            </a:r>
            <a:r>
              <a:rPr sz="1350" spc="-3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Services</a:t>
            </a:r>
            <a:r>
              <a:rPr sz="1350" spc="-35" dirty="0">
                <a:latin typeface="+mj-lt"/>
                <a:cs typeface="Cambria"/>
              </a:rPr>
              <a:t> </a:t>
            </a:r>
            <a:r>
              <a:rPr sz="1350" spc="-10" dirty="0">
                <a:latin typeface="+mj-lt"/>
                <a:cs typeface="Cambria"/>
              </a:rPr>
              <a:t>platform</a:t>
            </a:r>
            <a:endParaRPr sz="1350" dirty="0">
              <a:latin typeface="+mj-lt"/>
              <a:cs typeface="Cambria"/>
            </a:endParaRPr>
          </a:p>
          <a:p>
            <a:pPr marL="227329" indent="-214629">
              <a:lnSpc>
                <a:spcPct val="100000"/>
              </a:lnSpc>
              <a:spcBef>
                <a:spcPts val="405"/>
              </a:spcBef>
              <a:buFont typeface="Arial"/>
              <a:buChar char="–"/>
              <a:tabLst>
                <a:tab pos="227329" algn="l"/>
              </a:tabLst>
            </a:pPr>
            <a:r>
              <a:rPr sz="1350" dirty="0">
                <a:latin typeface="+mj-lt"/>
                <a:cs typeface="Cambria"/>
              </a:rPr>
              <a:t>Reach</a:t>
            </a:r>
            <a:r>
              <a:rPr sz="1350" spc="-2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my</a:t>
            </a:r>
            <a:r>
              <a:rPr sz="1350" spc="-4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India</a:t>
            </a:r>
            <a:r>
              <a:rPr sz="1350" spc="-35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(RMI)</a:t>
            </a:r>
            <a:r>
              <a:rPr sz="1350" spc="-3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B2B</a:t>
            </a:r>
            <a:r>
              <a:rPr sz="1350" spc="-35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Service</a:t>
            </a:r>
            <a:r>
              <a:rPr sz="1350" spc="-20" dirty="0">
                <a:latin typeface="+mj-lt"/>
                <a:cs typeface="Cambria"/>
              </a:rPr>
              <a:t> </a:t>
            </a:r>
            <a:r>
              <a:rPr sz="1350" spc="-10" dirty="0">
                <a:latin typeface="+mj-lt"/>
                <a:cs typeface="Cambria"/>
              </a:rPr>
              <a:t>Portal</a:t>
            </a:r>
            <a:endParaRPr sz="1350" dirty="0">
              <a:latin typeface="+mj-lt"/>
              <a:cs typeface="Cambria"/>
            </a:endParaRPr>
          </a:p>
          <a:p>
            <a:pPr marL="227329" indent="-214629">
              <a:lnSpc>
                <a:spcPct val="100000"/>
              </a:lnSpc>
              <a:spcBef>
                <a:spcPts val="409"/>
              </a:spcBef>
              <a:buFont typeface="Arial"/>
              <a:buChar char="–"/>
              <a:tabLst>
                <a:tab pos="227329" algn="l"/>
              </a:tabLst>
            </a:pPr>
            <a:r>
              <a:rPr sz="1350" dirty="0">
                <a:latin typeface="+mj-lt"/>
                <a:cs typeface="Cambria"/>
              </a:rPr>
              <a:t>GridLogik</a:t>
            </a:r>
            <a:r>
              <a:rPr sz="1350" spc="-35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Energy</a:t>
            </a:r>
            <a:r>
              <a:rPr sz="1350" spc="-30" dirty="0">
                <a:latin typeface="+mj-lt"/>
                <a:cs typeface="Cambria"/>
              </a:rPr>
              <a:t> </a:t>
            </a:r>
            <a:r>
              <a:rPr sz="1350" spc="-10" dirty="0">
                <a:latin typeface="+mj-lt"/>
                <a:cs typeface="Cambria"/>
              </a:rPr>
              <a:t>Platform</a:t>
            </a:r>
            <a:endParaRPr sz="1350" dirty="0">
              <a:latin typeface="+mj-lt"/>
              <a:cs typeface="Cambria"/>
            </a:endParaRPr>
          </a:p>
          <a:p>
            <a:pPr marL="227329" indent="-214629">
              <a:lnSpc>
                <a:spcPct val="100000"/>
              </a:lnSpc>
              <a:spcBef>
                <a:spcPts val="405"/>
              </a:spcBef>
              <a:buFont typeface="Arial"/>
              <a:buChar char="–"/>
              <a:tabLst>
                <a:tab pos="227329" algn="l"/>
              </a:tabLst>
            </a:pPr>
            <a:r>
              <a:rPr sz="1350" dirty="0">
                <a:latin typeface="+mj-lt"/>
                <a:cs typeface="Cambria"/>
              </a:rPr>
              <a:t>DciFER</a:t>
            </a:r>
            <a:r>
              <a:rPr sz="1350" spc="-3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Energy</a:t>
            </a:r>
            <a:r>
              <a:rPr sz="1350" spc="-35" dirty="0">
                <a:latin typeface="+mj-lt"/>
                <a:cs typeface="Cambria"/>
              </a:rPr>
              <a:t> </a:t>
            </a:r>
            <a:r>
              <a:rPr sz="1350" spc="-10" dirty="0">
                <a:latin typeface="+mj-lt"/>
                <a:cs typeface="Cambria"/>
              </a:rPr>
              <a:t>Forecasting</a:t>
            </a:r>
            <a:endParaRPr sz="1350" dirty="0">
              <a:latin typeface="+mj-lt"/>
              <a:cs typeface="Cambria"/>
            </a:endParaRPr>
          </a:p>
          <a:p>
            <a:pPr marL="227329" indent="-214629">
              <a:lnSpc>
                <a:spcPct val="100000"/>
              </a:lnSpc>
              <a:spcBef>
                <a:spcPts val="400"/>
              </a:spcBef>
              <a:buFont typeface="Arial"/>
              <a:buChar char="–"/>
              <a:tabLst>
                <a:tab pos="227329" algn="l"/>
              </a:tabLst>
            </a:pPr>
            <a:r>
              <a:rPr sz="1350" dirty="0">
                <a:latin typeface="+mj-lt"/>
                <a:cs typeface="Cambria"/>
              </a:rPr>
              <a:t>CityView</a:t>
            </a:r>
            <a:r>
              <a:rPr sz="1350" spc="-35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Command</a:t>
            </a:r>
            <a:r>
              <a:rPr sz="1350" spc="-5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Control</a:t>
            </a:r>
            <a:r>
              <a:rPr sz="1350" spc="-5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Center</a:t>
            </a:r>
            <a:r>
              <a:rPr sz="1350" spc="-25" dirty="0">
                <a:latin typeface="+mj-lt"/>
                <a:cs typeface="Cambria"/>
              </a:rPr>
              <a:t> </a:t>
            </a:r>
            <a:r>
              <a:rPr sz="1350" spc="-10" dirty="0">
                <a:latin typeface="+mj-lt"/>
                <a:cs typeface="Cambria"/>
              </a:rPr>
              <a:t>(ICCC)</a:t>
            </a:r>
            <a:endParaRPr sz="1350" dirty="0">
              <a:latin typeface="+mj-lt"/>
              <a:cs typeface="Cambria"/>
            </a:endParaRPr>
          </a:p>
          <a:p>
            <a:pPr marL="227329" indent="-214629">
              <a:lnSpc>
                <a:spcPct val="100000"/>
              </a:lnSpc>
              <a:spcBef>
                <a:spcPts val="409"/>
              </a:spcBef>
              <a:buFont typeface="Arial"/>
              <a:buChar char="–"/>
              <a:tabLst>
                <a:tab pos="227329" algn="l"/>
              </a:tabLst>
            </a:pPr>
            <a:r>
              <a:rPr sz="1350" spc="-10" dirty="0">
                <a:latin typeface="+mj-lt"/>
                <a:cs typeface="Cambria"/>
              </a:rPr>
              <a:t>Traffview</a:t>
            </a:r>
            <a:r>
              <a:rPr sz="1350" spc="-4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Area</a:t>
            </a:r>
            <a:r>
              <a:rPr sz="1350" spc="-40" dirty="0">
                <a:latin typeface="+mj-lt"/>
                <a:cs typeface="Cambria"/>
              </a:rPr>
              <a:t> </a:t>
            </a:r>
            <a:r>
              <a:rPr sz="1350" spc="-10" dirty="0">
                <a:latin typeface="+mj-lt"/>
                <a:cs typeface="Cambria"/>
              </a:rPr>
              <a:t>Traffic</a:t>
            </a:r>
            <a:r>
              <a:rPr sz="1350" spc="-3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Control</a:t>
            </a:r>
            <a:r>
              <a:rPr sz="1350" spc="-60" dirty="0">
                <a:latin typeface="+mj-lt"/>
                <a:cs typeface="Cambria"/>
              </a:rPr>
              <a:t> </a:t>
            </a:r>
            <a:r>
              <a:rPr sz="1350" spc="-10" dirty="0">
                <a:latin typeface="+mj-lt"/>
                <a:cs typeface="Cambria"/>
              </a:rPr>
              <a:t>Platform</a:t>
            </a:r>
            <a:endParaRPr sz="1350" dirty="0">
              <a:latin typeface="+mj-lt"/>
              <a:cs typeface="Cambria"/>
            </a:endParaRPr>
          </a:p>
          <a:p>
            <a:pPr marL="227329" indent="-214629">
              <a:lnSpc>
                <a:spcPct val="100000"/>
              </a:lnSpc>
              <a:spcBef>
                <a:spcPts val="405"/>
              </a:spcBef>
              <a:buFont typeface="Arial"/>
              <a:buChar char="–"/>
              <a:tabLst>
                <a:tab pos="227329" algn="l"/>
              </a:tabLst>
            </a:pPr>
            <a:r>
              <a:rPr sz="1350" spc="-10" dirty="0">
                <a:latin typeface="+mj-lt"/>
                <a:cs typeface="Cambria"/>
              </a:rPr>
              <a:t>TraffVision</a:t>
            </a:r>
            <a:r>
              <a:rPr sz="1350" spc="-4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AI/ML</a:t>
            </a:r>
            <a:r>
              <a:rPr sz="1350" spc="-40" dirty="0">
                <a:latin typeface="+mj-lt"/>
                <a:cs typeface="Cambria"/>
              </a:rPr>
              <a:t> </a:t>
            </a:r>
            <a:r>
              <a:rPr sz="1350" spc="-10" dirty="0">
                <a:latin typeface="+mj-lt"/>
                <a:cs typeface="Cambria"/>
              </a:rPr>
              <a:t>Vehicular Classification</a:t>
            </a:r>
            <a:endParaRPr sz="1350" dirty="0">
              <a:latin typeface="+mj-lt"/>
              <a:cs typeface="Cambria"/>
            </a:endParaRPr>
          </a:p>
          <a:p>
            <a:pPr marL="227329" indent="-214629">
              <a:lnSpc>
                <a:spcPct val="100000"/>
              </a:lnSpc>
              <a:spcBef>
                <a:spcPts val="409"/>
              </a:spcBef>
              <a:buFont typeface="Arial"/>
              <a:buChar char="–"/>
              <a:tabLst>
                <a:tab pos="227329" algn="l"/>
              </a:tabLst>
            </a:pPr>
            <a:r>
              <a:rPr sz="1350" spc="-10" dirty="0">
                <a:latin typeface="+mj-lt"/>
                <a:cs typeface="Cambria"/>
              </a:rPr>
              <a:t>NeatPark</a:t>
            </a:r>
            <a:r>
              <a:rPr sz="1350" spc="-4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Parking</a:t>
            </a:r>
            <a:r>
              <a:rPr sz="1350" spc="-55" dirty="0">
                <a:latin typeface="+mj-lt"/>
                <a:cs typeface="Cambria"/>
              </a:rPr>
              <a:t> </a:t>
            </a:r>
            <a:r>
              <a:rPr sz="1350" spc="-10" dirty="0">
                <a:latin typeface="+mj-lt"/>
                <a:cs typeface="Cambria"/>
              </a:rPr>
              <a:t>management</a:t>
            </a:r>
            <a:endParaRPr sz="1350" dirty="0">
              <a:latin typeface="+mj-lt"/>
              <a:cs typeface="Cambria"/>
            </a:endParaRPr>
          </a:p>
          <a:p>
            <a:pPr marL="227329" indent="-214629">
              <a:lnSpc>
                <a:spcPct val="100000"/>
              </a:lnSpc>
              <a:spcBef>
                <a:spcPts val="400"/>
              </a:spcBef>
              <a:buFont typeface="Arial"/>
              <a:buChar char="–"/>
              <a:tabLst>
                <a:tab pos="227329" algn="l"/>
              </a:tabLst>
            </a:pPr>
            <a:r>
              <a:rPr sz="1350" dirty="0">
                <a:latin typeface="+mj-lt"/>
                <a:cs typeface="Cambria"/>
              </a:rPr>
              <a:t>UNO</a:t>
            </a:r>
            <a:r>
              <a:rPr sz="1350" spc="-1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&amp;</a:t>
            </a:r>
            <a:r>
              <a:rPr sz="1350" spc="-10" dirty="0">
                <a:latin typeface="+mj-lt"/>
                <a:cs typeface="Cambria"/>
              </a:rPr>
              <a:t> </a:t>
            </a:r>
            <a:r>
              <a:rPr sz="1350" dirty="0">
                <a:latin typeface="+mj-lt"/>
                <a:cs typeface="Cambria"/>
              </a:rPr>
              <a:t>mUNO</a:t>
            </a:r>
            <a:r>
              <a:rPr sz="1350" spc="-5" dirty="0">
                <a:latin typeface="+mj-lt"/>
                <a:cs typeface="Cambria"/>
              </a:rPr>
              <a:t> </a:t>
            </a:r>
            <a:r>
              <a:rPr sz="1350" spc="-20" dirty="0">
                <a:latin typeface="+mj-lt"/>
                <a:cs typeface="Cambria"/>
              </a:rPr>
              <a:t>Workforce</a:t>
            </a:r>
            <a:r>
              <a:rPr sz="1350" spc="-10" dirty="0">
                <a:latin typeface="+mj-lt"/>
                <a:cs typeface="Cambria"/>
              </a:rPr>
              <a:t> Management</a:t>
            </a:r>
            <a:endParaRPr sz="1350" dirty="0">
              <a:latin typeface="+mj-lt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14800" y="3098292"/>
            <a:ext cx="4843526" cy="1754505"/>
          </a:xfrm>
          <a:custGeom>
            <a:avLst/>
            <a:gdLst/>
            <a:ahLst/>
            <a:cxnLst/>
            <a:rect l="l" t="t" r="r" b="b"/>
            <a:pathLst>
              <a:path w="4189729" h="1754504">
                <a:moveTo>
                  <a:pt x="4189476" y="0"/>
                </a:moveTo>
                <a:lnTo>
                  <a:pt x="0" y="0"/>
                </a:lnTo>
                <a:lnTo>
                  <a:pt x="0" y="1754124"/>
                </a:lnTo>
                <a:lnTo>
                  <a:pt x="4189476" y="1754124"/>
                </a:lnTo>
                <a:lnTo>
                  <a:pt x="4189476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29100" y="3106292"/>
            <a:ext cx="2268220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chemeClr val="bg1"/>
                </a:solidFill>
                <a:latin typeface="+mj-lt"/>
                <a:cs typeface="Cambria"/>
              </a:rPr>
              <a:t>Indigenous</a:t>
            </a:r>
            <a:r>
              <a:rPr sz="1350" b="1" spc="-4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b="1" spc="-10" dirty="0">
                <a:solidFill>
                  <a:schemeClr val="bg1"/>
                </a:solidFill>
                <a:latin typeface="+mj-lt"/>
                <a:cs typeface="Cambria"/>
              </a:rPr>
              <a:t>Hardware</a:t>
            </a:r>
            <a:r>
              <a:rPr sz="1350" b="1" spc="-15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b="1" spc="-10" dirty="0">
                <a:solidFill>
                  <a:schemeClr val="bg1"/>
                </a:solidFill>
                <a:latin typeface="+mj-lt"/>
                <a:cs typeface="Cambria"/>
              </a:rPr>
              <a:t>Assets</a:t>
            </a:r>
            <a:endParaRPr sz="1350" dirty="0">
              <a:solidFill>
                <a:schemeClr val="bg1"/>
              </a:solidFill>
              <a:latin typeface="+mj-lt"/>
              <a:cs typeface="Cambr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572000" y="3302660"/>
            <a:ext cx="3610610" cy="149669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26695" indent="-213995">
              <a:lnSpc>
                <a:spcPct val="100000"/>
              </a:lnSpc>
              <a:spcBef>
                <a:spcPts val="505"/>
              </a:spcBef>
              <a:buFont typeface="Arial"/>
              <a:buChar char="–"/>
              <a:tabLst>
                <a:tab pos="226695" algn="l"/>
              </a:tabLst>
            </a:pPr>
            <a:r>
              <a:rPr sz="1350" spc="-10" dirty="0">
                <a:solidFill>
                  <a:schemeClr val="bg1"/>
                </a:solidFill>
                <a:latin typeface="+mj-lt"/>
                <a:cs typeface="Cambria"/>
              </a:rPr>
              <a:t>Traffic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signalling</a:t>
            </a:r>
            <a:r>
              <a:rPr sz="1350" spc="-6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AC</a:t>
            </a:r>
            <a:r>
              <a:rPr sz="1350" spc="-25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&amp;</a:t>
            </a:r>
            <a:r>
              <a:rPr sz="1350" spc="-3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DC</a:t>
            </a:r>
            <a:r>
              <a:rPr sz="1350" spc="-3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UCON</a:t>
            </a:r>
            <a:r>
              <a:rPr sz="1350" spc="-3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spc="-10" dirty="0">
                <a:solidFill>
                  <a:schemeClr val="bg1"/>
                </a:solidFill>
                <a:latin typeface="+mj-lt"/>
                <a:cs typeface="Cambria"/>
              </a:rPr>
              <a:t>Controllers</a:t>
            </a:r>
            <a:endParaRPr sz="1350" dirty="0">
              <a:solidFill>
                <a:schemeClr val="bg1"/>
              </a:solidFill>
              <a:latin typeface="+mj-lt"/>
              <a:cs typeface="Cambria"/>
            </a:endParaRPr>
          </a:p>
          <a:p>
            <a:pPr marL="226695" indent="-213995">
              <a:lnSpc>
                <a:spcPct val="100000"/>
              </a:lnSpc>
              <a:spcBef>
                <a:spcPts val="409"/>
              </a:spcBef>
              <a:buFont typeface="Arial"/>
              <a:buChar char="–"/>
              <a:tabLst>
                <a:tab pos="226695" algn="l"/>
              </a:tabLst>
            </a:pP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LED</a:t>
            </a:r>
            <a:r>
              <a:rPr sz="1350" spc="-4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aspects</a:t>
            </a:r>
            <a:r>
              <a:rPr sz="1350" spc="-4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(Dot</a:t>
            </a:r>
            <a:r>
              <a:rPr sz="1350" spc="-35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matrix</a:t>
            </a:r>
            <a:r>
              <a:rPr sz="1350" spc="-2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and</a:t>
            </a:r>
            <a:r>
              <a:rPr sz="1350" spc="-3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Central</a:t>
            </a:r>
            <a:r>
              <a:rPr sz="1350" spc="-3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spc="-10" dirty="0">
                <a:solidFill>
                  <a:schemeClr val="bg1"/>
                </a:solidFill>
                <a:latin typeface="+mj-lt"/>
                <a:cs typeface="Cambria"/>
              </a:rPr>
              <a:t>source)</a:t>
            </a:r>
            <a:endParaRPr sz="1350" dirty="0">
              <a:solidFill>
                <a:schemeClr val="bg1"/>
              </a:solidFill>
              <a:latin typeface="+mj-lt"/>
              <a:cs typeface="Cambria"/>
            </a:endParaRPr>
          </a:p>
          <a:p>
            <a:pPr marL="226060" marR="5080" indent="-213995">
              <a:lnSpc>
                <a:spcPts val="1460"/>
              </a:lnSpc>
              <a:spcBef>
                <a:spcPts val="575"/>
              </a:spcBef>
              <a:buFont typeface="Arial"/>
              <a:buChar char="–"/>
              <a:tabLst>
                <a:tab pos="227329" algn="l"/>
              </a:tabLst>
            </a:pP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Count</a:t>
            </a:r>
            <a:r>
              <a:rPr sz="1350" spc="-3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Down</a:t>
            </a:r>
            <a:r>
              <a:rPr sz="1350" spc="-35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Timers,</a:t>
            </a:r>
            <a:r>
              <a:rPr sz="1350" spc="-25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spc="-10" dirty="0">
                <a:solidFill>
                  <a:schemeClr val="bg1"/>
                </a:solidFill>
                <a:latin typeface="+mj-lt"/>
                <a:cs typeface="Cambria"/>
              </a:rPr>
              <a:t>Variable</a:t>
            </a:r>
            <a:r>
              <a:rPr sz="1350" spc="-25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Messaging</a:t>
            </a:r>
            <a:r>
              <a:rPr sz="1350" spc="-55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spc="-20" dirty="0">
                <a:solidFill>
                  <a:schemeClr val="bg1"/>
                </a:solidFill>
                <a:latin typeface="+mj-lt"/>
                <a:cs typeface="Cambria"/>
              </a:rPr>
              <a:t>Signs 	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ECB</a:t>
            </a:r>
            <a:r>
              <a:rPr sz="1350" spc="-35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&amp;</a:t>
            </a:r>
            <a:r>
              <a:rPr sz="1350" spc="-3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spc="-40" dirty="0">
                <a:solidFill>
                  <a:schemeClr val="bg1"/>
                </a:solidFill>
                <a:latin typeface="+mj-lt"/>
                <a:cs typeface="Cambria"/>
              </a:rPr>
              <a:t>PA</a:t>
            </a:r>
            <a:r>
              <a:rPr sz="1350" spc="-35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Public</a:t>
            </a:r>
            <a:r>
              <a:rPr sz="1350" spc="-25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Safety</a:t>
            </a:r>
            <a:r>
              <a:rPr sz="1350" spc="-10" dirty="0">
                <a:solidFill>
                  <a:schemeClr val="bg1"/>
                </a:solidFill>
                <a:latin typeface="+mj-lt"/>
                <a:cs typeface="Cambria"/>
              </a:rPr>
              <a:t> Systems</a:t>
            </a:r>
            <a:endParaRPr sz="1350" dirty="0">
              <a:solidFill>
                <a:schemeClr val="bg1"/>
              </a:solidFill>
              <a:latin typeface="+mj-lt"/>
              <a:cs typeface="Cambria"/>
            </a:endParaRPr>
          </a:p>
          <a:p>
            <a:pPr marL="227329" indent="-214629">
              <a:lnSpc>
                <a:spcPct val="100000"/>
              </a:lnSpc>
              <a:spcBef>
                <a:spcPts val="390"/>
              </a:spcBef>
              <a:buFont typeface="Arial"/>
              <a:buChar char="–"/>
              <a:tabLst>
                <a:tab pos="227329" algn="l"/>
              </a:tabLst>
            </a:pP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ABT</a:t>
            </a:r>
            <a:r>
              <a:rPr sz="1350" spc="-35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Energy</a:t>
            </a:r>
            <a:r>
              <a:rPr sz="1350" spc="-4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spc="-10" dirty="0">
                <a:solidFill>
                  <a:schemeClr val="bg1"/>
                </a:solidFill>
                <a:latin typeface="+mj-lt"/>
                <a:cs typeface="Cambria"/>
              </a:rPr>
              <a:t>meters,</a:t>
            </a:r>
            <a:endParaRPr sz="1350" dirty="0">
              <a:solidFill>
                <a:schemeClr val="bg1"/>
              </a:solidFill>
              <a:latin typeface="+mj-lt"/>
              <a:cs typeface="Cambria"/>
            </a:endParaRPr>
          </a:p>
          <a:p>
            <a:pPr marL="226695" indent="-213995">
              <a:lnSpc>
                <a:spcPct val="100000"/>
              </a:lnSpc>
              <a:spcBef>
                <a:spcPts val="400"/>
              </a:spcBef>
              <a:buFont typeface="Arial"/>
              <a:buChar char="–"/>
              <a:tabLst>
                <a:tab pos="226695" algn="l"/>
              </a:tabLst>
            </a:pP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Smart</a:t>
            </a:r>
            <a:r>
              <a:rPr sz="1350" spc="-2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Meters</a:t>
            </a:r>
            <a:r>
              <a:rPr sz="1350" spc="-35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&amp;</a:t>
            </a:r>
            <a:r>
              <a:rPr sz="1350" spc="-30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dirty="0">
                <a:solidFill>
                  <a:schemeClr val="bg1"/>
                </a:solidFill>
                <a:latin typeface="+mj-lt"/>
                <a:cs typeface="Cambria"/>
              </a:rPr>
              <a:t>Data</a:t>
            </a:r>
            <a:r>
              <a:rPr sz="1350" spc="-25" dirty="0">
                <a:solidFill>
                  <a:schemeClr val="bg1"/>
                </a:solidFill>
                <a:latin typeface="+mj-lt"/>
                <a:cs typeface="Cambria"/>
              </a:rPr>
              <a:t> </a:t>
            </a:r>
            <a:r>
              <a:rPr sz="1350" spc="-10" dirty="0">
                <a:solidFill>
                  <a:schemeClr val="bg1"/>
                </a:solidFill>
                <a:latin typeface="+mj-lt"/>
                <a:cs typeface="Cambria"/>
              </a:rPr>
              <a:t>Concentrators</a:t>
            </a:r>
            <a:endParaRPr sz="1350" dirty="0">
              <a:solidFill>
                <a:schemeClr val="bg1"/>
              </a:solidFill>
              <a:latin typeface="+mj-lt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30777"/>
            <a:ext cx="7601362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95"/>
              </a:spcBef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  </a:t>
            </a:r>
            <a:r>
              <a:rPr sz="2400" dirty="0">
                <a:solidFill>
                  <a:schemeClr val="bg1"/>
                </a:solidFill>
                <a:latin typeface="+mj-lt"/>
              </a:rPr>
              <a:t>CMS</a:t>
            </a:r>
            <a:r>
              <a:rPr sz="2400" spc="-3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Software</a:t>
            </a:r>
            <a:r>
              <a:rPr sz="2400" spc="-4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&amp;</a:t>
            </a:r>
            <a:r>
              <a:rPr sz="2400" spc="-5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IT</a:t>
            </a:r>
            <a:r>
              <a:rPr sz="2400" spc="-5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Services</a:t>
            </a:r>
            <a:r>
              <a:rPr sz="2400" spc="-2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Solutions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095" y="1016508"/>
            <a:ext cx="2232660" cy="29123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6" name="object 6"/>
          <p:cNvSpPr/>
          <p:nvPr/>
        </p:nvSpPr>
        <p:spPr>
          <a:xfrm>
            <a:off x="768095" y="1016508"/>
            <a:ext cx="2421064" cy="3110484"/>
          </a:xfrm>
          <a:custGeom>
            <a:avLst/>
            <a:gdLst/>
            <a:ahLst/>
            <a:cxnLst/>
            <a:rect l="l" t="t" r="r" b="b"/>
            <a:pathLst>
              <a:path w="2232660" h="2912745">
                <a:moveTo>
                  <a:pt x="0" y="2912364"/>
                </a:moveTo>
                <a:lnTo>
                  <a:pt x="2232660" y="2912364"/>
                </a:lnTo>
                <a:lnTo>
                  <a:pt x="2232660" y="0"/>
                </a:lnTo>
                <a:lnTo>
                  <a:pt x="0" y="0"/>
                </a:lnTo>
                <a:lnTo>
                  <a:pt x="0" y="291236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144">
            <a:solidFill>
              <a:srgbClr val="46AAC5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8095" y="1009650"/>
            <a:ext cx="2421064" cy="637849"/>
          </a:xfrm>
          <a:prstGeom prst="rect">
            <a:avLst/>
          </a:prstGeom>
          <a:solidFill>
            <a:srgbClr val="1F487C"/>
          </a:solidFill>
          <a:ln w="9144">
            <a:solidFill>
              <a:srgbClr val="46AAC5"/>
            </a:solidFill>
          </a:ln>
        </p:spPr>
        <p:txBody>
          <a:bodyPr vert="horz" wrap="square" lIns="0" tIns="72000" rIns="0" bIns="72000" rtlCol="0" anchor="ctr">
            <a:spAutoFit/>
          </a:bodyPr>
          <a:lstStyle/>
          <a:p>
            <a:pPr marL="535940" marR="429259" indent="-100965" algn="ctr">
              <a:lnSpc>
                <a:spcPct val="100000"/>
              </a:lnSpc>
              <a:spcBef>
                <a:spcPts val="1045"/>
              </a:spcBef>
            </a:pPr>
            <a:r>
              <a:rPr sz="1600" b="1" dirty="0">
                <a:solidFill>
                  <a:srgbClr val="FFFFFF"/>
                </a:solidFill>
                <a:latin typeface="+mj-lt"/>
                <a:cs typeface="Calibri"/>
              </a:rPr>
              <a:t>Support</a:t>
            </a:r>
            <a:r>
              <a:rPr sz="1600" b="1" spc="-3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+mj-lt"/>
                <a:cs typeface="Calibri"/>
              </a:rPr>
              <a:t>Current </a:t>
            </a:r>
            <a:r>
              <a:rPr sz="1600" b="1" spc="-10" dirty="0">
                <a:solidFill>
                  <a:srgbClr val="FFFFFF"/>
                </a:solidFill>
                <a:latin typeface="+mj-lt"/>
                <a:cs typeface="Calibri"/>
              </a:rPr>
              <a:t>Infrastructure</a:t>
            </a:r>
            <a:endParaRPr sz="1600" dirty="0">
              <a:latin typeface="+mj-lt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6985" y="1696045"/>
            <a:ext cx="2223770" cy="175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marR="372745">
              <a:lnSpc>
                <a:spcPct val="152000"/>
              </a:lnSpc>
              <a:spcBef>
                <a:spcPts val="100"/>
              </a:spcBef>
            </a:pPr>
            <a:r>
              <a:rPr sz="1600" b="1" dirty="0">
                <a:latin typeface="+mj-lt"/>
                <a:cs typeface="Calibri"/>
              </a:rPr>
              <a:t>Scalable</a:t>
            </a:r>
            <a:r>
              <a:rPr sz="1600" b="1" spc="-60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Computing </a:t>
            </a:r>
            <a:r>
              <a:rPr sz="1600" b="1" dirty="0">
                <a:latin typeface="+mj-lt"/>
                <a:cs typeface="Calibri"/>
              </a:rPr>
              <a:t>Legacy</a:t>
            </a:r>
            <a:r>
              <a:rPr sz="1600" b="1" spc="-80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Support</a:t>
            </a:r>
            <a:endParaRPr sz="1600" dirty="0">
              <a:latin typeface="+mj-lt"/>
              <a:cs typeface="Calibri"/>
            </a:endParaRPr>
          </a:p>
          <a:p>
            <a:pPr marL="183515" marR="190500">
              <a:lnSpc>
                <a:spcPct val="100000"/>
              </a:lnSpc>
              <a:spcBef>
                <a:spcPts val="1005"/>
              </a:spcBef>
            </a:pPr>
            <a:r>
              <a:rPr sz="1600" b="1" spc="-10" dirty="0">
                <a:latin typeface="+mj-lt"/>
                <a:cs typeface="Calibri"/>
              </a:rPr>
              <a:t>Application Maintenance</a:t>
            </a:r>
            <a:r>
              <a:rPr sz="1600" b="1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Services</a:t>
            </a:r>
            <a:endParaRPr sz="1600" dirty="0">
              <a:latin typeface="+mj-lt"/>
              <a:cs typeface="Calibri"/>
            </a:endParaRPr>
          </a:p>
          <a:p>
            <a:pPr marL="183515">
              <a:lnSpc>
                <a:spcPct val="100000"/>
              </a:lnSpc>
              <a:spcBef>
                <a:spcPts val="1000"/>
              </a:spcBef>
            </a:pPr>
            <a:r>
              <a:rPr sz="1600" b="1" spc="-10" dirty="0">
                <a:latin typeface="+mj-lt"/>
                <a:cs typeface="Calibri"/>
              </a:rPr>
              <a:t>Compliance</a:t>
            </a:r>
            <a:endParaRPr sz="1600" dirty="0">
              <a:latin typeface="+mj-lt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0711" y="1016508"/>
            <a:ext cx="2321052" cy="29123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</p:pic>
      <p:sp>
        <p:nvSpPr>
          <p:cNvPr id="13" name="object 13"/>
          <p:cNvSpPr/>
          <p:nvPr/>
        </p:nvSpPr>
        <p:spPr>
          <a:xfrm>
            <a:off x="3410711" y="1016508"/>
            <a:ext cx="2451420" cy="3110484"/>
          </a:xfrm>
          <a:custGeom>
            <a:avLst/>
            <a:gdLst/>
            <a:ahLst/>
            <a:cxnLst/>
            <a:rect l="l" t="t" r="r" b="b"/>
            <a:pathLst>
              <a:path w="2321560" h="2912745">
                <a:moveTo>
                  <a:pt x="0" y="2912364"/>
                </a:moveTo>
                <a:lnTo>
                  <a:pt x="2321052" y="2912364"/>
                </a:lnTo>
                <a:lnTo>
                  <a:pt x="2321052" y="0"/>
                </a:lnTo>
                <a:lnTo>
                  <a:pt x="0" y="0"/>
                </a:lnTo>
                <a:lnTo>
                  <a:pt x="0" y="2912364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9144">
            <a:solidFill>
              <a:srgbClr val="97B853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14393" y="1009650"/>
            <a:ext cx="2460435" cy="637849"/>
          </a:xfrm>
          <a:prstGeom prst="rect">
            <a:avLst/>
          </a:prstGeom>
          <a:solidFill>
            <a:srgbClr val="00AF50"/>
          </a:solidFill>
          <a:ln w="9144">
            <a:solidFill>
              <a:srgbClr val="97B853"/>
            </a:solidFill>
          </a:ln>
        </p:spPr>
        <p:txBody>
          <a:bodyPr vert="horz" wrap="square" lIns="0" tIns="72000" rIns="0" bIns="72000" rtlCol="0" anchor="ctr">
            <a:spAutoFit/>
          </a:bodyPr>
          <a:lstStyle/>
          <a:p>
            <a:pPr marL="502920" marR="520700" indent="65405" algn="ctr">
              <a:lnSpc>
                <a:spcPct val="100000"/>
              </a:lnSpc>
              <a:spcBef>
                <a:spcPts val="1045"/>
              </a:spcBef>
            </a:pPr>
            <a:r>
              <a:rPr sz="1600" b="1" dirty="0">
                <a:solidFill>
                  <a:srgbClr val="FFFFFF"/>
                </a:solidFill>
                <a:latin typeface="+mj-lt"/>
                <a:cs typeface="Calibri"/>
              </a:rPr>
              <a:t>Enable</a:t>
            </a:r>
            <a:r>
              <a:rPr sz="1600" b="1" spc="-5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+mj-lt"/>
                <a:cs typeface="Calibri"/>
              </a:rPr>
              <a:t>Digital </a:t>
            </a:r>
            <a:r>
              <a:rPr sz="1600" b="1" spc="-25" dirty="0">
                <a:solidFill>
                  <a:srgbClr val="FFFFFF"/>
                </a:solidFill>
                <a:latin typeface="+mj-lt"/>
                <a:cs typeface="Calibri"/>
              </a:rPr>
              <a:t>Transformation</a:t>
            </a:r>
            <a:endParaRPr sz="1600" dirty="0">
              <a:latin typeface="+mj-lt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29108" y="1815362"/>
            <a:ext cx="2312035" cy="2113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84" marR="770255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+mj-lt"/>
                <a:cs typeface="Calibri"/>
              </a:rPr>
              <a:t>Cloud</a:t>
            </a:r>
            <a:r>
              <a:rPr sz="1600" b="1" spc="-25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Transition</a:t>
            </a:r>
            <a:r>
              <a:rPr sz="1600" b="1" spc="-40" dirty="0">
                <a:latin typeface="+mj-lt"/>
                <a:cs typeface="Calibri"/>
              </a:rPr>
              <a:t> </a:t>
            </a:r>
            <a:r>
              <a:rPr sz="1600" b="1" spc="-50" dirty="0">
                <a:latin typeface="+mj-lt"/>
                <a:cs typeface="Calibri"/>
              </a:rPr>
              <a:t>/ </a:t>
            </a:r>
            <a:r>
              <a:rPr sz="1600" b="1" spc="-10" dirty="0">
                <a:latin typeface="+mj-lt"/>
                <a:cs typeface="Calibri"/>
              </a:rPr>
              <a:t>Migration</a:t>
            </a:r>
            <a:endParaRPr sz="1600" dirty="0">
              <a:latin typeface="+mj-lt"/>
              <a:cs typeface="Calibri"/>
            </a:endParaRPr>
          </a:p>
          <a:p>
            <a:pPr marL="32384" marR="607060">
              <a:lnSpc>
                <a:spcPct val="100000"/>
              </a:lnSpc>
              <a:spcBef>
                <a:spcPts val="994"/>
              </a:spcBef>
            </a:pPr>
            <a:r>
              <a:rPr sz="1600" b="1" spc="-10" dirty="0">
                <a:latin typeface="+mj-lt"/>
                <a:cs typeface="Calibri"/>
              </a:rPr>
              <a:t>On-</a:t>
            </a:r>
            <a:r>
              <a:rPr sz="1600" b="1" dirty="0">
                <a:latin typeface="+mj-lt"/>
                <a:cs typeface="Calibri"/>
              </a:rPr>
              <a:t>Premise</a:t>
            </a:r>
            <a:r>
              <a:rPr sz="1600" b="1" spc="-25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+</a:t>
            </a:r>
            <a:r>
              <a:rPr sz="1600" b="1" spc="-25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Cloud Integration</a:t>
            </a:r>
            <a:endParaRPr sz="1600" dirty="0">
              <a:latin typeface="+mj-lt"/>
              <a:cs typeface="Calibri"/>
            </a:endParaRPr>
          </a:p>
          <a:p>
            <a:pPr marL="32384" marR="21590">
              <a:lnSpc>
                <a:spcPct val="151900"/>
              </a:lnSpc>
              <a:spcBef>
                <a:spcPts val="15"/>
              </a:spcBef>
            </a:pPr>
            <a:r>
              <a:rPr sz="1600" b="1" dirty="0">
                <a:latin typeface="+mj-lt"/>
                <a:cs typeface="Calibri"/>
              </a:rPr>
              <a:t>Application</a:t>
            </a:r>
            <a:r>
              <a:rPr sz="1600" b="1" spc="-75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Modernization </a:t>
            </a:r>
            <a:r>
              <a:rPr sz="1600" b="1" dirty="0">
                <a:latin typeface="+mj-lt"/>
                <a:cs typeface="Calibri"/>
              </a:rPr>
              <a:t>Enabled</a:t>
            </a:r>
            <a:r>
              <a:rPr sz="1600" b="1" spc="-35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Information</a:t>
            </a:r>
            <a:endParaRPr sz="1600" dirty="0">
              <a:latin typeface="+mj-lt"/>
              <a:cs typeface="Calibri"/>
            </a:endParaRPr>
          </a:p>
          <a:p>
            <a:pPr marL="32384">
              <a:lnSpc>
                <a:spcPct val="100000"/>
              </a:lnSpc>
            </a:pPr>
            <a:r>
              <a:rPr sz="1600" b="1" spc="-10" dirty="0">
                <a:latin typeface="+mj-lt"/>
                <a:cs typeface="Calibri"/>
              </a:rPr>
              <a:t>Security</a:t>
            </a:r>
            <a:endParaRPr sz="1600" dirty="0">
              <a:latin typeface="+mj-lt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54852" y="1016508"/>
            <a:ext cx="2232659" cy="29123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</p:pic>
      <p:sp>
        <p:nvSpPr>
          <p:cNvPr id="20" name="object 20"/>
          <p:cNvSpPr/>
          <p:nvPr/>
        </p:nvSpPr>
        <p:spPr>
          <a:xfrm>
            <a:off x="6054852" y="1016508"/>
            <a:ext cx="2451420" cy="3110484"/>
          </a:xfrm>
          <a:custGeom>
            <a:avLst/>
            <a:gdLst/>
            <a:ahLst/>
            <a:cxnLst/>
            <a:rect l="l" t="t" r="r" b="b"/>
            <a:pathLst>
              <a:path w="2232659" h="2912745">
                <a:moveTo>
                  <a:pt x="0" y="2912364"/>
                </a:moveTo>
                <a:lnTo>
                  <a:pt x="2232659" y="2912364"/>
                </a:lnTo>
                <a:lnTo>
                  <a:pt x="2232659" y="0"/>
                </a:lnTo>
                <a:lnTo>
                  <a:pt x="0" y="0"/>
                </a:lnTo>
                <a:lnTo>
                  <a:pt x="0" y="2912364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9143">
            <a:solidFill>
              <a:srgbClr val="F6924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67550" y="1009650"/>
            <a:ext cx="2451419" cy="637849"/>
          </a:xfrm>
          <a:prstGeom prst="rect">
            <a:avLst/>
          </a:prstGeom>
          <a:solidFill>
            <a:srgbClr val="E36C09"/>
          </a:solidFill>
          <a:ln w="9144">
            <a:solidFill>
              <a:srgbClr val="F69240"/>
            </a:solidFill>
          </a:ln>
        </p:spPr>
        <p:txBody>
          <a:bodyPr vert="horz" wrap="square" lIns="0" tIns="72000" rIns="0" bIns="7200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+mj-lt"/>
                <a:cs typeface="Calibri"/>
              </a:rPr>
              <a:t>Create</a:t>
            </a:r>
            <a:r>
              <a:rPr sz="1600" b="1" spc="-4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+mj-lt"/>
                <a:cs typeface="Calibri"/>
              </a:rPr>
              <a:t>Client</a:t>
            </a:r>
            <a:r>
              <a:rPr sz="1600" b="1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endParaRPr lang="en-US" sz="1600" b="1" spc="-40" dirty="0">
              <a:solidFill>
                <a:srgbClr val="FFFFFF"/>
              </a:solidFill>
              <a:latin typeface="+mj-lt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600" b="1" spc="-20" dirty="0">
                <a:solidFill>
                  <a:srgbClr val="FFFFFF"/>
                </a:solidFill>
                <a:latin typeface="+mj-lt"/>
                <a:cs typeface="Calibri"/>
              </a:rPr>
              <a:t>Value</a:t>
            </a:r>
            <a:endParaRPr sz="1600" dirty="0">
              <a:latin typeface="+mj-lt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69284" y="1815362"/>
            <a:ext cx="2324288" cy="2249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+mj-lt"/>
                <a:cs typeface="Calibri"/>
              </a:rPr>
              <a:t>IT-</a:t>
            </a:r>
            <a:r>
              <a:rPr sz="1600" b="1" dirty="0">
                <a:latin typeface="+mj-lt"/>
                <a:cs typeface="Calibri"/>
              </a:rPr>
              <a:t>IoT</a:t>
            </a:r>
            <a:r>
              <a:rPr sz="1600" b="1" spc="-20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Integration</a:t>
            </a:r>
            <a:endParaRPr sz="1600" dirty="0">
              <a:latin typeface="+mj-lt"/>
              <a:cs typeface="Calibri"/>
            </a:endParaRPr>
          </a:p>
          <a:p>
            <a:pPr marL="111125">
              <a:lnSpc>
                <a:spcPct val="100000"/>
              </a:lnSpc>
              <a:spcBef>
                <a:spcPts val="1010"/>
              </a:spcBef>
            </a:pPr>
            <a:r>
              <a:rPr sz="1600" b="1" dirty="0">
                <a:latin typeface="+mj-lt"/>
                <a:cs typeface="Calibri"/>
              </a:rPr>
              <a:t>Big</a:t>
            </a:r>
            <a:r>
              <a:rPr sz="1600" b="1" spc="-30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Data</a:t>
            </a:r>
            <a:r>
              <a:rPr sz="1600" b="1" spc="-50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Analytics</a:t>
            </a:r>
            <a:r>
              <a:rPr sz="1600" b="1" spc="-40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/</a:t>
            </a:r>
            <a:r>
              <a:rPr sz="1600" b="1" spc="-30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Machine Learning</a:t>
            </a:r>
            <a:endParaRPr sz="1600" dirty="0">
              <a:latin typeface="+mj-lt"/>
              <a:cs typeface="Calibri"/>
            </a:endParaRPr>
          </a:p>
          <a:p>
            <a:pPr marL="111125">
              <a:lnSpc>
                <a:spcPct val="100000"/>
              </a:lnSpc>
              <a:spcBef>
                <a:spcPts val="1000"/>
              </a:spcBef>
            </a:pPr>
            <a:r>
              <a:rPr sz="1600" b="1" dirty="0">
                <a:latin typeface="+mj-lt"/>
                <a:cs typeface="Calibri"/>
              </a:rPr>
              <a:t>Domain</a:t>
            </a:r>
            <a:r>
              <a:rPr sz="1600" b="1" spc="260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/</a:t>
            </a:r>
            <a:r>
              <a:rPr sz="1600" b="1" spc="-15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IP</a:t>
            </a:r>
            <a:r>
              <a:rPr sz="1600" b="1" spc="-10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based</a:t>
            </a:r>
            <a:r>
              <a:rPr sz="1600" b="1" spc="-35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Solutions</a:t>
            </a:r>
            <a:endParaRPr sz="1600" dirty="0">
              <a:latin typeface="+mj-lt"/>
              <a:cs typeface="Calibri"/>
            </a:endParaRPr>
          </a:p>
          <a:p>
            <a:pPr marL="111125">
              <a:lnSpc>
                <a:spcPct val="100000"/>
              </a:lnSpc>
              <a:spcBef>
                <a:spcPts val="994"/>
              </a:spcBef>
            </a:pPr>
            <a:r>
              <a:rPr sz="1600" b="1" spc="-10" dirty="0">
                <a:latin typeface="+mj-lt"/>
                <a:cs typeface="Calibri"/>
              </a:rPr>
              <a:t>Automation</a:t>
            </a:r>
            <a:endParaRPr sz="1600" dirty="0">
              <a:latin typeface="+mj-lt"/>
              <a:cs typeface="Calibri"/>
            </a:endParaRPr>
          </a:p>
          <a:p>
            <a:pPr marL="111125">
              <a:lnSpc>
                <a:spcPct val="100000"/>
              </a:lnSpc>
              <a:spcBef>
                <a:spcPts val="1010"/>
              </a:spcBef>
            </a:pPr>
            <a:r>
              <a:rPr sz="1600" b="1" dirty="0">
                <a:latin typeface="+mj-lt"/>
                <a:cs typeface="Calibri"/>
              </a:rPr>
              <a:t>SLA</a:t>
            </a:r>
            <a:r>
              <a:rPr sz="1600" b="1" spc="-15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based</a:t>
            </a:r>
            <a:r>
              <a:rPr sz="1600" b="1" spc="-40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Services</a:t>
            </a:r>
            <a:endParaRPr sz="1600" dirty="0">
              <a:latin typeface="+mj-lt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768887" y="4252173"/>
            <a:ext cx="5832475" cy="500380"/>
          </a:xfrm>
          <a:custGeom>
            <a:avLst/>
            <a:gdLst/>
            <a:ahLst/>
            <a:cxnLst/>
            <a:rect l="l" t="t" r="r" b="b"/>
            <a:pathLst>
              <a:path w="5832475" h="500379">
                <a:moveTo>
                  <a:pt x="0" y="184213"/>
                </a:moveTo>
                <a:lnTo>
                  <a:pt x="5330571" y="184213"/>
                </a:lnTo>
                <a:lnTo>
                  <a:pt x="5330571" y="0"/>
                </a:lnTo>
                <a:lnTo>
                  <a:pt x="5832348" y="249935"/>
                </a:lnTo>
                <a:lnTo>
                  <a:pt x="5330571" y="499871"/>
                </a:lnTo>
                <a:lnTo>
                  <a:pt x="5330571" y="315658"/>
                </a:lnTo>
                <a:lnTo>
                  <a:pt x="0" y="315658"/>
                </a:lnTo>
                <a:lnTo>
                  <a:pt x="0" y="18421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144">
            <a:noFill/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15350" y="1236662"/>
            <a:ext cx="4383405" cy="2670175"/>
            <a:chOff x="4774691" y="1415796"/>
            <a:chExt cx="4383405" cy="2670175"/>
          </a:xfrm>
          <a:solidFill>
            <a:schemeClr val="accent6">
              <a:lumMod val="75000"/>
            </a:schemeClr>
          </a:solidFill>
        </p:grpSpPr>
        <p:sp>
          <p:nvSpPr>
            <p:cNvPr id="3" name="object 3"/>
            <p:cNvSpPr/>
            <p:nvPr/>
          </p:nvSpPr>
          <p:spPr>
            <a:xfrm>
              <a:off x="4787645" y="1428750"/>
              <a:ext cx="4357370" cy="2644140"/>
            </a:xfrm>
            <a:custGeom>
              <a:avLst/>
              <a:gdLst/>
              <a:ahLst/>
              <a:cxnLst/>
              <a:rect l="l" t="t" r="r" b="b"/>
              <a:pathLst>
                <a:path w="4357370" h="2644140">
                  <a:moveTo>
                    <a:pt x="4357115" y="0"/>
                  </a:moveTo>
                  <a:lnTo>
                    <a:pt x="0" y="0"/>
                  </a:lnTo>
                  <a:lnTo>
                    <a:pt x="0" y="2644140"/>
                  </a:lnTo>
                  <a:lnTo>
                    <a:pt x="4357115" y="2644140"/>
                  </a:lnTo>
                  <a:lnTo>
                    <a:pt x="43571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787645" y="1428750"/>
              <a:ext cx="4357370" cy="2644140"/>
            </a:xfrm>
            <a:custGeom>
              <a:avLst/>
              <a:gdLst/>
              <a:ahLst/>
              <a:cxnLst/>
              <a:rect l="l" t="t" r="r" b="b"/>
              <a:pathLst>
                <a:path w="4357370" h="2644140">
                  <a:moveTo>
                    <a:pt x="0" y="2644140"/>
                  </a:moveTo>
                  <a:lnTo>
                    <a:pt x="4357115" y="2644140"/>
                  </a:lnTo>
                  <a:lnTo>
                    <a:pt x="4357115" y="0"/>
                  </a:lnTo>
                  <a:lnTo>
                    <a:pt x="0" y="0"/>
                  </a:lnTo>
                  <a:lnTo>
                    <a:pt x="0" y="2644140"/>
                  </a:lnTo>
                  <a:close/>
                </a:path>
              </a:pathLst>
            </a:custGeom>
            <a:grpFill/>
            <a:ln w="25908">
              <a:noFill/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-7265" y="104265"/>
            <a:ext cx="7627265" cy="38151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pPr marL="154940" algn="l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solidFill>
                  <a:schemeClr val="bg1"/>
                </a:solidFill>
                <a:latin typeface="+mj-lt"/>
              </a:rPr>
              <a:t>IT</a:t>
            </a:r>
            <a:r>
              <a:rPr sz="2400" spc="-4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Services –</a:t>
            </a:r>
            <a:r>
              <a:rPr sz="2400" spc="-3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Practices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072311" y="876724"/>
            <a:ext cx="3043428" cy="3042301"/>
            <a:chOff x="1071372" y="777240"/>
            <a:chExt cx="3432175" cy="3430904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1372" y="1688592"/>
              <a:ext cx="588264" cy="1325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7300" y="1609343"/>
              <a:ext cx="327659" cy="14630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30147" y="1610740"/>
              <a:ext cx="1357630" cy="886460"/>
            </a:xfrm>
            <a:custGeom>
              <a:avLst/>
              <a:gdLst/>
              <a:ahLst/>
              <a:cxnLst/>
              <a:rect l="l" t="t" r="r" b="b"/>
              <a:pathLst>
                <a:path w="1357630" h="886460">
                  <a:moveTo>
                    <a:pt x="941832" y="0"/>
                  </a:moveTo>
                  <a:lnTo>
                    <a:pt x="0" y="0"/>
                  </a:lnTo>
                  <a:lnTo>
                    <a:pt x="819785" y="819785"/>
                  </a:lnTo>
                  <a:lnTo>
                    <a:pt x="753364" y="886333"/>
                  </a:lnTo>
                  <a:lnTo>
                    <a:pt x="1357249" y="886333"/>
                  </a:lnTo>
                  <a:lnTo>
                    <a:pt x="1357249" y="282448"/>
                  </a:lnTo>
                  <a:lnTo>
                    <a:pt x="1290701" y="348869"/>
                  </a:lnTo>
                  <a:lnTo>
                    <a:pt x="94183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4761" y="1736470"/>
              <a:ext cx="617601" cy="61760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97329" y="1614043"/>
              <a:ext cx="755015" cy="775970"/>
            </a:xfrm>
            <a:custGeom>
              <a:avLst/>
              <a:gdLst/>
              <a:ahLst/>
              <a:cxnLst/>
              <a:rect l="l" t="t" r="r" b="b"/>
              <a:pathLst>
                <a:path w="755014" h="775969">
                  <a:moveTo>
                    <a:pt x="97028" y="0"/>
                  </a:moveTo>
                  <a:lnTo>
                    <a:pt x="0" y="93599"/>
                  </a:lnTo>
                  <a:lnTo>
                    <a:pt x="657606" y="775462"/>
                  </a:lnTo>
                  <a:lnTo>
                    <a:pt x="754634" y="681863"/>
                  </a:lnTo>
                  <a:lnTo>
                    <a:pt x="9702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9636" y="1633728"/>
              <a:ext cx="638556" cy="670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13632" y="3168395"/>
              <a:ext cx="589788" cy="13258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88307" y="3233928"/>
              <a:ext cx="329184" cy="14630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87014" y="2492247"/>
              <a:ext cx="1357630" cy="886460"/>
            </a:xfrm>
            <a:custGeom>
              <a:avLst/>
              <a:gdLst/>
              <a:ahLst/>
              <a:cxnLst/>
              <a:rect l="l" t="t" r="r" b="b"/>
              <a:pathLst>
                <a:path w="1357629" h="886460">
                  <a:moveTo>
                    <a:pt x="603758" y="0"/>
                  </a:moveTo>
                  <a:lnTo>
                    <a:pt x="0" y="0"/>
                  </a:lnTo>
                  <a:lnTo>
                    <a:pt x="0" y="603885"/>
                  </a:lnTo>
                  <a:lnTo>
                    <a:pt x="66421" y="537336"/>
                  </a:lnTo>
                  <a:lnTo>
                    <a:pt x="415290" y="886332"/>
                  </a:lnTo>
                  <a:lnTo>
                    <a:pt x="1357122" y="886332"/>
                  </a:lnTo>
                  <a:lnTo>
                    <a:pt x="537337" y="66420"/>
                  </a:lnTo>
                  <a:lnTo>
                    <a:pt x="603758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32048" y="2635122"/>
              <a:ext cx="617601" cy="61760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822320" y="2599816"/>
              <a:ext cx="755015" cy="775970"/>
            </a:xfrm>
            <a:custGeom>
              <a:avLst/>
              <a:gdLst/>
              <a:ahLst/>
              <a:cxnLst/>
              <a:rect l="l" t="t" r="r" b="b"/>
              <a:pathLst>
                <a:path w="755014" h="775970">
                  <a:moveTo>
                    <a:pt x="97155" y="0"/>
                  </a:moveTo>
                  <a:lnTo>
                    <a:pt x="0" y="93598"/>
                  </a:lnTo>
                  <a:lnTo>
                    <a:pt x="657733" y="775461"/>
                  </a:lnTo>
                  <a:lnTo>
                    <a:pt x="754761" y="681863"/>
                  </a:lnTo>
                  <a:lnTo>
                    <a:pt x="97155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76600" y="3288791"/>
              <a:ext cx="637032" cy="670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78152" y="3619500"/>
              <a:ext cx="132587" cy="58826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8904" y="3694175"/>
              <a:ext cx="146304" cy="32918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900555" y="2492501"/>
              <a:ext cx="886460" cy="1357630"/>
            </a:xfrm>
            <a:custGeom>
              <a:avLst/>
              <a:gdLst/>
              <a:ahLst/>
              <a:cxnLst/>
              <a:rect l="l" t="t" r="r" b="b"/>
              <a:pathLst>
                <a:path w="886460" h="1357629">
                  <a:moveTo>
                    <a:pt x="886206" y="0"/>
                  </a:moveTo>
                  <a:lnTo>
                    <a:pt x="282448" y="0"/>
                  </a:lnTo>
                  <a:lnTo>
                    <a:pt x="348869" y="66421"/>
                  </a:lnTo>
                  <a:lnTo>
                    <a:pt x="0" y="415290"/>
                  </a:lnTo>
                  <a:lnTo>
                    <a:pt x="0" y="1357122"/>
                  </a:lnTo>
                  <a:lnTo>
                    <a:pt x="819785" y="537337"/>
                  </a:lnTo>
                  <a:lnTo>
                    <a:pt x="886206" y="603758"/>
                  </a:lnTo>
                  <a:lnTo>
                    <a:pt x="886206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26285" y="2637535"/>
              <a:ext cx="617601" cy="61760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903857" y="2527935"/>
              <a:ext cx="775970" cy="755015"/>
            </a:xfrm>
            <a:custGeom>
              <a:avLst/>
              <a:gdLst/>
              <a:ahLst/>
              <a:cxnLst/>
              <a:rect l="l" t="t" r="r" b="b"/>
              <a:pathLst>
                <a:path w="775969" h="755014">
                  <a:moveTo>
                    <a:pt x="681863" y="0"/>
                  </a:moveTo>
                  <a:lnTo>
                    <a:pt x="0" y="657605"/>
                  </a:lnTo>
                  <a:lnTo>
                    <a:pt x="93599" y="754633"/>
                  </a:lnTo>
                  <a:lnTo>
                    <a:pt x="775462" y="97027"/>
                  </a:lnTo>
                  <a:lnTo>
                    <a:pt x="681863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23288" y="2982468"/>
              <a:ext cx="67055" cy="6370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62527" y="777240"/>
              <a:ext cx="132588" cy="58826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28060" y="961644"/>
              <a:ext cx="146303" cy="32918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787014" y="1135634"/>
              <a:ext cx="886460" cy="1357630"/>
            </a:xfrm>
            <a:custGeom>
              <a:avLst/>
              <a:gdLst/>
              <a:ahLst/>
              <a:cxnLst/>
              <a:rect l="l" t="t" r="r" b="b"/>
              <a:pathLst>
                <a:path w="886460" h="1357630">
                  <a:moveTo>
                    <a:pt x="886206" y="0"/>
                  </a:moveTo>
                  <a:lnTo>
                    <a:pt x="66421" y="819912"/>
                  </a:lnTo>
                  <a:lnTo>
                    <a:pt x="0" y="753364"/>
                  </a:lnTo>
                  <a:lnTo>
                    <a:pt x="0" y="1357249"/>
                  </a:lnTo>
                  <a:lnTo>
                    <a:pt x="603758" y="1357249"/>
                  </a:lnTo>
                  <a:lnTo>
                    <a:pt x="537337" y="1290828"/>
                  </a:lnTo>
                  <a:lnTo>
                    <a:pt x="886206" y="941832"/>
                  </a:lnTo>
                  <a:lnTo>
                    <a:pt x="88620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29889" y="1730248"/>
              <a:ext cx="617601" cy="61760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894457" y="1702815"/>
              <a:ext cx="775970" cy="755015"/>
            </a:xfrm>
            <a:custGeom>
              <a:avLst/>
              <a:gdLst/>
              <a:ahLst/>
              <a:cxnLst/>
              <a:rect l="l" t="t" r="r" b="b"/>
              <a:pathLst>
                <a:path w="775970" h="755014">
                  <a:moveTo>
                    <a:pt x="681863" y="0"/>
                  </a:moveTo>
                  <a:lnTo>
                    <a:pt x="0" y="657606"/>
                  </a:lnTo>
                  <a:lnTo>
                    <a:pt x="93598" y="754634"/>
                  </a:lnTo>
                  <a:lnTo>
                    <a:pt x="775461" y="97028"/>
                  </a:lnTo>
                  <a:lnTo>
                    <a:pt x="68186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82923" y="1365504"/>
              <a:ext cx="67055" cy="638556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93947" y="1838062"/>
            <a:ext cx="127762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1F5F"/>
                </a:solidFill>
                <a:latin typeface="+mj-lt"/>
                <a:cs typeface="Calibri"/>
              </a:rPr>
              <a:t>Data</a:t>
            </a:r>
            <a:r>
              <a:rPr sz="2000" b="1" spc="-50" dirty="0">
                <a:solidFill>
                  <a:srgbClr val="001F5F"/>
                </a:solidFill>
                <a:latin typeface="+mj-lt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+mj-lt"/>
                <a:cs typeface="Calibri"/>
              </a:rPr>
              <a:t>Center</a:t>
            </a:r>
            <a:endParaRPr sz="2000" dirty="0">
              <a:latin typeface="+mj-lt"/>
              <a:cs typeface="Calibri"/>
            </a:endParaRPr>
          </a:p>
          <a:p>
            <a:pPr marR="5715" algn="r">
              <a:lnSpc>
                <a:spcPct val="100000"/>
              </a:lnSpc>
            </a:pPr>
            <a:r>
              <a:rPr sz="2000" b="1" spc="-10" dirty="0">
                <a:solidFill>
                  <a:srgbClr val="001F5F"/>
                </a:solidFill>
                <a:latin typeface="+mj-lt"/>
                <a:cs typeface="Calibri"/>
              </a:rPr>
              <a:t>Services</a:t>
            </a:r>
            <a:endParaRPr sz="2000" dirty="0">
              <a:latin typeface="+mj-lt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5388" y="3358645"/>
            <a:ext cx="10693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350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+mj-lt"/>
                <a:cs typeface="Calibri"/>
              </a:rPr>
              <a:t>End</a:t>
            </a:r>
            <a:r>
              <a:rPr sz="2000" b="1" spc="-10" dirty="0">
                <a:solidFill>
                  <a:schemeClr val="accent3">
                    <a:lumMod val="50000"/>
                  </a:schemeClr>
                </a:solidFill>
                <a:latin typeface="+mj-lt"/>
                <a:cs typeface="Calibri"/>
              </a:rPr>
              <a:t> </a:t>
            </a:r>
            <a:r>
              <a:rPr sz="2000" b="1" spc="-20" dirty="0">
                <a:solidFill>
                  <a:schemeClr val="accent3">
                    <a:lumMod val="50000"/>
                  </a:schemeClr>
                </a:solidFill>
                <a:latin typeface="+mj-lt"/>
                <a:cs typeface="Calibri"/>
              </a:rPr>
              <a:t>User 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+mj-lt"/>
                <a:cs typeface="Calibri"/>
              </a:rPr>
              <a:t>Services</a:t>
            </a:r>
            <a:r>
              <a:rPr sz="2000" b="1" spc="-75" dirty="0">
                <a:solidFill>
                  <a:schemeClr val="accent3">
                    <a:lumMod val="50000"/>
                  </a:schemeClr>
                </a:solidFill>
                <a:latin typeface="+mj-lt"/>
                <a:cs typeface="Calibri"/>
              </a:rPr>
              <a:t> </a:t>
            </a:r>
            <a:r>
              <a:rPr sz="2000" b="1" spc="-50" dirty="0">
                <a:solidFill>
                  <a:schemeClr val="accent3">
                    <a:lumMod val="50000"/>
                  </a:schemeClr>
                </a:solidFill>
                <a:latin typeface="+mj-lt"/>
                <a:cs typeface="Calibri"/>
              </a:rPr>
              <a:t>*</a:t>
            </a:r>
            <a:endParaRPr sz="2000" dirty="0">
              <a:solidFill>
                <a:schemeClr val="accent3">
                  <a:lumMod val="50000"/>
                </a:schemeClr>
              </a:solidFill>
              <a:latin typeface="+mj-lt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560306" y="1185422"/>
            <a:ext cx="88391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C00000"/>
                </a:solidFill>
                <a:latin typeface="+mj-lt"/>
                <a:cs typeface="Calibri"/>
              </a:rPr>
              <a:t>Cloud</a:t>
            </a:r>
            <a:endParaRPr sz="2000" dirty="0">
              <a:latin typeface="+mj-lt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C00000"/>
                </a:solidFill>
                <a:latin typeface="+mj-lt"/>
                <a:cs typeface="Calibri"/>
              </a:rPr>
              <a:t>Services</a:t>
            </a:r>
            <a:endParaRPr sz="2000" dirty="0">
              <a:latin typeface="+mj-lt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95386" y="3358645"/>
            <a:ext cx="179451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588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6F2F9F"/>
                </a:solidFill>
                <a:latin typeface="+mj-lt"/>
                <a:cs typeface="Calibri"/>
              </a:rPr>
              <a:t>Information </a:t>
            </a:r>
            <a:r>
              <a:rPr sz="2000" b="1" dirty="0">
                <a:solidFill>
                  <a:srgbClr val="6F2F9F"/>
                </a:solidFill>
                <a:latin typeface="+mj-lt"/>
                <a:cs typeface="Calibri"/>
              </a:rPr>
              <a:t>Security</a:t>
            </a:r>
            <a:r>
              <a:rPr sz="2000" b="1" spc="-55" dirty="0">
                <a:solidFill>
                  <a:srgbClr val="6F2F9F"/>
                </a:solidFill>
                <a:latin typeface="+mj-lt"/>
                <a:cs typeface="Calibri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+mj-lt"/>
                <a:cs typeface="Calibri"/>
              </a:rPr>
              <a:t>Services</a:t>
            </a:r>
            <a:endParaRPr sz="2000" dirty="0">
              <a:latin typeface="+mj-lt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99330" y="1433445"/>
            <a:ext cx="434467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000" indent="-2520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31470" algn="l"/>
              </a:tabLst>
            </a:pP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End</a:t>
            </a:r>
            <a:r>
              <a:rPr sz="1800" spc="-2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–to</a:t>
            </a:r>
            <a:r>
              <a:rPr sz="1800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End</a:t>
            </a:r>
            <a:r>
              <a:rPr sz="1800" spc="-3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Services</a:t>
            </a:r>
            <a:endParaRPr sz="1800" dirty="0">
              <a:latin typeface="+mj-lt"/>
              <a:cs typeface="Calibri"/>
            </a:endParaRPr>
          </a:p>
          <a:p>
            <a:pPr marL="252000" indent="-2520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31470" algn="l"/>
              </a:tabLst>
            </a:pP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Diversified</a:t>
            </a:r>
            <a:r>
              <a:rPr sz="1800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Vendor/OEM</a:t>
            </a:r>
            <a:r>
              <a:rPr sz="1800" spc="-4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neutral</a:t>
            </a:r>
            <a:endParaRPr sz="1800" dirty="0">
              <a:latin typeface="+mj-lt"/>
              <a:cs typeface="Calibri"/>
            </a:endParaRPr>
          </a:p>
          <a:p>
            <a:pPr marL="252000" indent="-2520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83540" algn="l"/>
              </a:tabLst>
            </a:pP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Constant</a:t>
            </a:r>
            <a:r>
              <a:rPr sz="1800" spc="-5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Assessment</a:t>
            </a:r>
            <a:r>
              <a:rPr sz="1800" spc="-8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&amp;</a:t>
            </a:r>
            <a:r>
              <a:rPr sz="1800" spc="-5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Roadmap</a:t>
            </a:r>
            <a:r>
              <a:rPr sz="1800" spc="-5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+mj-lt"/>
                <a:cs typeface="Calibri"/>
              </a:rPr>
              <a:t>dev.</a:t>
            </a:r>
            <a:endParaRPr sz="1800" dirty="0">
              <a:latin typeface="+mj-lt"/>
              <a:cs typeface="Calibri"/>
            </a:endParaRPr>
          </a:p>
          <a:p>
            <a:pPr marL="252000" indent="-2520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31470" algn="l"/>
              </a:tabLst>
            </a:pP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Infra</a:t>
            </a:r>
            <a:r>
              <a:rPr sz="1800" spc="-10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Consolidation/</a:t>
            </a:r>
            <a:r>
              <a:rPr sz="1800" spc="-8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Optimization</a:t>
            </a:r>
            <a:endParaRPr sz="1800" dirty="0">
              <a:latin typeface="+mj-lt"/>
              <a:cs typeface="Calibri"/>
            </a:endParaRPr>
          </a:p>
          <a:p>
            <a:pPr marL="252000" indent="-2520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31470" algn="l"/>
              </a:tabLst>
            </a:pP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Quick</a:t>
            </a:r>
            <a:r>
              <a:rPr sz="1800" spc="-5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provisioning</a:t>
            </a:r>
            <a:r>
              <a:rPr sz="1800" spc="-4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/</a:t>
            </a:r>
            <a:r>
              <a:rPr sz="1800" spc="-4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Automation</a:t>
            </a:r>
            <a:endParaRPr sz="1800" dirty="0">
              <a:latin typeface="+mj-lt"/>
              <a:cs typeface="Calibri"/>
            </a:endParaRPr>
          </a:p>
          <a:p>
            <a:pPr marL="252000" indent="-2520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31470" algn="l"/>
              </a:tabLst>
            </a:pP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Flexible</a:t>
            </a:r>
            <a:r>
              <a:rPr sz="1800" spc="-4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Service</a:t>
            </a:r>
            <a:r>
              <a:rPr sz="1800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Delivery</a:t>
            </a:r>
            <a:r>
              <a:rPr sz="1800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models</a:t>
            </a:r>
            <a:endParaRPr sz="1800" dirty="0">
              <a:latin typeface="+mj-lt"/>
              <a:cs typeface="Calibri"/>
            </a:endParaRPr>
          </a:p>
          <a:p>
            <a:pPr marL="252000" indent="-2520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31470" algn="l"/>
              </a:tabLst>
            </a:pP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Strong</a:t>
            </a:r>
            <a:r>
              <a:rPr sz="1800" spc="-6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Alliance</a:t>
            </a:r>
            <a:r>
              <a:rPr sz="1800" spc="-5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/Partnerships</a:t>
            </a:r>
            <a:endParaRPr sz="1800" dirty="0">
              <a:latin typeface="+mj-lt"/>
              <a:cs typeface="Calibri"/>
            </a:endParaRPr>
          </a:p>
          <a:p>
            <a:pPr marL="252000" indent="-2520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331470" algn="l"/>
              </a:tabLst>
            </a:pP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ITIL</a:t>
            </a:r>
            <a:r>
              <a:rPr sz="1800" spc="-1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Compliance</a:t>
            </a:r>
            <a:endParaRPr sz="1800" dirty="0">
              <a:latin typeface="+mj-lt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9863" y="152793"/>
            <a:ext cx="7568235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marL="149860" algn="l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solidFill>
                  <a:schemeClr val="bg1"/>
                </a:solidFill>
                <a:latin typeface="+mj-lt"/>
              </a:rPr>
              <a:t>Our</a:t>
            </a:r>
            <a:r>
              <a:rPr sz="2400" spc="-5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Strengths</a:t>
            </a:r>
            <a:r>
              <a:rPr sz="2400" spc="-2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in</a:t>
            </a:r>
            <a:r>
              <a:rPr sz="2400" spc="-5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IT</a:t>
            </a:r>
            <a:r>
              <a:rPr sz="2400" spc="-5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Services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9872" y="1564133"/>
            <a:ext cx="1973580" cy="2967482"/>
            <a:chOff x="499872" y="1606296"/>
            <a:chExt cx="1973580" cy="2967482"/>
          </a:xfrm>
        </p:grpSpPr>
        <p:sp>
          <p:nvSpPr>
            <p:cNvPr id="4" name="object 4"/>
            <p:cNvSpPr/>
            <p:nvPr/>
          </p:nvSpPr>
          <p:spPr>
            <a:xfrm>
              <a:off x="499872" y="2052828"/>
              <a:ext cx="1973580" cy="2520950"/>
            </a:xfrm>
            <a:custGeom>
              <a:avLst/>
              <a:gdLst/>
              <a:ahLst/>
              <a:cxnLst/>
              <a:rect l="l" t="t" r="r" b="b"/>
              <a:pathLst>
                <a:path w="1973580" h="2520950">
                  <a:moveTo>
                    <a:pt x="0" y="2520696"/>
                  </a:moveTo>
                  <a:lnTo>
                    <a:pt x="1973579" y="2520696"/>
                  </a:lnTo>
                  <a:lnTo>
                    <a:pt x="1973579" y="0"/>
                  </a:lnTo>
                  <a:lnTo>
                    <a:pt x="0" y="0"/>
                  </a:lnTo>
                  <a:lnTo>
                    <a:pt x="0" y="2520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 dirty="0">
                <a:latin typeface="+mj-lt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251204" y="1606296"/>
              <a:ext cx="471170" cy="457200"/>
            </a:xfrm>
            <a:custGeom>
              <a:avLst/>
              <a:gdLst/>
              <a:ahLst/>
              <a:cxnLst/>
              <a:rect l="l" t="t" r="r" b="b"/>
              <a:pathLst>
                <a:path w="471169" h="457200">
                  <a:moveTo>
                    <a:pt x="235458" y="0"/>
                  </a:moveTo>
                  <a:lnTo>
                    <a:pt x="0" y="457199"/>
                  </a:lnTo>
                  <a:lnTo>
                    <a:pt x="470916" y="457199"/>
                  </a:lnTo>
                  <a:lnTo>
                    <a:pt x="235458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9295" y="2524554"/>
            <a:ext cx="1613535" cy="186118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8905" indent="-128905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128905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8000+</a:t>
            </a:r>
            <a:r>
              <a:rPr sz="1100" spc="-3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Servers</a:t>
            </a:r>
            <a:endParaRPr sz="1100">
              <a:latin typeface="+mj-lt"/>
              <a:cs typeface="Arial"/>
            </a:endParaRPr>
          </a:p>
          <a:p>
            <a:pPr marL="129539" marR="182880" indent="-129539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129539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30</a:t>
            </a:r>
            <a:r>
              <a:rPr sz="1100" spc="-2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PB+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of</a:t>
            </a:r>
            <a:r>
              <a:rPr sz="1100" spc="-2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Enterprise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storage</a:t>
            </a:r>
            <a:r>
              <a:rPr sz="1100" spc="-5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&amp;</a:t>
            </a:r>
            <a:r>
              <a:rPr sz="1100" spc="-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Backup</a:t>
            </a:r>
            <a:endParaRPr sz="1100">
              <a:latin typeface="+mj-lt"/>
              <a:cs typeface="Arial"/>
            </a:endParaRPr>
          </a:p>
          <a:p>
            <a:pPr marL="128905" indent="-128905">
              <a:lnSpc>
                <a:spcPct val="100000"/>
              </a:lnSpc>
              <a:spcBef>
                <a:spcPts val="850"/>
              </a:spcBef>
              <a:buFont typeface="Wingdings"/>
              <a:buChar char=""/>
              <a:tabLst>
                <a:tab pos="128905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4000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+</a:t>
            </a:r>
            <a:r>
              <a:rPr sz="1100" spc="-1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Routers</a:t>
            </a:r>
            <a:endParaRPr sz="1100">
              <a:latin typeface="+mj-lt"/>
              <a:cs typeface="Arial"/>
            </a:endParaRPr>
          </a:p>
          <a:p>
            <a:pPr marL="129539" marR="177165" indent="-129539">
              <a:lnSpc>
                <a:spcPct val="100000"/>
              </a:lnSpc>
              <a:spcBef>
                <a:spcPts val="925"/>
              </a:spcBef>
              <a:buFont typeface="Wingdings"/>
              <a:buChar char=""/>
              <a:tabLst>
                <a:tab pos="129539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10000+</a:t>
            </a:r>
            <a:r>
              <a:rPr sz="1100" spc="-4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Core,</a:t>
            </a:r>
            <a:r>
              <a:rPr sz="1100" spc="-3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Dist.</a:t>
            </a:r>
            <a:r>
              <a:rPr sz="1100" spc="-2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+mj-lt"/>
                <a:cs typeface="Arial"/>
              </a:rPr>
              <a:t>&amp;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Access</a:t>
            </a:r>
            <a:r>
              <a:rPr sz="1100" spc="-2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Switches</a:t>
            </a:r>
            <a:endParaRPr sz="1100">
              <a:latin typeface="+mj-lt"/>
              <a:cs typeface="Arial"/>
            </a:endParaRPr>
          </a:p>
          <a:p>
            <a:pPr marL="129539" marR="5080" indent="-129539">
              <a:lnSpc>
                <a:spcPct val="100000"/>
              </a:lnSpc>
              <a:spcBef>
                <a:spcPts val="720"/>
              </a:spcBef>
              <a:buFont typeface="Wingdings"/>
              <a:buChar char=""/>
              <a:tabLst>
                <a:tab pos="129539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600+</a:t>
            </a:r>
            <a:r>
              <a:rPr sz="1100" spc="-5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Security</a:t>
            </a:r>
            <a:r>
              <a:rPr sz="1100" spc="-4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Devices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+mj-lt"/>
                <a:cs typeface="Arial"/>
              </a:rPr>
              <a:t>,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firewalls,</a:t>
            </a:r>
            <a:r>
              <a:rPr sz="1100" spc="-5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IPS/IDS</a:t>
            </a:r>
            <a:r>
              <a:rPr sz="1100" spc="-7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+mj-lt"/>
                <a:cs typeface="Arial"/>
              </a:rPr>
              <a:t>etc</a:t>
            </a:r>
            <a:endParaRPr sz="1100">
              <a:latin typeface="+mj-lt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6662" y="2096770"/>
            <a:ext cx="131318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1F1F1"/>
                </a:solidFill>
                <a:latin typeface="+mj-lt"/>
                <a:cs typeface="Arial"/>
              </a:rPr>
              <a:t>IT</a:t>
            </a:r>
            <a:r>
              <a:rPr sz="1600" b="1" spc="-10" dirty="0">
                <a:solidFill>
                  <a:srgbClr val="F1F1F1"/>
                </a:solidFill>
                <a:latin typeface="+mj-lt"/>
                <a:cs typeface="Arial"/>
              </a:rPr>
              <a:t> Landscape</a:t>
            </a:r>
            <a:endParaRPr sz="1600" dirty="0">
              <a:latin typeface="+mj-lt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84703" y="1530604"/>
            <a:ext cx="1973580" cy="3022346"/>
            <a:chOff x="2584703" y="1572767"/>
            <a:chExt cx="1973580" cy="3022346"/>
          </a:xfrm>
        </p:grpSpPr>
        <p:sp>
          <p:nvSpPr>
            <p:cNvPr id="10" name="object 10"/>
            <p:cNvSpPr/>
            <p:nvPr/>
          </p:nvSpPr>
          <p:spPr>
            <a:xfrm>
              <a:off x="2584703" y="2028443"/>
              <a:ext cx="1973580" cy="2566670"/>
            </a:xfrm>
            <a:custGeom>
              <a:avLst/>
              <a:gdLst/>
              <a:ahLst/>
              <a:cxnLst/>
              <a:rect l="l" t="t" r="r" b="b"/>
              <a:pathLst>
                <a:path w="1973579" h="2566670">
                  <a:moveTo>
                    <a:pt x="1973580" y="0"/>
                  </a:moveTo>
                  <a:lnTo>
                    <a:pt x="0" y="0"/>
                  </a:lnTo>
                  <a:lnTo>
                    <a:pt x="0" y="2566416"/>
                  </a:lnTo>
                  <a:lnTo>
                    <a:pt x="1973580" y="2566416"/>
                  </a:lnTo>
                  <a:lnTo>
                    <a:pt x="197358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 dirty="0">
                <a:latin typeface="+mj-lt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322319" y="1572767"/>
              <a:ext cx="472440" cy="457200"/>
            </a:xfrm>
            <a:custGeom>
              <a:avLst/>
              <a:gdLst/>
              <a:ahLst/>
              <a:cxnLst/>
              <a:rect l="l" t="t" r="r" b="b"/>
              <a:pathLst>
                <a:path w="472439" h="457200">
                  <a:moveTo>
                    <a:pt x="236220" y="0"/>
                  </a:moveTo>
                  <a:lnTo>
                    <a:pt x="0" y="457199"/>
                  </a:lnTo>
                  <a:lnTo>
                    <a:pt x="472440" y="457199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7A3FB01-6233-6CA7-97E0-E630DDA6352C}"/>
              </a:ext>
            </a:extLst>
          </p:cNvPr>
          <p:cNvGrpSpPr/>
          <p:nvPr/>
        </p:nvGrpSpPr>
        <p:grpSpPr>
          <a:xfrm>
            <a:off x="903731" y="949961"/>
            <a:ext cx="1167384" cy="838200"/>
            <a:chOff x="903731" y="992124"/>
            <a:chExt cx="1167384" cy="838200"/>
          </a:xfrm>
        </p:grpSpPr>
        <p:pic>
          <p:nvPicPr>
            <p:cNvPr id="14" name="object 14"/>
            <p:cNvPicPr/>
            <p:nvPr/>
          </p:nvPicPr>
          <p:blipFill>
            <a:blip r:embed="rId2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903731" y="992124"/>
              <a:ext cx="1167384" cy="838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150619" y="1109472"/>
              <a:ext cx="385572" cy="46024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55013" y="1175766"/>
              <a:ext cx="253365" cy="327660"/>
            </a:xfrm>
            <a:custGeom>
              <a:avLst/>
              <a:gdLst/>
              <a:ahLst/>
              <a:cxnLst/>
              <a:rect l="l" t="t" r="r" b="b"/>
              <a:pathLst>
                <a:path w="253365" h="327659">
                  <a:moveTo>
                    <a:pt x="252984" y="0"/>
                  </a:moveTo>
                  <a:lnTo>
                    <a:pt x="0" y="0"/>
                  </a:lnTo>
                  <a:lnTo>
                    <a:pt x="0" y="327660"/>
                  </a:lnTo>
                  <a:lnTo>
                    <a:pt x="252984" y="327660"/>
                  </a:lnTo>
                  <a:lnTo>
                    <a:pt x="252984" y="0"/>
                  </a:lnTo>
                  <a:close/>
                </a:path>
              </a:pathLst>
            </a:custGeom>
            <a:solidFill>
              <a:srgbClr val="E36C09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255013" y="1175766"/>
              <a:ext cx="253365" cy="327660"/>
            </a:xfrm>
            <a:custGeom>
              <a:avLst/>
              <a:gdLst/>
              <a:ahLst/>
              <a:cxnLst/>
              <a:rect l="l" t="t" r="r" b="b"/>
              <a:pathLst>
                <a:path w="253365" h="327659">
                  <a:moveTo>
                    <a:pt x="0" y="327660"/>
                  </a:moveTo>
                  <a:lnTo>
                    <a:pt x="252984" y="327660"/>
                  </a:lnTo>
                  <a:lnTo>
                    <a:pt x="252984" y="0"/>
                  </a:lnTo>
                  <a:lnTo>
                    <a:pt x="0" y="0"/>
                  </a:lnTo>
                  <a:lnTo>
                    <a:pt x="0" y="327660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283207" y="1391031"/>
              <a:ext cx="193040" cy="0"/>
            </a:xfrm>
            <a:custGeom>
              <a:avLst/>
              <a:gdLst/>
              <a:ahLst/>
              <a:cxnLst/>
              <a:rect l="l" t="t" r="r" b="b"/>
              <a:pathLst>
                <a:path w="193040">
                  <a:moveTo>
                    <a:pt x="0" y="0"/>
                  </a:moveTo>
                  <a:lnTo>
                    <a:pt x="192912" y="0"/>
                  </a:lnTo>
                </a:path>
              </a:pathLst>
            </a:custGeom>
            <a:ln w="1447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291589" y="1349502"/>
              <a:ext cx="173355" cy="1905"/>
            </a:xfrm>
            <a:custGeom>
              <a:avLst/>
              <a:gdLst/>
              <a:ahLst/>
              <a:cxnLst/>
              <a:rect l="l" t="t" r="r" b="b"/>
              <a:pathLst>
                <a:path w="173355" h="1905">
                  <a:moveTo>
                    <a:pt x="0" y="1397"/>
                  </a:moveTo>
                  <a:lnTo>
                    <a:pt x="173101" y="0"/>
                  </a:lnTo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291589" y="1308354"/>
              <a:ext cx="173355" cy="1905"/>
            </a:xfrm>
            <a:custGeom>
              <a:avLst/>
              <a:gdLst/>
              <a:ahLst/>
              <a:cxnLst/>
              <a:rect l="l" t="t" r="r" b="b"/>
              <a:pathLst>
                <a:path w="173355" h="1905">
                  <a:moveTo>
                    <a:pt x="0" y="1397"/>
                  </a:moveTo>
                  <a:lnTo>
                    <a:pt x="173101" y="0"/>
                  </a:lnTo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293113" y="1262634"/>
              <a:ext cx="173355" cy="1905"/>
            </a:xfrm>
            <a:custGeom>
              <a:avLst/>
              <a:gdLst/>
              <a:ahLst/>
              <a:cxnLst/>
              <a:rect l="l" t="t" r="r" b="b"/>
              <a:pathLst>
                <a:path w="173355" h="1905">
                  <a:moveTo>
                    <a:pt x="0" y="1397"/>
                  </a:moveTo>
                  <a:lnTo>
                    <a:pt x="173101" y="0"/>
                  </a:lnTo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293113" y="1223010"/>
              <a:ext cx="173355" cy="1905"/>
            </a:xfrm>
            <a:custGeom>
              <a:avLst/>
              <a:gdLst/>
              <a:ahLst/>
              <a:cxnLst/>
              <a:rect l="l" t="t" r="r" b="b"/>
              <a:pathLst>
                <a:path w="173355" h="1905">
                  <a:moveTo>
                    <a:pt x="0" y="1397"/>
                  </a:moveTo>
                  <a:lnTo>
                    <a:pt x="173101" y="0"/>
                  </a:lnTo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74419" y="1318260"/>
              <a:ext cx="612648" cy="3444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144523" y="1385316"/>
              <a:ext cx="472439" cy="21031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238250" y="1497330"/>
              <a:ext cx="97790" cy="0"/>
            </a:xfrm>
            <a:custGeom>
              <a:avLst/>
              <a:gdLst/>
              <a:ahLst/>
              <a:cxnLst/>
              <a:rect l="l" t="t" r="r" b="b"/>
              <a:pathLst>
                <a:path w="97790">
                  <a:moveTo>
                    <a:pt x="0" y="0"/>
                  </a:moveTo>
                  <a:lnTo>
                    <a:pt x="97536" y="0"/>
                  </a:lnTo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328927" y="1194816"/>
              <a:ext cx="385572" cy="46024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433322" y="1261110"/>
              <a:ext cx="253365" cy="327660"/>
            </a:xfrm>
            <a:custGeom>
              <a:avLst/>
              <a:gdLst/>
              <a:ahLst/>
              <a:cxnLst/>
              <a:rect l="l" t="t" r="r" b="b"/>
              <a:pathLst>
                <a:path w="253364" h="327659">
                  <a:moveTo>
                    <a:pt x="252984" y="0"/>
                  </a:moveTo>
                  <a:lnTo>
                    <a:pt x="0" y="0"/>
                  </a:lnTo>
                  <a:lnTo>
                    <a:pt x="0" y="327660"/>
                  </a:lnTo>
                  <a:lnTo>
                    <a:pt x="252984" y="327660"/>
                  </a:lnTo>
                  <a:lnTo>
                    <a:pt x="252984" y="0"/>
                  </a:lnTo>
                  <a:close/>
                </a:path>
              </a:pathLst>
            </a:custGeom>
            <a:solidFill>
              <a:srgbClr val="E36C09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433322" y="1261110"/>
              <a:ext cx="253365" cy="327660"/>
            </a:xfrm>
            <a:custGeom>
              <a:avLst/>
              <a:gdLst/>
              <a:ahLst/>
              <a:cxnLst/>
              <a:rect l="l" t="t" r="r" b="b"/>
              <a:pathLst>
                <a:path w="253364" h="327659">
                  <a:moveTo>
                    <a:pt x="0" y="327660"/>
                  </a:moveTo>
                  <a:lnTo>
                    <a:pt x="252984" y="327660"/>
                  </a:lnTo>
                  <a:lnTo>
                    <a:pt x="252984" y="0"/>
                  </a:lnTo>
                  <a:lnTo>
                    <a:pt x="0" y="0"/>
                  </a:lnTo>
                  <a:lnTo>
                    <a:pt x="0" y="327660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461516" y="1475613"/>
              <a:ext cx="193040" cy="0"/>
            </a:xfrm>
            <a:custGeom>
              <a:avLst/>
              <a:gdLst/>
              <a:ahLst/>
              <a:cxnLst/>
              <a:rect l="l" t="t" r="r" b="b"/>
              <a:pathLst>
                <a:path w="193039">
                  <a:moveTo>
                    <a:pt x="0" y="0"/>
                  </a:moveTo>
                  <a:lnTo>
                    <a:pt x="192913" y="0"/>
                  </a:lnTo>
                </a:path>
              </a:pathLst>
            </a:custGeom>
            <a:ln w="1600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1469897" y="1434846"/>
              <a:ext cx="173355" cy="1905"/>
            </a:xfrm>
            <a:custGeom>
              <a:avLst/>
              <a:gdLst/>
              <a:ahLst/>
              <a:cxnLst/>
              <a:rect l="l" t="t" r="r" b="b"/>
              <a:pathLst>
                <a:path w="173355" h="1905">
                  <a:moveTo>
                    <a:pt x="0" y="1397"/>
                  </a:moveTo>
                  <a:lnTo>
                    <a:pt x="173101" y="0"/>
                  </a:lnTo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1469897" y="1392174"/>
              <a:ext cx="173355" cy="1905"/>
            </a:xfrm>
            <a:custGeom>
              <a:avLst/>
              <a:gdLst/>
              <a:ahLst/>
              <a:cxnLst/>
              <a:rect l="l" t="t" r="r" b="b"/>
              <a:pathLst>
                <a:path w="173355" h="1905">
                  <a:moveTo>
                    <a:pt x="0" y="1397"/>
                  </a:moveTo>
                  <a:lnTo>
                    <a:pt x="173101" y="0"/>
                  </a:lnTo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1471422" y="1347978"/>
              <a:ext cx="173355" cy="1905"/>
            </a:xfrm>
            <a:custGeom>
              <a:avLst/>
              <a:gdLst/>
              <a:ahLst/>
              <a:cxnLst/>
              <a:rect l="l" t="t" r="r" b="b"/>
              <a:pathLst>
                <a:path w="173355" h="1905">
                  <a:moveTo>
                    <a:pt x="0" y="1397"/>
                  </a:moveTo>
                  <a:lnTo>
                    <a:pt x="173101" y="0"/>
                  </a:lnTo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471422" y="1308354"/>
              <a:ext cx="173355" cy="1905"/>
            </a:xfrm>
            <a:custGeom>
              <a:avLst/>
              <a:gdLst/>
              <a:ahLst/>
              <a:cxnLst/>
              <a:rect l="l" t="t" r="r" b="b"/>
              <a:pathLst>
                <a:path w="173355" h="1905">
                  <a:moveTo>
                    <a:pt x="0" y="1397"/>
                  </a:moveTo>
                  <a:lnTo>
                    <a:pt x="173101" y="0"/>
                  </a:lnTo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252727" y="1403604"/>
              <a:ext cx="612647" cy="34442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322831" y="1470660"/>
              <a:ext cx="472440" cy="21031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416557" y="1582674"/>
              <a:ext cx="266700" cy="0"/>
            </a:xfrm>
            <a:custGeom>
              <a:avLst/>
              <a:gdLst/>
              <a:ahLst/>
              <a:cxnLst/>
              <a:rect l="l" t="t" r="r" b="b"/>
              <a:pathLst>
                <a:path w="266700">
                  <a:moveTo>
                    <a:pt x="0" y="0"/>
                  </a:moveTo>
                  <a:lnTo>
                    <a:pt x="266700" y="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37" name="object 37"/>
          <p:cNvSpPr/>
          <p:nvPr/>
        </p:nvSpPr>
        <p:spPr>
          <a:xfrm>
            <a:off x="621791" y="2458721"/>
            <a:ext cx="1786255" cy="1905"/>
          </a:xfrm>
          <a:custGeom>
            <a:avLst/>
            <a:gdLst/>
            <a:ahLst/>
            <a:cxnLst/>
            <a:rect l="l" t="t" r="r" b="b"/>
            <a:pathLst>
              <a:path w="1786255" h="1905">
                <a:moveTo>
                  <a:pt x="0" y="0"/>
                </a:moveTo>
                <a:lnTo>
                  <a:pt x="1786001" y="1651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676398" y="2662175"/>
            <a:ext cx="1271905" cy="14645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indent="-12890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32715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140+</a:t>
            </a:r>
            <a:r>
              <a:rPr sz="1100" spc="-2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Customers</a:t>
            </a:r>
            <a:endParaRPr sz="1100">
              <a:latin typeface="+mj-lt"/>
              <a:cs typeface="Arial"/>
            </a:endParaRPr>
          </a:p>
          <a:p>
            <a:pPr marL="128905" indent="-128905">
              <a:lnSpc>
                <a:spcPct val="100000"/>
              </a:lnSpc>
              <a:spcBef>
                <a:spcPts val="969"/>
              </a:spcBef>
              <a:buFont typeface="Wingdings"/>
              <a:buChar char=""/>
              <a:tabLst>
                <a:tab pos="128905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Very</a:t>
            </a:r>
            <a:r>
              <a:rPr sz="1100" spc="-2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large</a:t>
            </a:r>
            <a:r>
              <a:rPr sz="1100" spc="-3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to</a:t>
            </a:r>
            <a:r>
              <a:rPr sz="1100" spc="-3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+mj-lt"/>
                <a:cs typeface="Arial"/>
              </a:rPr>
              <a:t>SMB</a:t>
            </a:r>
            <a:endParaRPr sz="1100">
              <a:latin typeface="+mj-lt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"/>
            </a:pPr>
            <a:endParaRPr sz="1100">
              <a:latin typeface="+mj-lt"/>
              <a:cs typeface="Arial"/>
            </a:endParaRPr>
          </a:p>
          <a:p>
            <a:pPr marL="134620" indent="-128905">
              <a:lnSpc>
                <a:spcPct val="100000"/>
              </a:lnSpc>
              <a:buFont typeface="Wingdings"/>
              <a:buChar char=""/>
              <a:tabLst>
                <a:tab pos="134620" algn="l"/>
              </a:tabLst>
            </a:pPr>
            <a:r>
              <a:rPr sz="1050" spc="-10" dirty="0">
                <a:solidFill>
                  <a:srgbClr val="FFFFFF"/>
                </a:solidFill>
                <a:latin typeface="+mj-lt"/>
                <a:cs typeface="Arial"/>
              </a:rPr>
              <a:t>Government</a:t>
            </a:r>
            <a:endParaRPr sz="1050">
              <a:latin typeface="+mj-lt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Wingdings"/>
              <a:buChar char=""/>
            </a:pPr>
            <a:endParaRPr sz="1050">
              <a:latin typeface="+mj-lt"/>
              <a:cs typeface="Arial"/>
            </a:endParaRPr>
          </a:p>
          <a:p>
            <a:pPr marL="128905" indent="-12890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28905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Public</a:t>
            </a:r>
            <a:r>
              <a:rPr sz="1100" spc="-5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Sector</a:t>
            </a:r>
            <a:endParaRPr sz="1100">
              <a:latin typeface="+mj-lt"/>
              <a:cs typeface="Arial"/>
            </a:endParaRPr>
          </a:p>
          <a:p>
            <a:pPr marL="130175" indent="-128905">
              <a:lnSpc>
                <a:spcPct val="100000"/>
              </a:lnSpc>
              <a:spcBef>
                <a:spcPts val="910"/>
              </a:spcBef>
              <a:buFont typeface="Wingdings"/>
              <a:buChar char=""/>
              <a:tabLst>
                <a:tab pos="130175" algn="l"/>
              </a:tabLst>
            </a:pP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Enterprise</a:t>
            </a:r>
            <a:endParaRPr sz="1100">
              <a:latin typeface="+mj-lt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73843" y="2096770"/>
            <a:ext cx="10699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1F1F1"/>
                </a:solidFill>
                <a:latin typeface="+mj-lt"/>
                <a:cs typeface="Arial"/>
              </a:rPr>
              <a:t>Customers</a:t>
            </a:r>
            <a:endParaRPr sz="1600" dirty="0">
              <a:latin typeface="+mj-lt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643628" y="1564133"/>
            <a:ext cx="1973580" cy="2967482"/>
            <a:chOff x="4643628" y="1606296"/>
            <a:chExt cx="1973580" cy="2967482"/>
          </a:xfrm>
        </p:grpSpPr>
        <p:sp>
          <p:nvSpPr>
            <p:cNvPr id="41" name="object 41"/>
            <p:cNvSpPr/>
            <p:nvPr/>
          </p:nvSpPr>
          <p:spPr>
            <a:xfrm>
              <a:off x="4643628" y="2052828"/>
              <a:ext cx="1973580" cy="2520950"/>
            </a:xfrm>
            <a:custGeom>
              <a:avLst/>
              <a:gdLst/>
              <a:ahLst/>
              <a:cxnLst/>
              <a:rect l="l" t="t" r="r" b="b"/>
              <a:pathLst>
                <a:path w="1973579" h="2520950">
                  <a:moveTo>
                    <a:pt x="0" y="2520696"/>
                  </a:moveTo>
                  <a:lnTo>
                    <a:pt x="1973579" y="2520696"/>
                  </a:lnTo>
                  <a:lnTo>
                    <a:pt x="1973579" y="0"/>
                  </a:lnTo>
                  <a:lnTo>
                    <a:pt x="0" y="0"/>
                  </a:lnTo>
                  <a:lnTo>
                    <a:pt x="0" y="2520696"/>
                  </a:lnTo>
                  <a:close/>
                </a:path>
              </a:pathLst>
            </a:custGeom>
            <a:solidFill>
              <a:srgbClr val="205868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5394960" y="1606296"/>
              <a:ext cx="471170" cy="457200"/>
            </a:xfrm>
            <a:custGeom>
              <a:avLst/>
              <a:gdLst/>
              <a:ahLst/>
              <a:cxnLst/>
              <a:rect l="l" t="t" r="r" b="b"/>
              <a:pathLst>
                <a:path w="471170" h="457200">
                  <a:moveTo>
                    <a:pt x="235458" y="0"/>
                  </a:moveTo>
                  <a:lnTo>
                    <a:pt x="0" y="457199"/>
                  </a:lnTo>
                  <a:lnTo>
                    <a:pt x="470916" y="457199"/>
                  </a:lnTo>
                  <a:lnTo>
                    <a:pt x="235458" y="0"/>
                  </a:lnTo>
                  <a:close/>
                </a:path>
              </a:pathLst>
            </a:custGeom>
            <a:solidFill>
              <a:srgbClr val="205868"/>
            </a:solidFill>
          </p:spPr>
          <p:txBody>
            <a:bodyPr wrap="square" lIns="0" tIns="0" rIns="0" bIns="0" rtlCol="0"/>
            <a:lstStyle/>
            <a:p>
              <a:endParaRPr dirty="0">
                <a:latin typeface="+mj-lt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1A35F58-0D02-E595-BA83-3B954C4F2867}"/>
              </a:ext>
            </a:extLst>
          </p:cNvPr>
          <p:cNvGrpSpPr/>
          <p:nvPr/>
        </p:nvGrpSpPr>
        <p:grpSpPr>
          <a:xfrm>
            <a:off x="2974848" y="949961"/>
            <a:ext cx="1202436" cy="906780"/>
            <a:chOff x="2974848" y="992124"/>
            <a:chExt cx="1202436" cy="906780"/>
          </a:xfrm>
        </p:grpSpPr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74848" y="992124"/>
              <a:ext cx="1202436" cy="90678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26664" y="1040892"/>
              <a:ext cx="1077467" cy="77419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7080" y="1080516"/>
              <a:ext cx="603503" cy="59588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484626" y="1320546"/>
              <a:ext cx="321310" cy="1905"/>
            </a:xfrm>
            <a:custGeom>
              <a:avLst/>
              <a:gdLst/>
              <a:ahLst/>
              <a:cxnLst/>
              <a:rect l="l" t="t" r="r" b="b"/>
              <a:pathLst>
                <a:path w="321310" h="1905">
                  <a:moveTo>
                    <a:pt x="0" y="0"/>
                  </a:moveTo>
                  <a:lnTo>
                    <a:pt x="320929" y="1905"/>
                  </a:lnTo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3490722" y="1378458"/>
              <a:ext cx="321310" cy="1905"/>
            </a:xfrm>
            <a:custGeom>
              <a:avLst/>
              <a:gdLst/>
              <a:ahLst/>
              <a:cxnLst/>
              <a:rect l="l" t="t" r="r" b="b"/>
              <a:pathLst>
                <a:path w="321310" h="1905">
                  <a:moveTo>
                    <a:pt x="0" y="0"/>
                  </a:moveTo>
                  <a:lnTo>
                    <a:pt x="320929" y="1905"/>
                  </a:lnTo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3490722" y="1433322"/>
              <a:ext cx="321310" cy="1905"/>
            </a:xfrm>
            <a:custGeom>
              <a:avLst/>
              <a:gdLst/>
              <a:ahLst/>
              <a:cxnLst/>
              <a:rect l="l" t="t" r="r" b="b"/>
              <a:pathLst>
                <a:path w="321310" h="1905">
                  <a:moveTo>
                    <a:pt x="0" y="0"/>
                  </a:moveTo>
                  <a:lnTo>
                    <a:pt x="320929" y="1905"/>
                  </a:lnTo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3490722" y="1486662"/>
              <a:ext cx="321310" cy="1905"/>
            </a:xfrm>
            <a:custGeom>
              <a:avLst/>
              <a:gdLst/>
              <a:ahLst/>
              <a:cxnLst/>
              <a:rect l="l" t="t" r="r" b="b"/>
              <a:pathLst>
                <a:path w="321310" h="1905">
                  <a:moveTo>
                    <a:pt x="0" y="0"/>
                  </a:moveTo>
                  <a:lnTo>
                    <a:pt x="320929" y="1905"/>
                  </a:lnTo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3490722" y="1544574"/>
              <a:ext cx="321310" cy="1905"/>
            </a:xfrm>
            <a:custGeom>
              <a:avLst/>
              <a:gdLst/>
              <a:ahLst/>
              <a:cxnLst/>
              <a:rect l="l" t="t" r="r" b="b"/>
              <a:pathLst>
                <a:path w="321310" h="1905">
                  <a:moveTo>
                    <a:pt x="0" y="0"/>
                  </a:moveTo>
                  <a:lnTo>
                    <a:pt x="320929" y="1905"/>
                  </a:lnTo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51632" y="1080516"/>
              <a:ext cx="603504" cy="58064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327654" y="1314450"/>
              <a:ext cx="321310" cy="1905"/>
            </a:xfrm>
            <a:custGeom>
              <a:avLst/>
              <a:gdLst/>
              <a:ahLst/>
              <a:cxnLst/>
              <a:rect l="l" t="t" r="r" b="b"/>
              <a:pathLst>
                <a:path w="321310" h="1905">
                  <a:moveTo>
                    <a:pt x="0" y="0"/>
                  </a:moveTo>
                  <a:lnTo>
                    <a:pt x="320929" y="1905"/>
                  </a:lnTo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3333750" y="1370838"/>
              <a:ext cx="321310" cy="1905"/>
            </a:xfrm>
            <a:custGeom>
              <a:avLst/>
              <a:gdLst/>
              <a:ahLst/>
              <a:cxnLst/>
              <a:rect l="l" t="t" r="r" b="b"/>
              <a:pathLst>
                <a:path w="321310" h="1905">
                  <a:moveTo>
                    <a:pt x="0" y="0"/>
                  </a:moveTo>
                  <a:lnTo>
                    <a:pt x="320929" y="1905"/>
                  </a:lnTo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3333750" y="1424178"/>
              <a:ext cx="321310" cy="1905"/>
            </a:xfrm>
            <a:custGeom>
              <a:avLst/>
              <a:gdLst/>
              <a:ahLst/>
              <a:cxnLst/>
              <a:rect l="l" t="t" r="r" b="b"/>
              <a:pathLst>
                <a:path w="321310" h="1905">
                  <a:moveTo>
                    <a:pt x="0" y="0"/>
                  </a:moveTo>
                  <a:lnTo>
                    <a:pt x="320929" y="1905"/>
                  </a:lnTo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3335274" y="1475994"/>
              <a:ext cx="321310" cy="1905"/>
            </a:xfrm>
            <a:custGeom>
              <a:avLst/>
              <a:gdLst/>
              <a:ahLst/>
              <a:cxnLst/>
              <a:rect l="l" t="t" r="r" b="b"/>
              <a:pathLst>
                <a:path w="321310" h="1905">
                  <a:moveTo>
                    <a:pt x="0" y="0"/>
                  </a:moveTo>
                  <a:lnTo>
                    <a:pt x="320929" y="1905"/>
                  </a:lnTo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3335274" y="1532382"/>
              <a:ext cx="321310" cy="1905"/>
            </a:xfrm>
            <a:custGeom>
              <a:avLst/>
              <a:gdLst/>
              <a:ahLst/>
              <a:cxnLst/>
              <a:rect l="l" t="t" r="r" b="b"/>
              <a:pathLst>
                <a:path w="321310" h="1905">
                  <a:moveTo>
                    <a:pt x="0" y="0"/>
                  </a:moveTo>
                  <a:lnTo>
                    <a:pt x="320929" y="1905"/>
                  </a:lnTo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59" name="object 59"/>
          <p:cNvSpPr/>
          <p:nvPr/>
        </p:nvSpPr>
        <p:spPr>
          <a:xfrm>
            <a:off x="2622804" y="2458721"/>
            <a:ext cx="1786255" cy="1905"/>
          </a:xfrm>
          <a:custGeom>
            <a:avLst/>
            <a:gdLst/>
            <a:ahLst/>
            <a:cxnLst/>
            <a:rect l="l" t="t" r="r" b="b"/>
            <a:pathLst>
              <a:path w="1786254" h="1905">
                <a:moveTo>
                  <a:pt x="0" y="0"/>
                </a:moveTo>
                <a:lnTo>
                  <a:pt x="1786001" y="1651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728083" y="2563724"/>
            <a:ext cx="1699895" cy="16059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51765" indent="-128905">
              <a:lnSpc>
                <a:spcPct val="100000"/>
              </a:lnSpc>
              <a:spcBef>
                <a:spcPts val="880"/>
              </a:spcBef>
              <a:buFont typeface="Wingdings"/>
              <a:buChar char=""/>
              <a:tabLst>
                <a:tab pos="151765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3400+</a:t>
            </a:r>
            <a:r>
              <a:rPr sz="1100" spc="28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IT</a:t>
            </a:r>
            <a:r>
              <a:rPr sz="1100" spc="-2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resources</a:t>
            </a:r>
            <a:endParaRPr sz="1100" dirty="0">
              <a:latin typeface="+mj-lt"/>
              <a:cs typeface="Arial"/>
            </a:endParaRPr>
          </a:p>
          <a:p>
            <a:pPr marL="147320" marR="645160" indent="-128905">
              <a:lnSpc>
                <a:spcPct val="100000"/>
              </a:lnSpc>
              <a:spcBef>
                <a:spcPts val="780"/>
              </a:spcBef>
              <a:buFont typeface="Wingdings"/>
              <a:buChar char=""/>
              <a:tabLst>
                <a:tab pos="208915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20/58/22</a:t>
            </a:r>
            <a:r>
              <a:rPr sz="1100" spc="-3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%</a:t>
            </a:r>
            <a:r>
              <a:rPr sz="1100" spc="29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+mj-lt"/>
                <a:cs typeface="Arial"/>
              </a:rPr>
              <a:t>of 	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L1/L2/L3</a:t>
            </a:r>
            <a:r>
              <a:rPr sz="1100" spc="-3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split</a:t>
            </a:r>
            <a:endParaRPr sz="1100" dirty="0">
              <a:latin typeface="+mj-lt"/>
              <a:cs typeface="Arial"/>
            </a:endParaRPr>
          </a:p>
          <a:p>
            <a:pPr marL="128905" marR="5080" indent="-129539">
              <a:lnSpc>
                <a:spcPct val="100000"/>
              </a:lnSpc>
              <a:spcBef>
                <a:spcPts val="860"/>
              </a:spcBef>
              <a:buFont typeface="Wingdings"/>
              <a:buChar char=""/>
              <a:tabLst>
                <a:tab pos="128905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70%</a:t>
            </a:r>
            <a:r>
              <a:rPr sz="1100" spc="-2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of</a:t>
            </a:r>
            <a:r>
              <a:rPr sz="1100" spc="-2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the</a:t>
            </a:r>
            <a:r>
              <a:rPr sz="1100" spc="-3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resources</a:t>
            </a:r>
            <a:r>
              <a:rPr sz="1100" spc="-25" dirty="0">
                <a:solidFill>
                  <a:srgbClr val="FFFFFF"/>
                </a:solidFill>
                <a:latin typeface="+mj-lt"/>
                <a:cs typeface="Arial"/>
              </a:rPr>
              <a:t> are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certified</a:t>
            </a:r>
            <a:r>
              <a:rPr sz="1100" spc="-5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in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their</a:t>
            </a:r>
            <a:r>
              <a:rPr sz="1100" spc="-2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+mj-lt"/>
                <a:cs typeface="Arial"/>
              </a:rPr>
              <a:t>Tech 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domain</a:t>
            </a:r>
            <a:endParaRPr sz="1100" dirty="0">
              <a:latin typeface="+mj-lt"/>
              <a:cs typeface="Arial"/>
            </a:endParaRPr>
          </a:p>
          <a:p>
            <a:pPr marL="217804" lvl="1" indent="-128905">
              <a:lnSpc>
                <a:spcPct val="100000"/>
              </a:lnSpc>
              <a:spcBef>
                <a:spcPts val="780"/>
              </a:spcBef>
              <a:buFont typeface="Wingdings"/>
              <a:buChar char=""/>
              <a:tabLst>
                <a:tab pos="217804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90%</a:t>
            </a:r>
            <a:r>
              <a:rPr sz="1100" spc="-3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Retention</a:t>
            </a:r>
            <a:endParaRPr sz="1100" dirty="0">
              <a:latin typeface="+mj-lt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344795" y="2123187"/>
            <a:ext cx="6826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1F1F1"/>
                </a:solidFill>
                <a:latin typeface="+mj-lt"/>
                <a:cs typeface="Arial"/>
              </a:rPr>
              <a:t>People</a:t>
            </a:r>
            <a:endParaRPr sz="1600" dirty="0">
              <a:latin typeface="+mj-lt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720840" y="1564133"/>
            <a:ext cx="1973580" cy="2967482"/>
            <a:chOff x="6720840" y="1606296"/>
            <a:chExt cx="1973580" cy="2967482"/>
          </a:xfrm>
        </p:grpSpPr>
        <p:sp>
          <p:nvSpPr>
            <p:cNvPr id="63" name="object 63"/>
            <p:cNvSpPr/>
            <p:nvPr/>
          </p:nvSpPr>
          <p:spPr>
            <a:xfrm>
              <a:off x="6720840" y="2052828"/>
              <a:ext cx="1973580" cy="2520950"/>
            </a:xfrm>
            <a:custGeom>
              <a:avLst/>
              <a:gdLst/>
              <a:ahLst/>
              <a:cxnLst/>
              <a:rect l="l" t="t" r="r" b="b"/>
              <a:pathLst>
                <a:path w="1973579" h="2520950">
                  <a:moveTo>
                    <a:pt x="0" y="2520696"/>
                  </a:moveTo>
                  <a:lnTo>
                    <a:pt x="1973579" y="2520696"/>
                  </a:lnTo>
                  <a:lnTo>
                    <a:pt x="1973579" y="0"/>
                  </a:lnTo>
                  <a:lnTo>
                    <a:pt x="0" y="0"/>
                  </a:lnTo>
                  <a:lnTo>
                    <a:pt x="0" y="2520696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7470648" y="1606296"/>
              <a:ext cx="472440" cy="457200"/>
            </a:xfrm>
            <a:custGeom>
              <a:avLst/>
              <a:gdLst/>
              <a:ahLst/>
              <a:cxnLst/>
              <a:rect l="l" t="t" r="r" b="b"/>
              <a:pathLst>
                <a:path w="472440" h="457200">
                  <a:moveTo>
                    <a:pt x="236220" y="0"/>
                  </a:moveTo>
                  <a:lnTo>
                    <a:pt x="0" y="457199"/>
                  </a:lnTo>
                  <a:lnTo>
                    <a:pt x="472440" y="457199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rgbClr val="D99593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01A9641-D943-414D-E0CD-A8B1B784F8B5}"/>
              </a:ext>
            </a:extLst>
          </p:cNvPr>
          <p:cNvGrpSpPr/>
          <p:nvPr/>
        </p:nvGrpSpPr>
        <p:grpSpPr>
          <a:xfrm>
            <a:off x="5012436" y="949961"/>
            <a:ext cx="1219200" cy="912876"/>
            <a:chOff x="5012436" y="992124"/>
            <a:chExt cx="1219200" cy="912876"/>
          </a:xfrm>
        </p:grpSpPr>
        <p:pic>
          <p:nvPicPr>
            <p:cNvPr id="67" name="object 6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12436" y="992124"/>
              <a:ext cx="1219200" cy="91287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14544" y="1040892"/>
              <a:ext cx="1075944" cy="774191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13604" y="1193292"/>
              <a:ext cx="458724" cy="42519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38572" y="1203960"/>
              <a:ext cx="199644" cy="15544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27320" y="1264920"/>
              <a:ext cx="440436" cy="38404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71160" y="1159764"/>
              <a:ext cx="548639" cy="507491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14416" y="1171956"/>
              <a:ext cx="249936" cy="19202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75732" y="1248156"/>
              <a:ext cx="551688" cy="480060"/>
            </a:xfrm>
            <a:prstGeom prst="rect">
              <a:avLst/>
            </a:prstGeom>
          </p:spPr>
        </p:pic>
      </p:grpSp>
      <p:sp>
        <p:nvSpPr>
          <p:cNvPr id="75" name="object 75"/>
          <p:cNvSpPr/>
          <p:nvPr/>
        </p:nvSpPr>
        <p:spPr>
          <a:xfrm>
            <a:off x="4765548" y="2458721"/>
            <a:ext cx="1786255" cy="1905"/>
          </a:xfrm>
          <a:custGeom>
            <a:avLst/>
            <a:gdLst/>
            <a:ahLst/>
            <a:cxnLst/>
            <a:rect l="l" t="t" r="r" b="b"/>
            <a:pathLst>
              <a:path w="1786254" h="1905">
                <a:moveTo>
                  <a:pt x="0" y="0"/>
                </a:moveTo>
                <a:lnTo>
                  <a:pt x="1786001" y="1651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825742" y="2668525"/>
            <a:ext cx="174688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 indent="-12890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28905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14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Offices</a:t>
            </a:r>
            <a:r>
              <a:rPr sz="1100" spc="-4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across</a:t>
            </a:r>
            <a:r>
              <a:rPr sz="1100" spc="-1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+mj-lt"/>
                <a:cs typeface="Arial"/>
              </a:rPr>
              <a:t>india</a:t>
            </a:r>
            <a:endParaRPr sz="1100">
              <a:latin typeface="+mj-lt"/>
              <a:cs typeface="Arial"/>
            </a:endParaRPr>
          </a:p>
          <a:p>
            <a:pPr marL="586105" lvl="1" indent="-128905">
              <a:lnSpc>
                <a:spcPct val="100000"/>
              </a:lnSpc>
              <a:buFont typeface="Wingdings"/>
              <a:buChar char=""/>
              <a:tabLst>
                <a:tab pos="586105" algn="l"/>
              </a:tabLst>
            </a:pP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Metros</a:t>
            </a:r>
            <a:endParaRPr sz="1100">
              <a:latin typeface="+mj-lt"/>
              <a:cs typeface="Arial"/>
            </a:endParaRPr>
          </a:p>
          <a:p>
            <a:pPr marL="586105" lvl="1" indent="-12890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586105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Key</a:t>
            </a:r>
            <a:r>
              <a:rPr sz="1100" spc="-2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State</a:t>
            </a:r>
            <a:r>
              <a:rPr sz="1100" spc="-3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Capitals</a:t>
            </a:r>
            <a:endParaRPr sz="1100">
              <a:latin typeface="+mj-lt"/>
              <a:cs typeface="Arial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F0A128D-C524-B601-208B-0A55AEF3B367}"/>
              </a:ext>
            </a:extLst>
          </p:cNvPr>
          <p:cNvGrpSpPr/>
          <p:nvPr/>
        </p:nvGrpSpPr>
        <p:grpSpPr>
          <a:xfrm>
            <a:off x="7123176" y="949961"/>
            <a:ext cx="1210056" cy="900683"/>
            <a:chOff x="7123176" y="992124"/>
            <a:chExt cx="1210056" cy="900683"/>
          </a:xfrm>
        </p:grpSpPr>
        <p:pic>
          <p:nvPicPr>
            <p:cNvPr id="78" name="object 7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23176" y="992124"/>
              <a:ext cx="1210056" cy="900683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82612" y="1034796"/>
              <a:ext cx="1078992" cy="77571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61276" y="1030224"/>
              <a:ext cx="1088135" cy="716279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231380" y="1127760"/>
              <a:ext cx="946403" cy="550163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548372" y="1062228"/>
              <a:ext cx="449579" cy="614172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476744" y="1205484"/>
              <a:ext cx="509016" cy="158496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452360" y="1458468"/>
              <a:ext cx="509016" cy="158496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283196" y="1065276"/>
              <a:ext cx="859536" cy="614172"/>
            </a:xfrm>
            <a:prstGeom prst="rect">
              <a:avLst/>
            </a:prstGeom>
          </p:spPr>
        </p:pic>
      </p:grpSp>
      <p:sp>
        <p:nvSpPr>
          <p:cNvPr id="86" name="object 86"/>
          <p:cNvSpPr/>
          <p:nvPr/>
        </p:nvSpPr>
        <p:spPr>
          <a:xfrm>
            <a:off x="6836664" y="2458721"/>
            <a:ext cx="1786255" cy="1905"/>
          </a:xfrm>
          <a:custGeom>
            <a:avLst/>
            <a:gdLst/>
            <a:ahLst/>
            <a:cxnLst/>
            <a:rect l="l" t="t" r="r" b="b"/>
            <a:pathLst>
              <a:path w="1786254" h="1905">
                <a:moveTo>
                  <a:pt x="0" y="0"/>
                </a:moveTo>
                <a:lnTo>
                  <a:pt x="1786001" y="1651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791630" y="3481621"/>
            <a:ext cx="1743075" cy="864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 marR="5080" indent="-128905" algn="l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28905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100+</a:t>
            </a:r>
            <a:r>
              <a:rPr sz="1100" spc="254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support</a:t>
            </a:r>
            <a:r>
              <a:rPr sz="1100" spc="-5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locations</a:t>
            </a:r>
            <a:r>
              <a:rPr sz="1100" spc="28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+mj-lt"/>
                <a:cs typeface="Arial"/>
              </a:rPr>
              <a:t>–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with</a:t>
            </a:r>
            <a:r>
              <a:rPr sz="1100" spc="-2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resident</a:t>
            </a:r>
            <a:r>
              <a:rPr sz="1100" spc="-4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engineers</a:t>
            </a:r>
            <a:endParaRPr sz="1100" dirty="0">
              <a:latin typeface="+mj-lt"/>
              <a:cs typeface="Arial"/>
            </a:endParaRPr>
          </a:p>
          <a:p>
            <a:pPr marL="171450" indent="-171450" algn="l">
              <a:lnSpc>
                <a:spcPct val="100000"/>
              </a:lnSpc>
              <a:spcBef>
                <a:spcPts val="60"/>
              </a:spcBef>
              <a:buFont typeface="Arial" panose="020B0604020202020204" pitchFamily="34" charset="0"/>
              <a:buChar char="•"/>
            </a:pPr>
            <a:endParaRPr sz="1100" dirty="0">
              <a:latin typeface="+mj-lt"/>
              <a:cs typeface="Arial"/>
            </a:endParaRPr>
          </a:p>
          <a:p>
            <a:pPr marL="128905" marR="492759" indent="-129539" algn="l">
              <a:lnSpc>
                <a:spcPct val="100000"/>
              </a:lnSpc>
              <a:buFont typeface="Wingdings"/>
              <a:buChar char=""/>
              <a:tabLst>
                <a:tab pos="128905" algn="l"/>
              </a:tabLst>
            </a:pPr>
            <a:r>
              <a:rPr sz="1100" dirty="0">
                <a:solidFill>
                  <a:srgbClr val="FFFFFF"/>
                </a:solidFill>
                <a:latin typeface="+mj-lt"/>
                <a:cs typeface="Arial"/>
              </a:rPr>
              <a:t>35,000</a:t>
            </a:r>
            <a:r>
              <a:rPr sz="1100" spc="-2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+mj-lt"/>
                <a:cs typeface="Arial"/>
              </a:rPr>
              <a:t>franchisee locations</a:t>
            </a:r>
            <a:endParaRPr sz="1100" dirty="0">
              <a:latin typeface="+mj-lt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951395" y="2113153"/>
            <a:ext cx="174688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1F1F1"/>
                </a:solidFill>
                <a:latin typeface="+mj-lt"/>
                <a:cs typeface="Arial"/>
              </a:rPr>
              <a:t>Pan-</a:t>
            </a:r>
            <a:r>
              <a:rPr sz="1600" b="1" dirty="0">
                <a:solidFill>
                  <a:srgbClr val="F1F1F1"/>
                </a:solidFill>
                <a:latin typeface="+mj-lt"/>
                <a:cs typeface="Arial"/>
              </a:rPr>
              <a:t>India</a:t>
            </a:r>
            <a:r>
              <a:rPr sz="1600" b="1" spc="-20" dirty="0">
                <a:solidFill>
                  <a:srgbClr val="F1F1F1"/>
                </a:solidFill>
                <a:latin typeface="+mj-lt"/>
                <a:cs typeface="Arial"/>
              </a:rPr>
              <a:t> </a:t>
            </a:r>
            <a:r>
              <a:rPr sz="1600" b="1" spc="-10" dirty="0">
                <a:solidFill>
                  <a:srgbClr val="F1F1F1"/>
                </a:solidFill>
                <a:latin typeface="+mj-lt"/>
                <a:cs typeface="Arial"/>
              </a:rPr>
              <a:t>Presence</a:t>
            </a:r>
            <a:endParaRPr sz="1600" dirty="0">
              <a:latin typeface="+mj-lt"/>
              <a:cs typeface="Arial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3336" y="1291589"/>
            <a:ext cx="662940" cy="1884045"/>
            <a:chOff x="1054608" y="1264919"/>
            <a:chExt cx="662940" cy="1884045"/>
          </a:xfrm>
        </p:grpSpPr>
        <p:sp>
          <p:nvSpPr>
            <p:cNvPr id="3" name="object 3"/>
            <p:cNvSpPr/>
            <p:nvPr/>
          </p:nvSpPr>
          <p:spPr>
            <a:xfrm>
              <a:off x="1067562" y="1277873"/>
              <a:ext cx="637540" cy="1858010"/>
            </a:xfrm>
            <a:custGeom>
              <a:avLst/>
              <a:gdLst/>
              <a:ahLst/>
              <a:cxnLst/>
              <a:rect l="l" t="t" r="r" b="b"/>
              <a:pathLst>
                <a:path w="637539" h="1858010">
                  <a:moveTo>
                    <a:pt x="530860" y="0"/>
                  </a:moveTo>
                  <a:lnTo>
                    <a:pt x="106172" y="0"/>
                  </a:lnTo>
                  <a:lnTo>
                    <a:pt x="64845" y="8338"/>
                  </a:lnTo>
                  <a:lnTo>
                    <a:pt x="31097" y="31083"/>
                  </a:lnTo>
                  <a:lnTo>
                    <a:pt x="8343" y="64829"/>
                  </a:lnTo>
                  <a:lnTo>
                    <a:pt x="0" y="106172"/>
                  </a:lnTo>
                  <a:lnTo>
                    <a:pt x="0" y="1751584"/>
                  </a:lnTo>
                  <a:lnTo>
                    <a:pt x="8343" y="1792926"/>
                  </a:lnTo>
                  <a:lnTo>
                    <a:pt x="31097" y="1826672"/>
                  </a:lnTo>
                  <a:lnTo>
                    <a:pt x="64845" y="1849417"/>
                  </a:lnTo>
                  <a:lnTo>
                    <a:pt x="106172" y="1857756"/>
                  </a:lnTo>
                  <a:lnTo>
                    <a:pt x="530860" y="1857756"/>
                  </a:lnTo>
                  <a:lnTo>
                    <a:pt x="572202" y="1849417"/>
                  </a:lnTo>
                  <a:lnTo>
                    <a:pt x="605948" y="1826672"/>
                  </a:lnTo>
                  <a:lnTo>
                    <a:pt x="628693" y="1792926"/>
                  </a:lnTo>
                  <a:lnTo>
                    <a:pt x="637032" y="1751584"/>
                  </a:lnTo>
                  <a:lnTo>
                    <a:pt x="637032" y="106172"/>
                  </a:lnTo>
                  <a:lnTo>
                    <a:pt x="628693" y="64829"/>
                  </a:lnTo>
                  <a:lnTo>
                    <a:pt x="605948" y="31083"/>
                  </a:lnTo>
                  <a:lnTo>
                    <a:pt x="572202" y="8338"/>
                  </a:lnTo>
                  <a:lnTo>
                    <a:pt x="53086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067562" y="1277873"/>
              <a:ext cx="637540" cy="1858010"/>
            </a:xfrm>
            <a:custGeom>
              <a:avLst/>
              <a:gdLst/>
              <a:ahLst/>
              <a:cxnLst/>
              <a:rect l="l" t="t" r="r" b="b"/>
              <a:pathLst>
                <a:path w="637539" h="1858010">
                  <a:moveTo>
                    <a:pt x="0" y="106172"/>
                  </a:moveTo>
                  <a:lnTo>
                    <a:pt x="8343" y="64829"/>
                  </a:lnTo>
                  <a:lnTo>
                    <a:pt x="31097" y="31083"/>
                  </a:lnTo>
                  <a:lnTo>
                    <a:pt x="64845" y="8338"/>
                  </a:lnTo>
                  <a:lnTo>
                    <a:pt x="106172" y="0"/>
                  </a:lnTo>
                  <a:lnTo>
                    <a:pt x="530860" y="0"/>
                  </a:lnTo>
                  <a:lnTo>
                    <a:pt x="572202" y="8338"/>
                  </a:lnTo>
                  <a:lnTo>
                    <a:pt x="605948" y="31083"/>
                  </a:lnTo>
                  <a:lnTo>
                    <a:pt x="628693" y="64829"/>
                  </a:lnTo>
                  <a:lnTo>
                    <a:pt x="637032" y="106172"/>
                  </a:lnTo>
                  <a:lnTo>
                    <a:pt x="637032" y="1751584"/>
                  </a:lnTo>
                  <a:lnTo>
                    <a:pt x="628693" y="1792926"/>
                  </a:lnTo>
                  <a:lnTo>
                    <a:pt x="605948" y="1826672"/>
                  </a:lnTo>
                  <a:lnTo>
                    <a:pt x="572202" y="1849417"/>
                  </a:lnTo>
                  <a:lnTo>
                    <a:pt x="530860" y="1857756"/>
                  </a:lnTo>
                  <a:lnTo>
                    <a:pt x="106172" y="1857756"/>
                  </a:lnTo>
                  <a:lnTo>
                    <a:pt x="64845" y="1849417"/>
                  </a:lnTo>
                  <a:lnTo>
                    <a:pt x="31097" y="1826672"/>
                  </a:lnTo>
                  <a:lnTo>
                    <a:pt x="8343" y="1792926"/>
                  </a:lnTo>
                  <a:lnTo>
                    <a:pt x="0" y="1751584"/>
                  </a:lnTo>
                  <a:lnTo>
                    <a:pt x="0" y="10617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502685" y="1487042"/>
            <a:ext cx="208006" cy="149034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r>
              <a:rPr sz="1600" b="1" spc="-10" dirty="0">
                <a:solidFill>
                  <a:srgbClr val="FFFFFF"/>
                </a:solidFill>
                <a:latin typeface="+mj-lt"/>
                <a:cs typeface="Calibri"/>
              </a:rPr>
              <a:t>Platform</a:t>
            </a:r>
            <a:r>
              <a:rPr sz="1600" b="1" spc="-1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+mj-lt"/>
                <a:cs typeface="Calibri"/>
              </a:rPr>
              <a:t>Services</a:t>
            </a:r>
            <a:endParaRPr sz="1600">
              <a:latin typeface="+mj-lt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57172" y="1291589"/>
            <a:ext cx="704215" cy="1884045"/>
            <a:chOff x="2028444" y="1264919"/>
            <a:chExt cx="704215" cy="1884045"/>
          </a:xfrm>
        </p:grpSpPr>
        <p:sp>
          <p:nvSpPr>
            <p:cNvPr id="7" name="object 7"/>
            <p:cNvSpPr/>
            <p:nvPr/>
          </p:nvSpPr>
          <p:spPr>
            <a:xfrm>
              <a:off x="2041398" y="1277873"/>
              <a:ext cx="678180" cy="1858010"/>
            </a:xfrm>
            <a:custGeom>
              <a:avLst/>
              <a:gdLst/>
              <a:ahLst/>
              <a:cxnLst/>
              <a:rect l="l" t="t" r="r" b="b"/>
              <a:pathLst>
                <a:path w="678180" h="1858010">
                  <a:moveTo>
                    <a:pt x="565150" y="0"/>
                  </a:moveTo>
                  <a:lnTo>
                    <a:pt x="113030" y="0"/>
                  </a:lnTo>
                  <a:lnTo>
                    <a:pt x="69008" y="8874"/>
                  </a:lnTo>
                  <a:lnTo>
                    <a:pt x="33083" y="33083"/>
                  </a:lnTo>
                  <a:lnTo>
                    <a:pt x="8874" y="69008"/>
                  </a:lnTo>
                  <a:lnTo>
                    <a:pt x="0" y="113029"/>
                  </a:lnTo>
                  <a:lnTo>
                    <a:pt x="0" y="1744725"/>
                  </a:lnTo>
                  <a:lnTo>
                    <a:pt x="8874" y="1788747"/>
                  </a:lnTo>
                  <a:lnTo>
                    <a:pt x="33083" y="1824672"/>
                  </a:lnTo>
                  <a:lnTo>
                    <a:pt x="69008" y="1848881"/>
                  </a:lnTo>
                  <a:lnTo>
                    <a:pt x="113030" y="1857755"/>
                  </a:lnTo>
                  <a:lnTo>
                    <a:pt x="565150" y="1857755"/>
                  </a:lnTo>
                  <a:lnTo>
                    <a:pt x="609171" y="1848881"/>
                  </a:lnTo>
                  <a:lnTo>
                    <a:pt x="645096" y="1824672"/>
                  </a:lnTo>
                  <a:lnTo>
                    <a:pt x="669305" y="1788747"/>
                  </a:lnTo>
                  <a:lnTo>
                    <a:pt x="678180" y="1744725"/>
                  </a:lnTo>
                  <a:lnTo>
                    <a:pt x="678180" y="113029"/>
                  </a:lnTo>
                  <a:lnTo>
                    <a:pt x="669305" y="69008"/>
                  </a:lnTo>
                  <a:lnTo>
                    <a:pt x="645096" y="33083"/>
                  </a:lnTo>
                  <a:lnTo>
                    <a:pt x="609171" y="8874"/>
                  </a:lnTo>
                  <a:lnTo>
                    <a:pt x="56515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041398" y="1277873"/>
              <a:ext cx="678180" cy="1858010"/>
            </a:xfrm>
            <a:custGeom>
              <a:avLst/>
              <a:gdLst/>
              <a:ahLst/>
              <a:cxnLst/>
              <a:rect l="l" t="t" r="r" b="b"/>
              <a:pathLst>
                <a:path w="678180" h="1858010">
                  <a:moveTo>
                    <a:pt x="0" y="113029"/>
                  </a:moveTo>
                  <a:lnTo>
                    <a:pt x="8874" y="69008"/>
                  </a:lnTo>
                  <a:lnTo>
                    <a:pt x="33083" y="33083"/>
                  </a:lnTo>
                  <a:lnTo>
                    <a:pt x="69008" y="8874"/>
                  </a:lnTo>
                  <a:lnTo>
                    <a:pt x="113030" y="0"/>
                  </a:lnTo>
                  <a:lnTo>
                    <a:pt x="565150" y="0"/>
                  </a:lnTo>
                  <a:lnTo>
                    <a:pt x="609171" y="8874"/>
                  </a:lnTo>
                  <a:lnTo>
                    <a:pt x="645096" y="33083"/>
                  </a:lnTo>
                  <a:lnTo>
                    <a:pt x="669305" y="69008"/>
                  </a:lnTo>
                  <a:lnTo>
                    <a:pt x="678180" y="113029"/>
                  </a:lnTo>
                  <a:lnTo>
                    <a:pt x="678180" y="1744725"/>
                  </a:lnTo>
                  <a:lnTo>
                    <a:pt x="669305" y="1788747"/>
                  </a:lnTo>
                  <a:lnTo>
                    <a:pt x="645096" y="1824672"/>
                  </a:lnTo>
                  <a:lnTo>
                    <a:pt x="609171" y="1848881"/>
                  </a:lnTo>
                  <a:lnTo>
                    <a:pt x="565150" y="1857755"/>
                  </a:lnTo>
                  <a:lnTo>
                    <a:pt x="113030" y="1857755"/>
                  </a:lnTo>
                  <a:lnTo>
                    <a:pt x="69008" y="1848881"/>
                  </a:lnTo>
                  <a:lnTo>
                    <a:pt x="33083" y="1824672"/>
                  </a:lnTo>
                  <a:lnTo>
                    <a:pt x="8874" y="1788747"/>
                  </a:lnTo>
                  <a:lnTo>
                    <a:pt x="0" y="1744725"/>
                  </a:lnTo>
                  <a:lnTo>
                    <a:pt x="0" y="113029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497145" y="1534667"/>
            <a:ext cx="208006" cy="139636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r>
              <a:rPr sz="1600" b="1" spc="-10" dirty="0">
                <a:solidFill>
                  <a:srgbClr val="FFFFFF"/>
                </a:solidFill>
                <a:latin typeface="+mj-lt"/>
                <a:cs typeface="Calibri"/>
              </a:rPr>
              <a:t>Storage</a:t>
            </a:r>
            <a:r>
              <a:rPr sz="1600" b="1" spc="-5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+mj-lt"/>
                <a:cs typeface="Calibri"/>
              </a:rPr>
              <a:t>Services</a:t>
            </a:r>
            <a:endParaRPr sz="1600">
              <a:latin typeface="+mj-lt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81300" y="1291589"/>
            <a:ext cx="745490" cy="1884045"/>
            <a:chOff x="3052572" y="1264919"/>
            <a:chExt cx="745490" cy="1884045"/>
          </a:xfrm>
        </p:grpSpPr>
        <p:sp>
          <p:nvSpPr>
            <p:cNvPr id="11" name="object 11"/>
            <p:cNvSpPr/>
            <p:nvPr/>
          </p:nvSpPr>
          <p:spPr>
            <a:xfrm>
              <a:off x="3065526" y="1277873"/>
              <a:ext cx="719455" cy="1858010"/>
            </a:xfrm>
            <a:custGeom>
              <a:avLst/>
              <a:gdLst/>
              <a:ahLst/>
              <a:cxnLst/>
              <a:rect l="l" t="t" r="r" b="b"/>
              <a:pathLst>
                <a:path w="719454" h="1858010">
                  <a:moveTo>
                    <a:pt x="599440" y="0"/>
                  </a:moveTo>
                  <a:lnTo>
                    <a:pt x="119888" y="0"/>
                  </a:lnTo>
                  <a:lnTo>
                    <a:pt x="73241" y="9427"/>
                  </a:lnTo>
                  <a:lnTo>
                    <a:pt x="35131" y="35131"/>
                  </a:lnTo>
                  <a:lnTo>
                    <a:pt x="9427" y="73241"/>
                  </a:lnTo>
                  <a:lnTo>
                    <a:pt x="0" y="119887"/>
                  </a:lnTo>
                  <a:lnTo>
                    <a:pt x="0" y="1737868"/>
                  </a:lnTo>
                  <a:lnTo>
                    <a:pt x="9427" y="1784514"/>
                  </a:lnTo>
                  <a:lnTo>
                    <a:pt x="35131" y="1822624"/>
                  </a:lnTo>
                  <a:lnTo>
                    <a:pt x="73241" y="1848328"/>
                  </a:lnTo>
                  <a:lnTo>
                    <a:pt x="119888" y="1857756"/>
                  </a:lnTo>
                  <a:lnTo>
                    <a:pt x="599440" y="1857756"/>
                  </a:lnTo>
                  <a:lnTo>
                    <a:pt x="646086" y="1848328"/>
                  </a:lnTo>
                  <a:lnTo>
                    <a:pt x="684196" y="1822624"/>
                  </a:lnTo>
                  <a:lnTo>
                    <a:pt x="709900" y="1784514"/>
                  </a:lnTo>
                  <a:lnTo>
                    <a:pt x="719328" y="1737868"/>
                  </a:lnTo>
                  <a:lnTo>
                    <a:pt x="719328" y="119887"/>
                  </a:lnTo>
                  <a:lnTo>
                    <a:pt x="709900" y="73241"/>
                  </a:lnTo>
                  <a:lnTo>
                    <a:pt x="684196" y="35131"/>
                  </a:lnTo>
                  <a:lnTo>
                    <a:pt x="646086" y="9427"/>
                  </a:lnTo>
                  <a:lnTo>
                    <a:pt x="59944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065526" y="1277873"/>
              <a:ext cx="719455" cy="1858010"/>
            </a:xfrm>
            <a:custGeom>
              <a:avLst/>
              <a:gdLst/>
              <a:ahLst/>
              <a:cxnLst/>
              <a:rect l="l" t="t" r="r" b="b"/>
              <a:pathLst>
                <a:path w="719454" h="1858010">
                  <a:moveTo>
                    <a:pt x="0" y="119887"/>
                  </a:moveTo>
                  <a:lnTo>
                    <a:pt x="9427" y="73241"/>
                  </a:lnTo>
                  <a:lnTo>
                    <a:pt x="35131" y="35131"/>
                  </a:lnTo>
                  <a:lnTo>
                    <a:pt x="73241" y="9427"/>
                  </a:lnTo>
                  <a:lnTo>
                    <a:pt x="119888" y="0"/>
                  </a:lnTo>
                  <a:lnTo>
                    <a:pt x="599440" y="0"/>
                  </a:lnTo>
                  <a:lnTo>
                    <a:pt x="646086" y="9427"/>
                  </a:lnTo>
                  <a:lnTo>
                    <a:pt x="684196" y="35131"/>
                  </a:lnTo>
                  <a:lnTo>
                    <a:pt x="709900" y="73241"/>
                  </a:lnTo>
                  <a:lnTo>
                    <a:pt x="719328" y="119887"/>
                  </a:lnTo>
                  <a:lnTo>
                    <a:pt x="719328" y="1737868"/>
                  </a:lnTo>
                  <a:lnTo>
                    <a:pt x="709900" y="1784514"/>
                  </a:lnTo>
                  <a:lnTo>
                    <a:pt x="684196" y="1822624"/>
                  </a:lnTo>
                  <a:lnTo>
                    <a:pt x="646086" y="1848328"/>
                  </a:lnTo>
                  <a:lnTo>
                    <a:pt x="599440" y="1857756"/>
                  </a:lnTo>
                  <a:lnTo>
                    <a:pt x="119888" y="1857756"/>
                  </a:lnTo>
                  <a:lnTo>
                    <a:pt x="73241" y="1848328"/>
                  </a:lnTo>
                  <a:lnTo>
                    <a:pt x="35131" y="1822624"/>
                  </a:lnTo>
                  <a:lnTo>
                    <a:pt x="9427" y="1784514"/>
                  </a:lnTo>
                  <a:lnTo>
                    <a:pt x="0" y="1737868"/>
                  </a:lnTo>
                  <a:lnTo>
                    <a:pt x="0" y="119887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69732" y="1484883"/>
            <a:ext cx="397545" cy="149987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algn="ctr">
              <a:lnSpc>
                <a:spcPts val="1425"/>
              </a:lnSpc>
            </a:pPr>
            <a:r>
              <a:rPr sz="1600" b="1" spc="-10" dirty="0">
                <a:solidFill>
                  <a:srgbClr val="FFFFFF"/>
                </a:solidFill>
                <a:latin typeface="+mj-lt"/>
                <a:cs typeface="Calibri"/>
              </a:rPr>
              <a:t>Backup/Recovery</a:t>
            </a:r>
            <a:endParaRPr sz="1600">
              <a:latin typeface="+mj-lt"/>
              <a:cs typeface="Calibri"/>
            </a:endParaRPr>
          </a:p>
          <a:p>
            <a:pPr algn="ctr">
              <a:lnSpc>
                <a:spcPts val="1730"/>
              </a:lnSpc>
            </a:pPr>
            <a:r>
              <a:rPr sz="1600" b="1" dirty="0">
                <a:solidFill>
                  <a:srgbClr val="FFFFFF"/>
                </a:solidFill>
                <a:latin typeface="+mj-lt"/>
                <a:cs typeface="Calibri"/>
              </a:rPr>
              <a:t>/DR</a:t>
            </a:r>
            <a:r>
              <a:rPr sz="1600" b="1" spc="-2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+mj-lt"/>
                <a:cs typeface="Calibri"/>
              </a:rPr>
              <a:t>Services</a:t>
            </a:r>
            <a:endParaRPr sz="1600">
              <a:latin typeface="+mj-lt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81628" y="1291589"/>
            <a:ext cx="710565" cy="1884045"/>
            <a:chOff x="4152900" y="1264919"/>
            <a:chExt cx="710565" cy="1884045"/>
          </a:xfrm>
        </p:grpSpPr>
        <p:sp>
          <p:nvSpPr>
            <p:cNvPr id="15" name="object 15"/>
            <p:cNvSpPr/>
            <p:nvPr/>
          </p:nvSpPr>
          <p:spPr>
            <a:xfrm>
              <a:off x="4165853" y="1277873"/>
              <a:ext cx="684530" cy="1858010"/>
            </a:xfrm>
            <a:custGeom>
              <a:avLst/>
              <a:gdLst/>
              <a:ahLst/>
              <a:cxnLst/>
              <a:rect l="l" t="t" r="r" b="b"/>
              <a:pathLst>
                <a:path w="684529" h="1858010">
                  <a:moveTo>
                    <a:pt x="570230" y="0"/>
                  </a:moveTo>
                  <a:lnTo>
                    <a:pt x="114046" y="0"/>
                  </a:lnTo>
                  <a:lnTo>
                    <a:pt x="69651" y="8961"/>
                  </a:lnTo>
                  <a:lnTo>
                    <a:pt x="33401" y="33401"/>
                  </a:lnTo>
                  <a:lnTo>
                    <a:pt x="8961" y="69651"/>
                  </a:lnTo>
                  <a:lnTo>
                    <a:pt x="0" y="114046"/>
                  </a:lnTo>
                  <a:lnTo>
                    <a:pt x="0" y="1743710"/>
                  </a:lnTo>
                  <a:lnTo>
                    <a:pt x="8961" y="1788104"/>
                  </a:lnTo>
                  <a:lnTo>
                    <a:pt x="33401" y="1824355"/>
                  </a:lnTo>
                  <a:lnTo>
                    <a:pt x="69651" y="1848794"/>
                  </a:lnTo>
                  <a:lnTo>
                    <a:pt x="114046" y="1857756"/>
                  </a:lnTo>
                  <a:lnTo>
                    <a:pt x="570230" y="1857756"/>
                  </a:lnTo>
                  <a:lnTo>
                    <a:pt x="614624" y="1848794"/>
                  </a:lnTo>
                  <a:lnTo>
                    <a:pt x="650875" y="1824355"/>
                  </a:lnTo>
                  <a:lnTo>
                    <a:pt x="675314" y="1788104"/>
                  </a:lnTo>
                  <a:lnTo>
                    <a:pt x="684276" y="1743710"/>
                  </a:lnTo>
                  <a:lnTo>
                    <a:pt x="684276" y="114046"/>
                  </a:lnTo>
                  <a:lnTo>
                    <a:pt x="675314" y="69651"/>
                  </a:lnTo>
                  <a:lnTo>
                    <a:pt x="650875" y="33401"/>
                  </a:lnTo>
                  <a:lnTo>
                    <a:pt x="614624" y="8961"/>
                  </a:lnTo>
                  <a:lnTo>
                    <a:pt x="57023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165853" y="1277873"/>
              <a:ext cx="684530" cy="1858010"/>
            </a:xfrm>
            <a:custGeom>
              <a:avLst/>
              <a:gdLst/>
              <a:ahLst/>
              <a:cxnLst/>
              <a:rect l="l" t="t" r="r" b="b"/>
              <a:pathLst>
                <a:path w="684529" h="1858010">
                  <a:moveTo>
                    <a:pt x="0" y="114046"/>
                  </a:moveTo>
                  <a:lnTo>
                    <a:pt x="8961" y="69651"/>
                  </a:lnTo>
                  <a:lnTo>
                    <a:pt x="33401" y="33401"/>
                  </a:lnTo>
                  <a:lnTo>
                    <a:pt x="69651" y="8961"/>
                  </a:lnTo>
                  <a:lnTo>
                    <a:pt x="114046" y="0"/>
                  </a:lnTo>
                  <a:lnTo>
                    <a:pt x="570230" y="0"/>
                  </a:lnTo>
                  <a:lnTo>
                    <a:pt x="614624" y="8961"/>
                  </a:lnTo>
                  <a:lnTo>
                    <a:pt x="650875" y="33401"/>
                  </a:lnTo>
                  <a:lnTo>
                    <a:pt x="675314" y="69651"/>
                  </a:lnTo>
                  <a:lnTo>
                    <a:pt x="684276" y="114046"/>
                  </a:lnTo>
                  <a:lnTo>
                    <a:pt x="684276" y="1743710"/>
                  </a:lnTo>
                  <a:lnTo>
                    <a:pt x="675314" y="1788104"/>
                  </a:lnTo>
                  <a:lnTo>
                    <a:pt x="650875" y="1824355"/>
                  </a:lnTo>
                  <a:lnTo>
                    <a:pt x="614624" y="1848794"/>
                  </a:lnTo>
                  <a:lnTo>
                    <a:pt x="570230" y="1857756"/>
                  </a:lnTo>
                  <a:lnTo>
                    <a:pt x="114046" y="1857756"/>
                  </a:lnTo>
                  <a:lnTo>
                    <a:pt x="69651" y="1848794"/>
                  </a:lnTo>
                  <a:lnTo>
                    <a:pt x="33401" y="1824355"/>
                  </a:lnTo>
                  <a:lnTo>
                    <a:pt x="8961" y="1788104"/>
                  </a:lnTo>
                  <a:lnTo>
                    <a:pt x="0" y="1743710"/>
                  </a:lnTo>
                  <a:lnTo>
                    <a:pt x="0" y="114046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53220" y="1490472"/>
            <a:ext cx="397545" cy="14846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635" algn="ctr">
              <a:lnSpc>
                <a:spcPts val="1425"/>
              </a:lnSpc>
            </a:pPr>
            <a:r>
              <a:rPr sz="1600" b="1" dirty="0">
                <a:solidFill>
                  <a:srgbClr val="FFFFFF"/>
                </a:solidFill>
                <a:latin typeface="+mj-lt"/>
                <a:cs typeface="Calibri"/>
              </a:rPr>
              <a:t>DC</a:t>
            </a:r>
            <a:r>
              <a:rPr sz="1600" b="1" spc="35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+mj-lt"/>
                <a:cs typeface="Calibri"/>
              </a:rPr>
              <a:t>Network/</a:t>
            </a:r>
            <a:endParaRPr sz="1600">
              <a:latin typeface="+mj-lt"/>
              <a:cs typeface="Calibri"/>
            </a:endParaRPr>
          </a:p>
          <a:p>
            <a:pPr algn="ctr">
              <a:lnSpc>
                <a:spcPts val="1730"/>
              </a:lnSpc>
            </a:pPr>
            <a:r>
              <a:rPr sz="1600" b="1" dirty="0">
                <a:solidFill>
                  <a:srgbClr val="FFFFFF"/>
                </a:solidFill>
                <a:latin typeface="+mj-lt"/>
                <a:cs typeface="Calibri"/>
              </a:rPr>
              <a:t>Security</a:t>
            </a:r>
            <a:r>
              <a:rPr sz="1600" b="1" spc="30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+mj-lt"/>
                <a:cs typeface="Calibri"/>
              </a:rPr>
              <a:t>Services</a:t>
            </a:r>
            <a:endParaRPr sz="1600">
              <a:latin typeface="+mj-lt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424043" y="1291589"/>
            <a:ext cx="683260" cy="1884045"/>
            <a:chOff x="5195315" y="1264919"/>
            <a:chExt cx="683260" cy="1884045"/>
          </a:xfrm>
        </p:grpSpPr>
        <p:sp>
          <p:nvSpPr>
            <p:cNvPr id="19" name="object 19"/>
            <p:cNvSpPr/>
            <p:nvPr/>
          </p:nvSpPr>
          <p:spPr>
            <a:xfrm>
              <a:off x="5208269" y="1277873"/>
              <a:ext cx="657225" cy="1858010"/>
            </a:xfrm>
            <a:custGeom>
              <a:avLst/>
              <a:gdLst/>
              <a:ahLst/>
              <a:cxnLst/>
              <a:rect l="l" t="t" r="r" b="b"/>
              <a:pathLst>
                <a:path w="657225" h="1858010">
                  <a:moveTo>
                    <a:pt x="547370" y="0"/>
                  </a:moveTo>
                  <a:lnTo>
                    <a:pt x="109473" y="0"/>
                  </a:lnTo>
                  <a:lnTo>
                    <a:pt x="66865" y="8604"/>
                  </a:lnTo>
                  <a:lnTo>
                    <a:pt x="32067" y="32067"/>
                  </a:lnTo>
                  <a:lnTo>
                    <a:pt x="8604" y="66865"/>
                  </a:lnTo>
                  <a:lnTo>
                    <a:pt x="0" y="109474"/>
                  </a:lnTo>
                  <a:lnTo>
                    <a:pt x="0" y="1748282"/>
                  </a:lnTo>
                  <a:lnTo>
                    <a:pt x="8604" y="1790890"/>
                  </a:lnTo>
                  <a:lnTo>
                    <a:pt x="32067" y="1825688"/>
                  </a:lnTo>
                  <a:lnTo>
                    <a:pt x="66865" y="1849151"/>
                  </a:lnTo>
                  <a:lnTo>
                    <a:pt x="109473" y="1857756"/>
                  </a:lnTo>
                  <a:lnTo>
                    <a:pt x="547370" y="1857756"/>
                  </a:lnTo>
                  <a:lnTo>
                    <a:pt x="589978" y="1849151"/>
                  </a:lnTo>
                  <a:lnTo>
                    <a:pt x="624776" y="1825688"/>
                  </a:lnTo>
                  <a:lnTo>
                    <a:pt x="648239" y="1790890"/>
                  </a:lnTo>
                  <a:lnTo>
                    <a:pt x="656844" y="1748282"/>
                  </a:lnTo>
                  <a:lnTo>
                    <a:pt x="656844" y="109474"/>
                  </a:lnTo>
                  <a:lnTo>
                    <a:pt x="648239" y="66865"/>
                  </a:lnTo>
                  <a:lnTo>
                    <a:pt x="624776" y="32067"/>
                  </a:lnTo>
                  <a:lnTo>
                    <a:pt x="589978" y="8604"/>
                  </a:lnTo>
                  <a:lnTo>
                    <a:pt x="54737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5208269" y="1277873"/>
              <a:ext cx="657225" cy="1858010"/>
            </a:xfrm>
            <a:custGeom>
              <a:avLst/>
              <a:gdLst/>
              <a:ahLst/>
              <a:cxnLst/>
              <a:rect l="l" t="t" r="r" b="b"/>
              <a:pathLst>
                <a:path w="657225" h="1858010">
                  <a:moveTo>
                    <a:pt x="0" y="109474"/>
                  </a:moveTo>
                  <a:lnTo>
                    <a:pt x="8604" y="66865"/>
                  </a:lnTo>
                  <a:lnTo>
                    <a:pt x="32067" y="32067"/>
                  </a:lnTo>
                  <a:lnTo>
                    <a:pt x="66865" y="8604"/>
                  </a:lnTo>
                  <a:lnTo>
                    <a:pt x="109473" y="0"/>
                  </a:lnTo>
                  <a:lnTo>
                    <a:pt x="547370" y="0"/>
                  </a:lnTo>
                  <a:lnTo>
                    <a:pt x="589978" y="8604"/>
                  </a:lnTo>
                  <a:lnTo>
                    <a:pt x="624776" y="32067"/>
                  </a:lnTo>
                  <a:lnTo>
                    <a:pt x="648239" y="66865"/>
                  </a:lnTo>
                  <a:lnTo>
                    <a:pt x="656844" y="109474"/>
                  </a:lnTo>
                  <a:lnTo>
                    <a:pt x="656844" y="1748282"/>
                  </a:lnTo>
                  <a:lnTo>
                    <a:pt x="648239" y="1790890"/>
                  </a:lnTo>
                  <a:lnTo>
                    <a:pt x="624776" y="1825688"/>
                  </a:lnTo>
                  <a:lnTo>
                    <a:pt x="589978" y="1849151"/>
                  </a:lnTo>
                  <a:lnTo>
                    <a:pt x="547370" y="1857756"/>
                  </a:lnTo>
                  <a:lnTo>
                    <a:pt x="109473" y="1857756"/>
                  </a:lnTo>
                  <a:lnTo>
                    <a:pt x="66865" y="1849151"/>
                  </a:lnTo>
                  <a:lnTo>
                    <a:pt x="32067" y="1825688"/>
                  </a:lnTo>
                  <a:lnTo>
                    <a:pt x="8604" y="1790890"/>
                  </a:lnTo>
                  <a:lnTo>
                    <a:pt x="0" y="1748282"/>
                  </a:lnTo>
                  <a:lnTo>
                    <a:pt x="0" y="109474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493335" y="1663192"/>
            <a:ext cx="583108" cy="1140460"/>
          </a:xfrm>
          <a:prstGeom prst="rect">
            <a:avLst/>
          </a:prstGeom>
        </p:spPr>
        <p:txBody>
          <a:bodyPr vert="vert" wrap="square" lIns="0" tIns="8255" rIns="0" bIns="0" rtlCol="0">
            <a:spAutoFit/>
          </a:bodyPr>
          <a:lstStyle/>
          <a:p>
            <a:pPr marL="12700" marR="5080" indent="-1905" algn="ctr">
              <a:lnSpc>
                <a:spcPts val="1540"/>
              </a:lnSpc>
              <a:spcBef>
                <a:spcPts val="65"/>
              </a:spcBef>
            </a:pPr>
            <a:r>
              <a:rPr sz="1600" b="1" spc="-10" dirty="0">
                <a:solidFill>
                  <a:srgbClr val="FFFFFF"/>
                </a:solidFill>
                <a:latin typeface="+mj-lt"/>
                <a:cs typeface="Calibri"/>
              </a:rPr>
              <a:t>Database management Services</a:t>
            </a:r>
            <a:endParaRPr sz="1600">
              <a:latin typeface="+mj-lt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422263" y="1291589"/>
            <a:ext cx="723900" cy="1884045"/>
            <a:chOff x="6193535" y="1264919"/>
            <a:chExt cx="723900" cy="1884045"/>
          </a:xfrm>
        </p:grpSpPr>
        <p:sp>
          <p:nvSpPr>
            <p:cNvPr id="23" name="object 23"/>
            <p:cNvSpPr/>
            <p:nvPr/>
          </p:nvSpPr>
          <p:spPr>
            <a:xfrm>
              <a:off x="6206489" y="1277873"/>
              <a:ext cx="698500" cy="1858010"/>
            </a:xfrm>
            <a:custGeom>
              <a:avLst/>
              <a:gdLst/>
              <a:ahLst/>
              <a:cxnLst/>
              <a:rect l="l" t="t" r="r" b="b"/>
              <a:pathLst>
                <a:path w="698500" h="1858010">
                  <a:moveTo>
                    <a:pt x="581660" y="0"/>
                  </a:moveTo>
                  <a:lnTo>
                    <a:pt x="116332" y="0"/>
                  </a:lnTo>
                  <a:lnTo>
                    <a:pt x="71044" y="9140"/>
                  </a:lnTo>
                  <a:lnTo>
                    <a:pt x="34067" y="34067"/>
                  </a:lnTo>
                  <a:lnTo>
                    <a:pt x="9140" y="71044"/>
                  </a:lnTo>
                  <a:lnTo>
                    <a:pt x="0" y="116332"/>
                  </a:lnTo>
                  <a:lnTo>
                    <a:pt x="0" y="1741424"/>
                  </a:lnTo>
                  <a:lnTo>
                    <a:pt x="9140" y="1786711"/>
                  </a:lnTo>
                  <a:lnTo>
                    <a:pt x="34067" y="1823688"/>
                  </a:lnTo>
                  <a:lnTo>
                    <a:pt x="71044" y="1848615"/>
                  </a:lnTo>
                  <a:lnTo>
                    <a:pt x="116332" y="1857756"/>
                  </a:lnTo>
                  <a:lnTo>
                    <a:pt x="581660" y="1857756"/>
                  </a:lnTo>
                  <a:lnTo>
                    <a:pt x="626947" y="1848615"/>
                  </a:lnTo>
                  <a:lnTo>
                    <a:pt x="663924" y="1823688"/>
                  </a:lnTo>
                  <a:lnTo>
                    <a:pt x="688851" y="1786711"/>
                  </a:lnTo>
                  <a:lnTo>
                    <a:pt x="697992" y="1741424"/>
                  </a:lnTo>
                  <a:lnTo>
                    <a:pt x="697992" y="116332"/>
                  </a:lnTo>
                  <a:lnTo>
                    <a:pt x="688851" y="71044"/>
                  </a:lnTo>
                  <a:lnTo>
                    <a:pt x="663924" y="34067"/>
                  </a:lnTo>
                  <a:lnTo>
                    <a:pt x="626947" y="9140"/>
                  </a:lnTo>
                  <a:lnTo>
                    <a:pt x="581660" y="0"/>
                  </a:lnTo>
                  <a:close/>
                </a:path>
              </a:pathLst>
            </a:custGeom>
            <a:solidFill>
              <a:srgbClr val="C5D9F0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6206489" y="1277873"/>
              <a:ext cx="698500" cy="1858010"/>
            </a:xfrm>
            <a:custGeom>
              <a:avLst/>
              <a:gdLst/>
              <a:ahLst/>
              <a:cxnLst/>
              <a:rect l="l" t="t" r="r" b="b"/>
              <a:pathLst>
                <a:path w="698500" h="1858010">
                  <a:moveTo>
                    <a:pt x="0" y="116332"/>
                  </a:moveTo>
                  <a:lnTo>
                    <a:pt x="9140" y="71044"/>
                  </a:lnTo>
                  <a:lnTo>
                    <a:pt x="34067" y="34067"/>
                  </a:lnTo>
                  <a:lnTo>
                    <a:pt x="71044" y="9140"/>
                  </a:lnTo>
                  <a:lnTo>
                    <a:pt x="116332" y="0"/>
                  </a:lnTo>
                  <a:lnTo>
                    <a:pt x="581660" y="0"/>
                  </a:lnTo>
                  <a:lnTo>
                    <a:pt x="626947" y="9140"/>
                  </a:lnTo>
                  <a:lnTo>
                    <a:pt x="663924" y="34067"/>
                  </a:lnTo>
                  <a:lnTo>
                    <a:pt x="688851" y="71044"/>
                  </a:lnTo>
                  <a:lnTo>
                    <a:pt x="697992" y="116332"/>
                  </a:lnTo>
                  <a:lnTo>
                    <a:pt x="697992" y="1741424"/>
                  </a:lnTo>
                  <a:lnTo>
                    <a:pt x="688851" y="1786711"/>
                  </a:lnTo>
                  <a:lnTo>
                    <a:pt x="663924" y="1823688"/>
                  </a:lnTo>
                  <a:lnTo>
                    <a:pt x="626947" y="1848615"/>
                  </a:lnTo>
                  <a:lnTo>
                    <a:pt x="581660" y="1857756"/>
                  </a:lnTo>
                  <a:lnTo>
                    <a:pt x="116332" y="1857756"/>
                  </a:lnTo>
                  <a:lnTo>
                    <a:pt x="71044" y="1848615"/>
                  </a:lnTo>
                  <a:lnTo>
                    <a:pt x="34067" y="1823688"/>
                  </a:lnTo>
                  <a:lnTo>
                    <a:pt x="9140" y="1786711"/>
                  </a:lnTo>
                  <a:lnTo>
                    <a:pt x="0" y="1741424"/>
                  </a:lnTo>
                  <a:lnTo>
                    <a:pt x="0" y="116332"/>
                  </a:lnTo>
                  <a:close/>
                </a:path>
              </a:pathLst>
            </a:custGeom>
            <a:ln w="25907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601679" y="1711959"/>
            <a:ext cx="397545" cy="1042669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sz="1600" b="1" spc="-10" dirty="0">
                <a:latin typeface="+mj-lt"/>
                <a:cs typeface="Calibri"/>
              </a:rPr>
              <a:t>Middleware</a:t>
            </a:r>
            <a:endParaRPr sz="1600">
              <a:latin typeface="+mj-lt"/>
              <a:cs typeface="Calibri"/>
            </a:endParaRPr>
          </a:p>
          <a:p>
            <a:pPr algn="ctr">
              <a:lnSpc>
                <a:spcPts val="1730"/>
              </a:lnSpc>
            </a:pPr>
            <a:r>
              <a:rPr sz="1600" b="1" spc="-10" dirty="0">
                <a:latin typeface="+mj-lt"/>
                <a:cs typeface="Calibri"/>
              </a:rPr>
              <a:t>Services</a:t>
            </a:r>
            <a:endParaRPr sz="1600">
              <a:latin typeface="+mj-lt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0228" y="666750"/>
            <a:ext cx="7286625" cy="22057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400" b="1" dirty="0">
                <a:solidFill>
                  <a:srgbClr val="FFFFFF"/>
                </a:solidFill>
                <a:latin typeface="+mj-lt"/>
                <a:cs typeface="Calibri"/>
              </a:rPr>
              <a:t>Consulting/</a:t>
            </a:r>
            <a:r>
              <a:rPr sz="1400" b="1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+mj-lt"/>
                <a:cs typeface="Calibri"/>
              </a:rPr>
              <a:t>Engineering</a:t>
            </a:r>
            <a:r>
              <a:rPr sz="1400" b="1" spc="-3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+mj-lt"/>
                <a:cs typeface="Calibri"/>
              </a:rPr>
              <a:t>/</a:t>
            </a:r>
            <a:r>
              <a:rPr sz="1400" b="1" spc="-1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+mj-lt"/>
                <a:cs typeface="Calibri"/>
              </a:rPr>
              <a:t>Architecture</a:t>
            </a:r>
            <a:r>
              <a:rPr sz="1400" b="1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+mj-lt"/>
                <a:cs typeface="Calibri"/>
              </a:rPr>
              <a:t>Services</a:t>
            </a:r>
            <a:endParaRPr sz="1400" dirty="0">
              <a:latin typeface="+mj-lt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0228" y="989837"/>
            <a:ext cx="7286625" cy="223138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7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1400" b="1" spc="-10" dirty="0">
                <a:solidFill>
                  <a:srgbClr val="FFFFFF"/>
                </a:solidFill>
                <a:latin typeface="+mj-lt"/>
                <a:cs typeface="Calibri"/>
              </a:rPr>
              <a:t>Build/Migrate/Upgrade</a:t>
            </a:r>
            <a:r>
              <a:rPr sz="1400" b="1" spc="-3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+mj-lt"/>
                <a:cs typeface="Calibri"/>
              </a:rPr>
              <a:t>(</a:t>
            </a:r>
            <a:r>
              <a:rPr sz="1400" b="1" spc="3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+mj-lt"/>
                <a:cs typeface="Calibri"/>
              </a:rPr>
              <a:t>DC</a:t>
            </a:r>
            <a:r>
              <a:rPr sz="1400" b="1" spc="1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+mj-lt"/>
                <a:cs typeface="Calibri"/>
              </a:rPr>
              <a:t>Transformation) </a:t>
            </a:r>
            <a:r>
              <a:rPr sz="1400" b="1" spc="-10" dirty="0">
                <a:solidFill>
                  <a:srgbClr val="FFFFFF"/>
                </a:solidFill>
                <a:latin typeface="+mj-lt"/>
                <a:cs typeface="Calibri"/>
              </a:rPr>
              <a:t>Services</a:t>
            </a:r>
            <a:endParaRPr sz="1400">
              <a:latin typeface="+mj-lt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-1" y="67436"/>
            <a:ext cx="7543801" cy="39116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+mj-lt"/>
              </a:rPr>
              <a:t>  </a:t>
            </a:r>
            <a:r>
              <a:rPr sz="2400" dirty="0">
                <a:solidFill>
                  <a:schemeClr val="bg1"/>
                </a:solidFill>
                <a:latin typeface="+mj-lt"/>
              </a:rPr>
              <a:t>DC</a:t>
            </a:r>
            <a:r>
              <a:rPr sz="2400" spc="-4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20" dirty="0">
                <a:solidFill>
                  <a:schemeClr val="bg1"/>
                </a:solidFill>
                <a:latin typeface="+mj-lt"/>
              </a:rPr>
              <a:t>Integrated</a:t>
            </a:r>
            <a:r>
              <a:rPr sz="2400" spc="-3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Service</a:t>
            </a:r>
            <a:r>
              <a:rPr sz="2400" spc="-6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Delivery</a:t>
            </a:r>
            <a:endParaRPr sz="24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379335" y="1291589"/>
            <a:ext cx="723900" cy="1854835"/>
            <a:chOff x="7150607" y="1264919"/>
            <a:chExt cx="723900" cy="1854835"/>
          </a:xfrm>
        </p:grpSpPr>
        <p:sp>
          <p:nvSpPr>
            <p:cNvPr id="30" name="object 30"/>
            <p:cNvSpPr/>
            <p:nvPr/>
          </p:nvSpPr>
          <p:spPr>
            <a:xfrm>
              <a:off x="7163561" y="1277873"/>
              <a:ext cx="698500" cy="1828800"/>
            </a:xfrm>
            <a:custGeom>
              <a:avLst/>
              <a:gdLst/>
              <a:ahLst/>
              <a:cxnLst/>
              <a:rect l="l" t="t" r="r" b="b"/>
              <a:pathLst>
                <a:path w="698500" h="1828800">
                  <a:moveTo>
                    <a:pt x="581660" y="0"/>
                  </a:moveTo>
                  <a:lnTo>
                    <a:pt x="116332" y="0"/>
                  </a:lnTo>
                  <a:lnTo>
                    <a:pt x="71044" y="9140"/>
                  </a:lnTo>
                  <a:lnTo>
                    <a:pt x="34067" y="34067"/>
                  </a:lnTo>
                  <a:lnTo>
                    <a:pt x="9140" y="71044"/>
                  </a:lnTo>
                  <a:lnTo>
                    <a:pt x="0" y="116332"/>
                  </a:lnTo>
                  <a:lnTo>
                    <a:pt x="0" y="1712468"/>
                  </a:lnTo>
                  <a:lnTo>
                    <a:pt x="9140" y="1757755"/>
                  </a:lnTo>
                  <a:lnTo>
                    <a:pt x="34067" y="1794732"/>
                  </a:lnTo>
                  <a:lnTo>
                    <a:pt x="71044" y="1819659"/>
                  </a:lnTo>
                  <a:lnTo>
                    <a:pt x="116332" y="1828800"/>
                  </a:lnTo>
                  <a:lnTo>
                    <a:pt x="581660" y="1828800"/>
                  </a:lnTo>
                  <a:lnTo>
                    <a:pt x="626947" y="1819659"/>
                  </a:lnTo>
                  <a:lnTo>
                    <a:pt x="663924" y="1794732"/>
                  </a:lnTo>
                  <a:lnTo>
                    <a:pt x="688851" y="1757755"/>
                  </a:lnTo>
                  <a:lnTo>
                    <a:pt x="697992" y="1712468"/>
                  </a:lnTo>
                  <a:lnTo>
                    <a:pt x="697992" y="116332"/>
                  </a:lnTo>
                  <a:lnTo>
                    <a:pt x="688851" y="71044"/>
                  </a:lnTo>
                  <a:lnTo>
                    <a:pt x="663924" y="34067"/>
                  </a:lnTo>
                  <a:lnTo>
                    <a:pt x="626947" y="9140"/>
                  </a:lnTo>
                  <a:lnTo>
                    <a:pt x="581660" y="0"/>
                  </a:lnTo>
                  <a:close/>
                </a:path>
              </a:pathLst>
            </a:custGeom>
            <a:solidFill>
              <a:srgbClr val="C5D9F0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7163561" y="1277873"/>
              <a:ext cx="698500" cy="1828800"/>
            </a:xfrm>
            <a:custGeom>
              <a:avLst/>
              <a:gdLst/>
              <a:ahLst/>
              <a:cxnLst/>
              <a:rect l="l" t="t" r="r" b="b"/>
              <a:pathLst>
                <a:path w="698500" h="1828800">
                  <a:moveTo>
                    <a:pt x="0" y="116332"/>
                  </a:moveTo>
                  <a:lnTo>
                    <a:pt x="9140" y="71044"/>
                  </a:lnTo>
                  <a:lnTo>
                    <a:pt x="34067" y="34067"/>
                  </a:lnTo>
                  <a:lnTo>
                    <a:pt x="71044" y="9140"/>
                  </a:lnTo>
                  <a:lnTo>
                    <a:pt x="116332" y="0"/>
                  </a:lnTo>
                  <a:lnTo>
                    <a:pt x="581660" y="0"/>
                  </a:lnTo>
                  <a:lnTo>
                    <a:pt x="626947" y="9140"/>
                  </a:lnTo>
                  <a:lnTo>
                    <a:pt x="663924" y="34067"/>
                  </a:lnTo>
                  <a:lnTo>
                    <a:pt x="688851" y="71044"/>
                  </a:lnTo>
                  <a:lnTo>
                    <a:pt x="697992" y="116332"/>
                  </a:lnTo>
                  <a:lnTo>
                    <a:pt x="697992" y="1712468"/>
                  </a:lnTo>
                  <a:lnTo>
                    <a:pt x="688851" y="1757755"/>
                  </a:lnTo>
                  <a:lnTo>
                    <a:pt x="663924" y="1794732"/>
                  </a:lnTo>
                  <a:lnTo>
                    <a:pt x="626947" y="1819659"/>
                  </a:lnTo>
                  <a:lnTo>
                    <a:pt x="581660" y="1828800"/>
                  </a:lnTo>
                  <a:lnTo>
                    <a:pt x="116332" y="1828800"/>
                  </a:lnTo>
                  <a:lnTo>
                    <a:pt x="71044" y="1819659"/>
                  </a:lnTo>
                  <a:lnTo>
                    <a:pt x="34067" y="1794732"/>
                  </a:lnTo>
                  <a:lnTo>
                    <a:pt x="9140" y="1757755"/>
                  </a:lnTo>
                  <a:lnTo>
                    <a:pt x="0" y="1712468"/>
                  </a:lnTo>
                  <a:lnTo>
                    <a:pt x="0" y="11633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457267" y="1642491"/>
            <a:ext cx="595804" cy="1152525"/>
          </a:xfrm>
          <a:prstGeom prst="rect">
            <a:avLst/>
          </a:prstGeom>
        </p:spPr>
        <p:txBody>
          <a:bodyPr vert="vert" wrap="square" lIns="0" tIns="10160" rIns="0" bIns="0" rtlCol="0">
            <a:spAutoFit/>
          </a:bodyPr>
          <a:lstStyle/>
          <a:p>
            <a:pPr marL="12700" marR="5080" indent="-635" algn="ctr">
              <a:lnSpc>
                <a:spcPct val="80000"/>
              </a:lnSpc>
              <a:spcBef>
                <a:spcPts val="80"/>
              </a:spcBef>
            </a:pPr>
            <a:r>
              <a:rPr sz="1600" b="1" spc="-10" dirty="0">
                <a:latin typeface="+mj-lt"/>
                <a:cs typeface="Calibri"/>
              </a:rPr>
              <a:t>Application Management Services</a:t>
            </a:r>
            <a:endParaRPr sz="1600">
              <a:latin typeface="+mj-lt"/>
              <a:cs typeface="Calibri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097753"/>
              </p:ext>
            </p:extLst>
          </p:nvPr>
        </p:nvGraphicFramePr>
        <p:xfrm>
          <a:off x="871855" y="3240786"/>
          <a:ext cx="7357745" cy="1537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57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>
                        <a:lnSpc>
                          <a:spcPts val="166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24/7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Monitoring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DC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Operations</a:t>
                      </a:r>
                      <a:r>
                        <a:rPr sz="1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Services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89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Infra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mgmt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tools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Service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14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(ITSM)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Services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54610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6983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24/7 DC Building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Services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758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24/7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Physical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housekeeping</a:t>
                      </a:r>
                      <a:r>
                        <a:rPr sz="14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services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2B36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Alliance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Partnerships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Leading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OEM/Vendors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B3A1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" y="114408"/>
            <a:ext cx="7543800" cy="3827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13335" rIns="0" bIns="0" rtlCol="0">
            <a:spAutoFit/>
          </a:bodyPr>
          <a:lstStyle/>
          <a:p>
            <a:pPr marL="262890" algn="l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chemeClr val="bg1"/>
                </a:solidFill>
                <a:latin typeface="+mj-lt"/>
              </a:rPr>
              <a:t>Information</a:t>
            </a:r>
            <a:r>
              <a:rPr sz="2400" spc="-10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Security</a:t>
            </a:r>
            <a:r>
              <a:rPr sz="2400" spc="-114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system</a:t>
            </a:r>
            <a:r>
              <a:rPr sz="2400" spc="-10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for</a:t>
            </a:r>
            <a:r>
              <a:rPr sz="2400" spc="-9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clients</a:t>
            </a:r>
            <a:endParaRPr sz="24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59520" y="896923"/>
            <a:ext cx="4624070" cy="3749040"/>
            <a:chOff x="2170176" y="1021080"/>
            <a:chExt cx="4624070" cy="3749040"/>
          </a:xfrm>
        </p:grpSpPr>
        <p:sp>
          <p:nvSpPr>
            <p:cNvPr id="4" name="object 4"/>
            <p:cNvSpPr/>
            <p:nvPr/>
          </p:nvSpPr>
          <p:spPr>
            <a:xfrm>
              <a:off x="3686556" y="2391155"/>
              <a:ext cx="1591310" cy="1009015"/>
            </a:xfrm>
            <a:custGeom>
              <a:avLst/>
              <a:gdLst/>
              <a:ahLst/>
              <a:cxnLst/>
              <a:rect l="l" t="t" r="r" b="b"/>
              <a:pathLst>
                <a:path w="1591310" h="1009014">
                  <a:moveTo>
                    <a:pt x="795528" y="0"/>
                  </a:moveTo>
                  <a:lnTo>
                    <a:pt x="736149" y="1383"/>
                  </a:lnTo>
                  <a:lnTo>
                    <a:pt x="677956" y="5468"/>
                  </a:lnTo>
                  <a:lnTo>
                    <a:pt x="621104" y="12158"/>
                  </a:lnTo>
                  <a:lnTo>
                    <a:pt x="565746" y="21354"/>
                  </a:lnTo>
                  <a:lnTo>
                    <a:pt x="512035" y="32960"/>
                  </a:lnTo>
                  <a:lnTo>
                    <a:pt x="460126" y="46877"/>
                  </a:lnTo>
                  <a:lnTo>
                    <a:pt x="410172" y="63009"/>
                  </a:lnTo>
                  <a:lnTo>
                    <a:pt x="362327" y="81258"/>
                  </a:lnTo>
                  <a:lnTo>
                    <a:pt x="316744" y="101527"/>
                  </a:lnTo>
                  <a:lnTo>
                    <a:pt x="273578" y="123717"/>
                  </a:lnTo>
                  <a:lnTo>
                    <a:pt x="232981" y="147732"/>
                  </a:lnTo>
                  <a:lnTo>
                    <a:pt x="195108" y="173474"/>
                  </a:lnTo>
                  <a:lnTo>
                    <a:pt x="160113" y="200846"/>
                  </a:lnTo>
                  <a:lnTo>
                    <a:pt x="128148" y="229750"/>
                  </a:lnTo>
                  <a:lnTo>
                    <a:pt x="99369" y="260089"/>
                  </a:lnTo>
                  <a:lnTo>
                    <a:pt x="73928" y="291765"/>
                  </a:lnTo>
                  <a:lnTo>
                    <a:pt x="51979" y="324680"/>
                  </a:lnTo>
                  <a:lnTo>
                    <a:pt x="33676" y="358738"/>
                  </a:lnTo>
                  <a:lnTo>
                    <a:pt x="8624" y="429891"/>
                  </a:lnTo>
                  <a:lnTo>
                    <a:pt x="0" y="504444"/>
                  </a:lnTo>
                  <a:lnTo>
                    <a:pt x="2181" y="542096"/>
                  </a:lnTo>
                  <a:lnTo>
                    <a:pt x="19173" y="615046"/>
                  </a:lnTo>
                  <a:lnTo>
                    <a:pt x="51979" y="684207"/>
                  </a:lnTo>
                  <a:lnTo>
                    <a:pt x="73928" y="717122"/>
                  </a:lnTo>
                  <a:lnTo>
                    <a:pt x="99369" y="748798"/>
                  </a:lnTo>
                  <a:lnTo>
                    <a:pt x="128148" y="779137"/>
                  </a:lnTo>
                  <a:lnTo>
                    <a:pt x="160113" y="808041"/>
                  </a:lnTo>
                  <a:lnTo>
                    <a:pt x="195108" y="835413"/>
                  </a:lnTo>
                  <a:lnTo>
                    <a:pt x="232981" y="861155"/>
                  </a:lnTo>
                  <a:lnTo>
                    <a:pt x="273578" y="885170"/>
                  </a:lnTo>
                  <a:lnTo>
                    <a:pt x="316744" y="907360"/>
                  </a:lnTo>
                  <a:lnTo>
                    <a:pt x="362327" y="927629"/>
                  </a:lnTo>
                  <a:lnTo>
                    <a:pt x="410172" y="945878"/>
                  </a:lnTo>
                  <a:lnTo>
                    <a:pt x="460126" y="962010"/>
                  </a:lnTo>
                  <a:lnTo>
                    <a:pt x="512035" y="975927"/>
                  </a:lnTo>
                  <a:lnTo>
                    <a:pt x="565746" y="987533"/>
                  </a:lnTo>
                  <a:lnTo>
                    <a:pt x="621104" y="996729"/>
                  </a:lnTo>
                  <a:lnTo>
                    <a:pt x="677956" y="1003419"/>
                  </a:lnTo>
                  <a:lnTo>
                    <a:pt x="736149" y="1007504"/>
                  </a:lnTo>
                  <a:lnTo>
                    <a:pt x="795528" y="1008888"/>
                  </a:lnTo>
                  <a:lnTo>
                    <a:pt x="854906" y="1007504"/>
                  </a:lnTo>
                  <a:lnTo>
                    <a:pt x="913099" y="1003419"/>
                  </a:lnTo>
                  <a:lnTo>
                    <a:pt x="969951" y="996729"/>
                  </a:lnTo>
                  <a:lnTo>
                    <a:pt x="1025309" y="987533"/>
                  </a:lnTo>
                  <a:lnTo>
                    <a:pt x="1079020" y="975927"/>
                  </a:lnTo>
                  <a:lnTo>
                    <a:pt x="1130929" y="962010"/>
                  </a:lnTo>
                  <a:lnTo>
                    <a:pt x="1180883" y="945878"/>
                  </a:lnTo>
                  <a:lnTo>
                    <a:pt x="1228728" y="927629"/>
                  </a:lnTo>
                  <a:lnTo>
                    <a:pt x="1274311" y="907360"/>
                  </a:lnTo>
                  <a:lnTo>
                    <a:pt x="1317477" y="885170"/>
                  </a:lnTo>
                  <a:lnTo>
                    <a:pt x="1358074" y="861155"/>
                  </a:lnTo>
                  <a:lnTo>
                    <a:pt x="1395947" y="835413"/>
                  </a:lnTo>
                  <a:lnTo>
                    <a:pt x="1430942" y="808041"/>
                  </a:lnTo>
                  <a:lnTo>
                    <a:pt x="1462907" y="779137"/>
                  </a:lnTo>
                  <a:lnTo>
                    <a:pt x="1491686" y="748798"/>
                  </a:lnTo>
                  <a:lnTo>
                    <a:pt x="1517127" y="717122"/>
                  </a:lnTo>
                  <a:lnTo>
                    <a:pt x="1539076" y="684207"/>
                  </a:lnTo>
                  <a:lnTo>
                    <a:pt x="1557379" y="650149"/>
                  </a:lnTo>
                  <a:lnTo>
                    <a:pt x="1582431" y="578996"/>
                  </a:lnTo>
                  <a:lnTo>
                    <a:pt x="1591056" y="504444"/>
                  </a:lnTo>
                  <a:lnTo>
                    <a:pt x="1588874" y="466791"/>
                  </a:lnTo>
                  <a:lnTo>
                    <a:pt x="1571882" y="393841"/>
                  </a:lnTo>
                  <a:lnTo>
                    <a:pt x="1539076" y="324680"/>
                  </a:lnTo>
                  <a:lnTo>
                    <a:pt x="1517127" y="291765"/>
                  </a:lnTo>
                  <a:lnTo>
                    <a:pt x="1491686" y="260089"/>
                  </a:lnTo>
                  <a:lnTo>
                    <a:pt x="1462907" y="229750"/>
                  </a:lnTo>
                  <a:lnTo>
                    <a:pt x="1430942" y="200846"/>
                  </a:lnTo>
                  <a:lnTo>
                    <a:pt x="1395947" y="173474"/>
                  </a:lnTo>
                  <a:lnTo>
                    <a:pt x="1358074" y="147732"/>
                  </a:lnTo>
                  <a:lnTo>
                    <a:pt x="1317477" y="123717"/>
                  </a:lnTo>
                  <a:lnTo>
                    <a:pt x="1274311" y="101527"/>
                  </a:lnTo>
                  <a:lnTo>
                    <a:pt x="1228728" y="81258"/>
                  </a:lnTo>
                  <a:lnTo>
                    <a:pt x="1180883" y="63009"/>
                  </a:lnTo>
                  <a:lnTo>
                    <a:pt x="1130929" y="46877"/>
                  </a:lnTo>
                  <a:lnTo>
                    <a:pt x="1079020" y="32960"/>
                  </a:lnTo>
                  <a:lnTo>
                    <a:pt x="1025309" y="21354"/>
                  </a:lnTo>
                  <a:lnTo>
                    <a:pt x="969951" y="12158"/>
                  </a:lnTo>
                  <a:lnTo>
                    <a:pt x="913099" y="5468"/>
                  </a:lnTo>
                  <a:lnTo>
                    <a:pt x="854906" y="1383"/>
                  </a:lnTo>
                  <a:lnTo>
                    <a:pt x="79552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5580888" y="1382268"/>
              <a:ext cx="757555" cy="721360"/>
            </a:xfrm>
            <a:custGeom>
              <a:avLst/>
              <a:gdLst/>
              <a:ahLst/>
              <a:cxnLst/>
              <a:rect l="l" t="t" r="r" b="b"/>
              <a:pathLst>
                <a:path w="757554" h="721360">
                  <a:moveTo>
                    <a:pt x="378714" y="0"/>
                  </a:moveTo>
                  <a:lnTo>
                    <a:pt x="331206" y="2809"/>
                  </a:lnTo>
                  <a:lnTo>
                    <a:pt x="285461" y="11010"/>
                  </a:lnTo>
                  <a:lnTo>
                    <a:pt x="241831" y="24266"/>
                  </a:lnTo>
                  <a:lnTo>
                    <a:pt x="200673" y="42239"/>
                  </a:lnTo>
                  <a:lnTo>
                    <a:pt x="162341" y="64589"/>
                  </a:lnTo>
                  <a:lnTo>
                    <a:pt x="127190" y="90980"/>
                  </a:lnTo>
                  <a:lnTo>
                    <a:pt x="95574" y="121072"/>
                  </a:lnTo>
                  <a:lnTo>
                    <a:pt x="67849" y="154528"/>
                  </a:lnTo>
                  <a:lnTo>
                    <a:pt x="44370" y="191009"/>
                  </a:lnTo>
                  <a:lnTo>
                    <a:pt x="25490" y="230178"/>
                  </a:lnTo>
                  <a:lnTo>
                    <a:pt x="11565" y="271695"/>
                  </a:lnTo>
                  <a:lnTo>
                    <a:pt x="2950" y="315224"/>
                  </a:lnTo>
                  <a:lnTo>
                    <a:pt x="0" y="360425"/>
                  </a:lnTo>
                  <a:lnTo>
                    <a:pt x="2950" y="405627"/>
                  </a:lnTo>
                  <a:lnTo>
                    <a:pt x="11565" y="449156"/>
                  </a:lnTo>
                  <a:lnTo>
                    <a:pt x="25490" y="490673"/>
                  </a:lnTo>
                  <a:lnTo>
                    <a:pt x="44370" y="529842"/>
                  </a:lnTo>
                  <a:lnTo>
                    <a:pt x="67849" y="566323"/>
                  </a:lnTo>
                  <a:lnTo>
                    <a:pt x="95574" y="599779"/>
                  </a:lnTo>
                  <a:lnTo>
                    <a:pt x="127190" y="629871"/>
                  </a:lnTo>
                  <a:lnTo>
                    <a:pt x="162341" y="656262"/>
                  </a:lnTo>
                  <a:lnTo>
                    <a:pt x="200673" y="678612"/>
                  </a:lnTo>
                  <a:lnTo>
                    <a:pt x="241831" y="696585"/>
                  </a:lnTo>
                  <a:lnTo>
                    <a:pt x="285461" y="709841"/>
                  </a:lnTo>
                  <a:lnTo>
                    <a:pt x="331206" y="718042"/>
                  </a:lnTo>
                  <a:lnTo>
                    <a:pt x="378714" y="720851"/>
                  </a:lnTo>
                  <a:lnTo>
                    <a:pt x="426221" y="718042"/>
                  </a:lnTo>
                  <a:lnTo>
                    <a:pt x="471966" y="709841"/>
                  </a:lnTo>
                  <a:lnTo>
                    <a:pt x="515596" y="696585"/>
                  </a:lnTo>
                  <a:lnTo>
                    <a:pt x="556754" y="678612"/>
                  </a:lnTo>
                  <a:lnTo>
                    <a:pt x="595086" y="656262"/>
                  </a:lnTo>
                  <a:lnTo>
                    <a:pt x="630237" y="629871"/>
                  </a:lnTo>
                  <a:lnTo>
                    <a:pt x="661853" y="599779"/>
                  </a:lnTo>
                  <a:lnTo>
                    <a:pt x="689578" y="566323"/>
                  </a:lnTo>
                  <a:lnTo>
                    <a:pt x="713057" y="529842"/>
                  </a:lnTo>
                  <a:lnTo>
                    <a:pt x="731937" y="490673"/>
                  </a:lnTo>
                  <a:lnTo>
                    <a:pt x="745862" y="449156"/>
                  </a:lnTo>
                  <a:lnTo>
                    <a:pt x="754477" y="405627"/>
                  </a:lnTo>
                  <a:lnTo>
                    <a:pt x="757428" y="360425"/>
                  </a:lnTo>
                  <a:lnTo>
                    <a:pt x="754477" y="315224"/>
                  </a:lnTo>
                  <a:lnTo>
                    <a:pt x="745862" y="271695"/>
                  </a:lnTo>
                  <a:lnTo>
                    <a:pt x="731937" y="230178"/>
                  </a:lnTo>
                  <a:lnTo>
                    <a:pt x="713057" y="191009"/>
                  </a:lnTo>
                  <a:lnTo>
                    <a:pt x="689578" y="154528"/>
                  </a:lnTo>
                  <a:lnTo>
                    <a:pt x="661853" y="121072"/>
                  </a:lnTo>
                  <a:lnTo>
                    <a:pt x="630237" y="90980"/>
                  </a:lnTo>
                  <a:lnTo>
                    <a:pt x="595086" y="64589"/>
                  </a:lnTo>
                  <a:lnTo>
                    <a:pt x="556754" y="42239"/>
                  </a:lnTo>
                  <a:lnTo>
                    <a:pt x="515596" y="24266"/>
                  </a:lnTo>
                  <a:lnTo>
                    <a:pt x="471966" y="11010"/>
                  </a:lnTo>
                  <a:lnTo>
                    <a:pt x="426221" y="2809"/>
                  </a:lnTo>
                  <a:lnTo>
                    <a:pt x="378714" y="0"/>
                  </a:lnTo>
                  <a:close/>
                </a:path>
              </a:pathLst>
            </a:custGeom>
            <a:solidFill>
              <a:srgbClr val="E36C09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064508" y="1021080"/>
              <a:ext cx="759460" cy="721360"/>
            </a:xfrm>
            <a:custGeom>
              <a:avLst/>
              <a:gdLst/>
              <a:ahLst/>
              <a:cxnLst/>
              <a:rect l="l" t="t" r="r" b="b"/>
              <a:pathLst>
                <a:path w="759460" h="721360">
                  <a:moveTo>
                    <a:pt x="379476" y="0"/>
                  </a:moveTo>
                  <a:lnTo>
                    <a:pt x="331881" y="2809"/>
                  </a:lnTo>
                  <a:lnTo>
                    <a:pt x="286048" y="11010"/>
                  </a:lnTo>
                  <a:lnTo>
                    <a:pt x="242334" y="24266"/>
                  </a:lnTo>
                  <a:lnTo>
                    <a:pt x="201095" y="42239"/>
                  </a:lnTo>
                  <a:lnTo>
                    <a:pt x="162685" y="64589"/>
                  </a:lnTo>
                  <a:lnTo>
                    <a:pt x="127462" y="90980"/>
                  </a:lnTo>
                  <a:lnTo>
                    <a:pt x="95781" y="121072"/>
                  </a:lnTo>
                  <a:lnTo>
                    <a:pt x="67997" y="154528"/>
                  </a:lnTo>
                  <a:lnTo>
                    <a:pt x="44467" y="191009"/>
                  </a:lnTo>
                  <a:lnTo>
                    <a:pt x="25546" y="230178"/>
                  </a:lnTo>
                  <a:lnTo>
                    <a:pt x="11591" y="271695"/>
                  </a:lnTo>
                  <a:lnTo>
                    <a:pt x="2957" y="315224"/>
                  </a:lnTo>
                  <a:lnTo>
                    <a:pt x="0" y="360425"/>
                  </a:lnTo>
                  <a:lnTo>
                    <a:pt x="2957" y="405627"/>
                  </a:lnTo>
                  <a:lnTo>
                    <a:pt x="11591" y="449156"/>
                  </a:lnTo>
                  <a:lnTo>
                    <a:pt x="25546" y="490673"/>
                  </a:lnTo>
                  <a:lnTo>
                    <a:pt x="44467" y="529842"/>
                  </a:lnTo>
                  <a:lnTo>
                    <a:pt x="67997" y="566323"/>
                  </a:lnTo>
                  <a:lnTo>
                    <a:pt x="95781" y="599779"/>
                  </a:lnTo>
                  <a:lnTo>
                    <a:pt x="127462" y="629871"/>
                  </a:lnTo>
                  <a:lnTo>
                    <a:pt x="162685" y="656262"/>
                  </a:lnTo>
                  <a:lnTo>
                    <a:pt x="201095" y="678612"/>
                  </a:lnTo>
                  <a:lnTo>
                    <a:pt x="242334" y="696585"/>
                  </a:lnTo>
                  <a:lnTo>
                    <a:pt x="286048" y="709841"/>
                  </a:lnTo>
                  <a:lnTo>
                    <a:pt x="331881" y="718042"/>
                  </a:lnTo>
                  <a:lnTo>
                    <a:pt x="379476" y="720851"/>
                  </a:lnTo>
                  <a:lnTo>
                    <a:pt x="427070" y="718042"/>
                  </a:lnTo>
                  <a:lnTo>
                    <a:pt x="472903" y="709841"/>
                  </a:lnTo>
                  <a:lnTo>
                    <a:pt x="516617" y="696585"/>
                  </a:lnTo>
                  <a:lnTo>
                    <a:pt x="557856" y="678612"/>
                  </a:lnTo>
                  <a:lnTo>
                    <a:pt x="596266" y="656262"/>
                  </a:lnTo>
                  <a:lnTo>
                    <a:pt x="631489" y="629871"/>
                  </a:lnTo>
                  <a:lnTo>
                    <a:pt x="663170" y="599779"/>
                  </a:lnTo>
                  <a:lnTo>
                    <a:pt x="690954" y="566323"/>
                  </a:lnTo>
                  <a:lnTo>
                    <a:pt x="714484" y="529842"/>
                  </a:lnTo>
                  <a:lnTo>
                    <a:pt x="733405" y="490673"/>
                  </a:lnTo>
                  <a:lnTo>
                    <a:pt x="747360" y="449156"/>
                  </a:lnTo>
                  <a:lnTo>
                    <a:pt x="755994" y="405627"/>
                  </a:lnTo>
                  <a:lnTo>
                    <a:pt x="758952" y="360425"/>
                  </a:lnTo>
                  <a:lnTo>
                    <a:pt x="755994" y="315224"/>
                  </a:lnTo>
                  <a:lnTo>
                    <a:pt x="747360" y="271695"/>
                  </a:lnTo>
                  <a:lnTo>
                    <a:pt x="733405" y="230178"/>
                  </a:lnTo>
                  <a:lnTo>
                    <a:pt x="714484" y="191009"/>
                  </a:lnTo>
                  <a:lnTo>
                    <a:pt x="690954" y="154528"/>
                  </a:lnTo>
                  <a:lnTo>
                    <a:pt x="663170" y="121072"/>
                  </a:lnTo>
                  <a:lnTo>
                    <a:pt x="631489" y="90980"/>
                  </a:lnTo>
                  <a:lnTo>
                    <a:pt x="596266" y="64589"/>
                  </a:lnTo>
                  <a:lnTo>
                    <a:pt x="557856" y="42239"/>
                  </a:lnTo>
                  <a:lnTo>
                    <a:pt x="516617" y="24266"/>
                  </a:lnTo>
                  <a:lnTo>
                    <a:pt x="472903" y="11010"/>
                  </a:lnTo>
                  <a:lnTo>
                    <a:pt x="427070" y="2809"/>
                  </a:lnTo>
                  <a:lnTo>
                    <a:pt x="379476" y="0"/>
                  </a:lnTo>
                  <a:close/>
                </a:path>
              </a:pathLst>
            </a:custGeom>
            <a:solidFill>
              <a:srgbClr val="16375E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549652" y="1453896"/>
              <a:ext cx="757555" cy="721360"/>
            </a:xfrm>
            <a:custGeom>
              <a:avLst/>
              <a:gdLst/>
              <a:ahLst/>
              <a:cxnLst/>
              <a:rect l="l" t="t" r="r" b="b"/>
              <a:pathLst>
                <a:path w="757554" h="721360">
                  <a:moveTo>
                    <a:pt x="378714" y="0"/>
                  </a:moveTo>
                  <a:lnTo>
                    <a:pt x="331206" y="2809"/>
                  </a:lnTo>
                  <a:lnTo>
                    <a:pt x="285461" y="11010"/>
                  </a:lnTo>
                  <a:lnTo>
                    <a:pt x="241831" y="24266"/>
                  </a:lnTo>
                  <a:lnTo>
                    <a:pt x="200673" y="42239"/>
                  </a:lnTo>
                  <a:lnTo>
                    <a:pt x="162341" y="64589"/>
                  </a:lnTo>
                  <a:lnTo>
                    <a:pt x="127190" y="90980"/>
                  </a:lnTo>
                  <a:lnTo>
                    <a:pt x="95574" y="121072"/>
                  </a:lnTo>
                  <a:lnTo>
                    <a:pt x="67849" y="154528"/>
                  </a:lnTo>
                  <a:lnTo>
                    <a:pt x="44370" y="191009"/>
                  </a:lnTo>
                  <a:lnTo>
                    <a:pt x="25490" y="230178"/>
                  </a:lnTo>
                  <a:lnTo>
                    <a:pt x="11565" y="271695"/>
                  </a:lnTo>
                  <a:lnTo>
                    <a:pt x="2950" y="315224"/>
                  </a:lnTo>
                  <a:lnTo>
                    <a:pt x="0" y="360425"/>
                  </a:lnTo>
                  <a:lnTo>
                    <a:pt x="2950" y="405627"/>
                  </a:lnTo>
                  <a:lnTo>
                    <a:pt x="11565" y="449156"/>
                  </a:lnTo>
                  <a:lnTo>
                    <a:pt x="25490" y="490673"/>
                  </a:lnTo>
                  <a:lnTo>
                    <a:pt x="44370" y="529842"/>
                  </a:lnTo>
                  <a:lnTo>
                    <a:pt x="67849" y="566323"/>
                  </a:lnTo>
                  <a:lnTo>
                    <a:pt x="95574" y="599779"/>
                  </a:lnTo>
                  <a:lnTo>
                    <a:pt x="127190" y="629871"/>
                  </a:lnTo>
                  <a:lnTo>
                    <a:pt x="162341" y="656262"/>
                  </a:lnTo>
                  <a:lnTo>
                    <a:pt x="200673" y="678612"/>
                  </a:lnTo>
                  <a:lnTo>
                    <a:pt x="241831" y="696585"/>
                  </a:lnTo>
                  <a:lnTo>
                    <a:pt x="285461" y="709841"/>
                  </a:lnTo>
                  <a:lnTo>
                    <a:pt x="331206" y="718042"/>
                  </a:lnTo>
                  <a:lnTo>
                    <a:pt x="378714" y="720851"/>
                  </a:lnTo>
                  <a:lnTo>
                    <a:pt x="426221" y="718042"/>
                  </a:lnTo>
                  <a:lnTo>
                    <a:pt x="471966" y="709841"/>
                  </a:lnTo>
                  <a:lnTo>
                    <a:pt x="515596" y="696585"/>
                  </a:lnTo>
                  <a:lnTo>
                    <a:pt x="556754" y="678612"/>
                  </a:lnTo>
                  <a:lnTo>
                    <a:pt x="595086" y="656262"/>
                  </a:lnTo>
                  <a:lnTo>
                    <a:pt x="630237" y="629871"/>
                  </a:lnTo>
                  <a:lnTo>
                    <a:pt x="661853" y="599779"/>
                  </a:lnTo>
                  <a:lnTo>
                    <a:pt x="689578" y="566323"/>
                  </a:lnTo>
                  <a:lnTo>
                    <a:pt x="713057" y="529842"/>
                  </a:lnTo>
                  <a:lnTo>
                    <a:pt x="731937" y="490673"/>
                  </a:lnTo>
                  <a:lnTo>
                    <a:pt x="745862" y="449156"/>
                  </a:lnTo>
                  <a:lnTo>
                    <a:pt x="754477" y="405627"/>
                  </a:lnTo>
                  <a:lnTo>
                    <a:pt x="757428" y="360425"/>
                  </a:lnTo>
                  <a:lnTo>
                    <a:pt x="754477" y="315224"/>
                  </a:lnTo>
                  <a:lnTo>
                    <a:pt x="745862" y="271695"/>
                  </a:lnTo>
                  <a:lnTo>
                    <a:pt x="731937" y="230178"/>
                  </a:lnTo>
                  <a:lnTo>
                    <a:pt x="713057" y="191009"/>
                  </a:lnTo>
                  <a:lnTo>
                    <a:pt x="689578" y="154528"/>
                  </a:lnTo>
                  <a:lnTo>
                    <a:pt x="661853" y="121072"/>
                  </a:lnTo>
                  <a:lnTo>
                    <a:pt x="630237" y="90980"/>
                  </a:lnTo>
                  <a:lnTo>
                    <a:pt x="595086" y="64589"/>
                  </a:lnTo>
                  <a:lnTo>
                    <a:pt x="556754" y="42239"/>
                  </a:lnTo>
                  <a:lnTo>
                    <a:pt x="515596" y="24266"/>
                  </a:lnTo>
                  <a:lnTo>
                    <a:pt x="471966" y="11010"/>
                  </a:lnTo>
                  <a:lnTo>
                    <a:pt x="426221" y="2809"/>
                  </a:lnTo>
                  <a:lnTo>
                    <a:pt x="378714" y="0"/>
                  </a:lnTo>
                  <a:close/>
                </a:path>
              </a:pathLst>
            </a:custGeom>
            <a:solidFill>
              <a:srgbClr val="E36C09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170176" y="2510027"/>
              <a:ext cx="4624070" cy="746760"/>
            </a:xfrm>
            <a:custGeom>
              <a:avLst/>
              <a:gdLst/>
              <a:ahLst/>
              <a:cxnLst/>
              <a:rect l="l" t="t" r="r" b="b"/>
              <a:pathLst>
                <a:path w="4624070" h="746760">
                  <a:moveTo>
                    <a:pt x="757428" y="386334"/>
                  </a:moveTo>
                  <a:lnTo>
                    <a:pt x="754468" y="341134"/>
                  </a:lnTo>
                  <a:lnTo>
                    <a:pt x="745858" y="297611"/>
                  </a:lnTo>
                  <a:lnTo>
                    <a:pt x="731926" y="256095"/>
                  </a:lnTo>
                  <a:lnTo>
                    <a:pt x="713054" y="216928"/>
                  </a:lnTo>
                  <a:lnTo>
                    <a:pt x="689571" y="180441"/>
                  </a:lnTo>
                  <a:lnTo>
                    <a:pt x="661847" y="146989"/>
                  </a:lnTo>
                  <a:lnTo>
                    <a:pt x="630224" y="116890"/>
                  </a:lnTo>
                  <a:lnTo>
                    <a:pt x="595083" y="90500"/>
                  </a:lnTo>
                  <a:lnTo>
                    <a:pt x="556742" y="68148"/>
                  </a:lnTo>
                  <a:lnTo>
                    <a:pt x="515594" y="50177"/>
                  </a:lnTo>
                  <a:lnTo>
                    <a:pt x="471957" y="36918"/>
                  </a:lnTo>
                  <a:lnTo>
                    <a:pt x="426212" y="28727"/>
                  </a:lnTo>
                  <a:lnTo>
                    <a:pt x="378714" y="25908"/>
                  </a:lnTo>
                  <a:lnTo>
                    <a:pt x="331203" y="28727"/>
                  </a:lnTo>
                  <a:lnTo>
                    <a:pt x="285457" y="36918"/>
                  </a:lnTo>
                  <a:lnTo>
                    <a:pt x="241820" y="50177"/>
                  </a:lnTo>
                  <a:lnTo>
                    <a:pt x="200672" y="68148"/>
                  </a:lnTo>
                  <a:lnTo>
                    <a:pt x="162331" y="90500"/>
                  </a:lnTo>
                  <a:lnTo>
                    <a:pt x="127190" y="116890"/>
                  </a:lnTo>
                  <a:lnTo>
                    <a:pt x="95567" y="146989"/>
                  </a:lnTo>
                  <a:lnTo>
                    <a:pt x="67843" y="180441"/>
                  </a:lnTo>
                  <a:lnTo>
                    <a:pt x="44361" y="216928"/>
                  </a:lnTo>
                  <a:lnTo>
                    <a:pt x="25488" y="256095"/>
                  </a:lnTo>
                  <a:lnTo>
                    <a:pt x="11557" y="297611"/>
                  </a:lnTo>
                  <a:lnTo>
                    <a:pt x="2946" y="341134"/>
                  </a:lnTo>
                  <a:lnTo>
                    <a:pt x="0" y="386334"/>
                  </a:lnTo>
                  <a:lnTo>
                    <a:pt x="2946" y="431546"/>
                  </a:lnTo>
                  <a:lnTo>
                    <a:pt x="11557" y="475068"/>
                  </a:lnTo>
                  <a:lnTo>
                    <a:pt x="25488" y="516585"/>
                  </a:lnTo>
                  <a:lnTo>
                    <a:pt x="44361" y="555752"/>
                  </a:lnTo>
                  <a:lnTo>
                    <a:pt x="67843" y="592239"/>
                  </a:lnTo>
                  <a:lnTo>
                    <a:pt x="95567" y="625690"/>
                  </a:lnTo>
                  <a:lnTo>
                    <a:pt x="127190" y="655789"/>
                  </a:lnTo>
                  <a:lnTo>
                    <a:pt x="162331" y="682180"/>
                  </a:lnTo>
                  <a:lnTo>
                    <a:pt x="200672" y="704532"/>
                  </a:lnTo>
                  <a:lnTo>
                    <a:pt x="241820" y="722503"/>
                  </a:lnTo>
                  <a:lnTo>
                    <a:pt x="285457" y="735761"/>
                  </a:lnTo>
                  <a:lnTo>
                    <a:pt x="331203" y="743953"/>
                  </a:lnTo>
                  <a:lnTo>
                    <a:pt x="378714" y="746760"/>
                  </a:lnTo>
                  <a:lnTo>
                    <a:pt x="426212" y="743953"/>
                  </a:lnTo>
                  <a:lnTo>
                    <a:pt x="471957" y="735761"/>
                  </a:lnTo>
                  <a:lnTo>
                    <a:pt x="515594" y="722503"/>
                  </a:lnTo>
                  <a:lnTo>
                    <a:pt x="556742" y="704532"/>
                  </a:lnTo>
                  <a:lnTo>
                    <a:pt x="595083" y="682180"/>
                  </a:lnTo>
                  <a:lnTo>
                    <a:pt x="630224" y="655789"/>
                  </a:lnTo>
                  <a:lnTo>
                    <a:pt x="661847" y="625690"/>
                  </a:lnTo>
                  <a:lnTo>
                    <a:pt x="689571" y="592239"/>
                  </a:lnTo>
                  <a:lnTo>
                    <a:pt x="713054" y="555752"/>
                  </a:lnTo>
                  <a:lnTo>
                    <a:pt x="731926" y="516585"/>
                  </a:lnTo>
                  <a:lnTo>
                    <a:pt x="745858" y="475068"/>
                  </a:lnTo>
                  <a:lnTo>
                    <a:pt x="754468" y="431546"/>
                  </a:lnTo>
                  <a:lnTo>
                    <a:pt x="757428" y="386334"/>
                  </a:lnTo>
                  <a:close/>
                </a:path>
                <a:path w="4624070" h="746760">
                  <a:moveTo>
                    <a:pt x="4623816" y="360426"/>
                  </a:moveTo>
                  <a:lnTo>
                    <a:pt x="4620857" y="315226"/>
                  </a:lnTo>
                  <a:lnTo>
                    <a:pt x="4612221" y="271703"/>
                  </a:lnTo>
                  <a:lnTo>
                    <a:pt x="4598263" y="230187"/>
                  </a:lnTo>
                  <a:lnTo>
                    <a:pt x="4579340" y="191020"/>
                  </a:lnTo>
                  <a:lnTo>
                    <a:pt x="4555807" y="154533"/>
                  </a:lnTo>
                  <a:lnTo>
                    <a:pt x="4528032" y="121081"/>
                  </a:lnTo>
                  <a:lnTo>
                    <a:pt x="4496346" y="90982"/>
                  </a:lnTo>
                  <a:lnTo>
                    <a:pt x="4461129" y="64592"/>
                  </a:lnTo>
                  <a:lnTo>
                    <a:pt x="4422711" y="42240"/>
                  </a:lnTo>
                  <a:lnTo>
                    <a:pt x="4381474" y="24269"/>
                  </a:lnTo>
                  <a:lnTo>
                    <a:pt x="4337761" y="11010"/>
                  </a:lnTo>
                  <a:lnTo>
                    <a:pt x="4291927" y="2819"/>
                  </a:lnTo>
                  <a:lnTo>
                    <a:pt x="4244340" y="0"/>
                  </a:lnTo>
                  <a:lnTo>
                    <a:pt x="4196740" y="2819"/>
                  </a:lnTo>
                  <a:lnTo>
                    <a:pt x="4150906" y="11010"/>
                  </a:lnTo>
                  <a:lnTo>
                    <a:pt x="4107192" y="24269"/>
                  </a:lnTo>
                  <a:lnTo>
                    <a:pt x="4065955" y="42240"/>
                  </a:lnTo>
                  <a:lnTo>
                    <a:pt x="4027538" y="64592"/>
                  </a:lnTo>
                  <a:lnTo>
                    <a:pt x="3992321" y="90982"/>
                  </a:lnTo>
                  <a:lnTo>
                    <a:pt x="3960634" y="121081"/>
                  </a:lnTo>
                  <a:lnTo>
                    <a:pt x="3932859" y="154533"/>
                  </a:lnTo>
                  <a:lnTo>
                    <a:pt x="3909326" y="191020"/>
                  </a:lnTo>
                  <a:lnTo>
                    <a:pt x="3890403" y="230187"/>
                  </a:lnTo>
                  <a:lnTo>
                    <a:pt x="3876446" y="271703"/>
                  </a:lnTo>
                  <a:lnTo>
                    <a:pt x="3867810" y="315226"/>
                  </a:lnTo>
                  <a:lnTo>
                    <a:pt x="3864864" y="360426"/>
                  </a:lnTo>
                  <a:lnTo>
                    <a:pt x="3867810" y="405638"/>
                  </a:lnTo>
                  <a:lnTo>
                    <a:pt x="3876446" y="449160"/>
                  </a:lnTo>
                  <a:lnTo>
                    <a:pt x="3890403" y="490677"/>
                  </a:lnTo>
                  <a:lnTo>
                    <a:pt x="3909326" y="529844"/>
                  </a:lnTo>
                  <a:lnTo>
                    <a:pt x="3932859" y="566331"/>
                  </a:lnTo>
                  <a:lnTo>
                    <a:pt x="3960634" y="599782"/>
                  </a:lnTo>
                  <a:lnTo>
                    <a:pt x="3992321" y="629881"/>
                  </a:lnTo>
                  <a:lnTo>
                    <a:pt x="4027538" y="656272"/>
                  </a:lnTo>
                  <a:lnTo>
                    <a:pt x="4065955" y="678624"/>
                  </a:lnTo>
                  <a:lnTo>
                    <a:pt x="4107192" y="696595"/>
                  </a:lnTo>
                  <a:lnTo>
                    <a:pt x="4150906" y="709853"/>
                  </a:lnTo>
                  <a:lnTo>
                    <a:pt x="4196740" y="718045"/>
                  </a:lnTo>
                  <a:lnTo>
                    <a:pt x="4244340" y="720852"/>
                  </a:lnTo>
                  <a:lnTo>
                    <a:pt x="4291927" y="718045"/>
                  </a:lnTo>
                  <a:lnTo>
                    <a:pt x="4337761" y="709853"/>
                  </a:lnTo>
                  <a:lnTo>
                    <a:pt x="4381474" y="696595"/>
                  </a:lnTo>
                  <a:lnTo>
                    <a:pt x="4422711" y="678624"/>
                  </a:lnTo>
                  <a:lnTo>
                    <a:pt x="4461129" y="656272"/>
                  </a:lnTo>
                  <a:lnTo>
                    <a:pt x="4496346" y="629881"/>
                  </a:lnTo>
                  <a:lnTo>
                    <a:pt x="4528032" y="599782"/>
                  </a:lnTo>
                  <a:lnTo>
                    <a:pt x="4555807" y="566331"/>
                  </a:lnTo>
                  <a:lnTo>
                    <a:pt x="4579340" y="529844"/>
                  </a:lnTo>
                  <a:lnTo>
                    <a:pt x="4598263" y="490677"/>
                  </a:lnTo>
                  <a:lnTo>
                    <a:pt x="4612221" y="449160"/>
                  </a:lnTo>
                  <a:lnTo>
                    <a:pt x="4620857" y="405638"/>
                  </a:lnTo>
                  <a:lnTo>
                    <a:pt x="4623816" y="360426"/>
                  </a:lnTo>
                  <a:close/>
                </a:path>
              </a:pathLst>
            </a:custGeom>
            <a:solidFill>
              <a:srgbClr val="16375E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580888" y="3689603"/>
              <a:ext cx="757555" cy="721360"/>
            </a:xfrm>
            <a:custGeom>
              <a:avLst/>
              <a:gdLst/>
              <a:ahLst/>
              <a:cxnLst/>
              <a:rect l="l" t="t" r="r" b="b"/>
              <a:pathLst>
                <a:path w="757554" h="721360">
                  <a:moveTo>
                    <a:pt x="378714" y="0"/>
                  </a:moveTo>
                  <a:lnTo>
                    <a:pt x="331206" y="2809"/>
                  </a:lnTo>
                  <a:lnTo>
                    <a:pt x="285461" y="11010"/>
                  </a:lnTo>
                  <a:lnTo>
                    <a:pt x="241831" y="24266"/>
                  </a:lnTo>
                  <a:lnTo>
                    <a:pt x="200673" y="42239"/>
                  </a:lnTo>
                  <a:lnTo>
                    <a:pt x="162341" y="64589"/>
                  </a:lnTo>
                  <a:lnTo>
                    <a:pt x="127190" y="90980"/>
                  </a:lnTo>
                  <a:lnTo>
                    <a:pt x="95574" y="121072"/>
                  </a:lnTo>
                  <a:lnTo>
                    <a:pt x="67849" y="154528"/>
                  </a:lnTo>
                  <a:lnTo>
                    <a:pt x="44370" y="191009"/>
                  </a:lnTo>
                  <a:lnTo>
                    <a:pt x="25490" y="230178"/>
                  </a:lnTo>
                  <a:lnTo>
                    <a:pt x="11565" y="271695"/>
                  </a:lnTo>
                  <a:lnTo>
                    <a:pt x="2950" y="315224"/>
                  </a:lnTo>
                  <a:lnTo>
                    <a:pt x="0" y="360426"/>
                  </a:lnTo>
                  <a:lnTo>
                    <a:pt x="2950" y="405637"/>
                  </a:lnTo>
                  <a:lnTo>
                    <a:pt x="11565" y="449172"/>
                  </a:lnTo>
                  <a:lnTo>
                    <a:pt x="25490" y="490694"/>
                  </a:lnTo>
                  <a:lnTo>
                    <a:pt x="44370" y="529864"/>
                  </a:lnTo>
                  <a:lnTo>
                    <a:pt x="67849" y="566346"/>
                  </a:lnTo>
                  <a:lnTo>
                    <a:pt x="95574" y="599800"/>
                  </a:lnTo>
                  <a:lnTo>
                    <a:pt x="127190" y="629889"/>
                  </a:lnTo>
                  <a:lnTo>
                    <a:pt x="162341" y="656276"/>
                  </a:lnTo>
                  <a:lnTo>
                    <a:pt x="200673" y="678622"/>
                  </a:lnTo>
                  <a:lnTo>
                    <a:pt x="241831" y="696591"/>
                  </a:lnTo>
                  <a:lnTo>
                    <a:pt x="285461" y="709844"/>
                  </a:lnTo>
                  <a:lnTo>
                    <a:pt x="331206" y="718043"/>
                  </a:lnTo>
                  <a:lnTo>
                    <a:pt x="378714" y="720852"/>
                  </a:lnTo>
                  <a:lnTo>
                    <a:pt x="426221" y="718043"/>
                  </a:lnTo>
                  <a:lnTo>
                    <a:pt x="471966" y="709844"/>
                  </a:lnTo>
                  <a:lnTo>
                    <a:pt x="515596" y="696591"/>
                  </a:lnTo>
                  <a:lnTo>
                    <a:pt x="556754" y="678622"/>
                  </a:lnTo>
                  <a:lnTo>
                    <a:pt x="595086" y="656276"/>
                  </a:lnTo>
                  <a:lnTo>
                    <a:pt x="630237" y="629889"/>
                  </a:lnTo>
                  <a:lnTo>
                    <a:pt x="661853" y="599800"/>
                  </a:lnTo>
                  <a:lnTo>
                    <a:pt x="689578" y="566346"/>
                  </a:lnTo>
                  <a:lnTo>
                    <a:pt x="713057" y="529864"/>
                  </a:lnTo>
                  <a:lnTo>
                    <a:pt x="731937" y="490694"/>
                  </a:lnTo>
                  <a:lnTo>
                    <a:pt x="745862" y="449172"/>
                  </a:lnTo>
                  <a:lnTo>
                    <a:pt x="754477" y="405637"/>
                  </a:lnTo>
                  <a:lnTo>
                    <a:pt x="757428" y="360426"/>
                  </a:lnTo>
                  <a:lnTo>
                    <a:pt x="754477" y="315224"/>
                  </a:lnTo>
                  <a:lnTo>
                    <a:pt x="745862" y="271695"/>
                  </a:lnTo>
                  <a:lnTo>
                    <a:pt x="731937" y="230178"/>
                  </a:lnTo>
                  <a:lnTo>
                    <a:pt x="713057" y="191009"/>
                  </a:lnTo>
                  <a:lnTo>
                    <a:pt x="689578" y="154528"/>
                  </a:lnTo>
                  <a:lnTo>
                    <a:pt x="661853" y="121072"/>
                  </a:lnTo>
                  <a:lnTo>
                    <a:pt x="630237" y="90980"/>
                  </a:lnTo>
                  <a:lnTo>
                    <a:pt x="595086" y="64589"/>
                  </a:lnTo>
                  <a:lnTo>
                    <a:pt x="556754" y="42239"/>
                  </a:lnTo>
                  <a:lnTo>
                    <a:pt x="515596" y="24266"/>
                  </a:lnTo>
                  <a:lnTo>
                    <a:pt x="471966" y="11010"/>
                  </a:lnTo>
                  <a:lnTo>
                    <a:pt x="426221" y="2809"/>
                  </a:lnTo>
                  <a:lnTo>
                    <a:pt x="378714" y="0"/>
                  </a:lnTo>
                  <a:close/>
                </a:path>
              </a:pathLst>
            </a:custGeom>
            <a:solidFill>
              <a:srgbClr val="E36C09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064508" y="4049268"/>
              <a:ext cx="759460" cy="721360"/>
            </a:xfrm>
            <a:custGeom>
              <a:avLst/>
              <a:gdLst/>
              <a:ahLst/>
              <a:cxnLst/>
              <a:rect l="l" t="t" r="r" b="b"/>
              <a:pathLst>
                <a:path w="759460" h="721360">
                  <a:moveTo>
                    <a:pt x="379476" y="0"/>
                  </a:moveTo>
                  <a:lnTo>
                    <a:pt x="331881" y="2808"/>
                  </a:lnTo>
                  <a:lnTo>
                    <a:pt x="286048" y="11007"/>
                  </a:lnTo>
                  <a:lnTo>
                    <a:pt x="242334" y="24260"/>
                  </a:lnTo>
                  <a:lnTo>
                    <a:pt x="201095" y="42229"/>
                  </a:lnTo>
                  <a:lnTo>
                    <a:pt x="162685" y="64575"/>
                  </a:lnTo>
                  <a:lnTo>
                    <a:pt x="127462" y="90962"/>
                  </a:lnTo>
                  <a:lnTo>
                    <a:pt x="95781" y="121051"/>
                  </a:lnTo>
                  <a:lnTo>
                    <a:pt x="67997" y="154505"/>
                  </a:lnTo>
                  <a:lnTo>
                    <a:pt x="44467" y="190987"/>
                  </a:lnTo>
                  <a:lnTo>
                    <a:pt x="25546" y="230157"/>
                  </a:lnTo>
                  <a:lnTo>
                    <a:pt x="11591" y="271679"/>
                  </a:lnTo>
                  <a:lnTo>
                    <a:pt x="2957" y="315214"/>
                  </a:lnTo>
                  <a:lnTo>
                    <a:pt x="0" y="360425"/>
                  </a:lnTo>
                  <a:lnTo>
                    <a:pt x="2957" y="405637"/>
                  </a:lnTo>
                  <a:lnTo>
                    <a:pt x="11591" y="449172"/>
                  </a:lnTo>
                  <a:lnTo>
                    <a:pt x="25546" y="490694"/>
                  </a:lnTo>
                  <a:lnTo>
                    <a:pt x="44467" y="529864"/>
                  </a:lnTo>
                  <a:lnTo>
                    <a:pt x="67997" y="566346"/>
                  </a:lnTo>
                  <a:lnTo>
                    <a:pt x="95781" y="599800"/>
                  </a:lnTo>
                  <a:lnTo>
                    <a:pt x="127462" y="629889"/>
                  </a:lnTo>
                  <a:lnTo>
                    <a:pt x="162685" y="656276"/>
                  </a:lnTo>
                  <a:lnTo>
                    <a:pt x="201095" y="678622"/>
                  </a:lnTo>
                  <a:lnTo>
                    <a:pt x="242334" y="696591"/>
                  </a:lnTo>
                  <a:lnTo>
                    <a:pt x="286048" y="709844"/>
                  </a:lnTo>
                  <a:lnTo>
                    <a:pt x="331881" y="718043"/>
                  </a:lnTo>
                  <a:lnTo>
                    <a:pt x="379476" y="720851"/>
                  </a:lnTo>
                  <a:lnTo>
                    <a:pt x="427070" y="718043"/>
                  </a:lnTo>
                  <a:lnTo>
                    <a:pt x="472903" y="709844"/>
                  </a:lnTo>
                  <a:lnTo>
                    <a:pt x="516617" y="696591"/>
                  </a:lnTo>
                  <a:lnTo>
                    <a:pt x="557856" y="678622"/>
                  </a:lnTo>
                  <a:lnTo>
                    <a:pt x="596266" y="656276"/>
                  </a:lnTo>
                  <a:lnTo>
                    <a:pt x="631489" y="629889"/>
                  </a:lnTo>
                  <a:lnTo>
                    <a:pt x="663170" y="599800"/>
                  </a:lnTo>
                  <a:lnTo>
                    <a:pt x="690954" y="566346"/>
                  </a:lnTo>
                  <a:lnTo>
                    <a:pt x="714484" y="529864"/>
                  </a:lnTo>
                  <a:lnTo>
                    <a:pt x="733405" y="490694"/>
                  </a:lnTo>
                  <a:lnTo>
                    <a:pt x="747360" y="449172"/>
                  </a:lnTo>
                  <a:lnTo>
                    <a:pt x="755994" y="405637"/>
                  </a:lnTo>
                  <a:lnTo>
                    <a:pt x="758952" y="360425"/>
                  </a:lnTo>
                  <a:lnTo>
                    <a:pt x="755994" y="315214"/>
                  </a:lnTo>
                  <a:lnTo>
                    <a:pt x="747360" y="271679"/>
                  </a:lnTo>
                  <a:lnTo>
                    <a:pt x="733405" y="230157"/>
                  </a:lnTo>
                  <a:lnTo>
                    <a:pt x="714484" y="190987"/>
                  </a:lnTo>
                  <a:lnTo>
                    <a:pt x="690954" y="154505"/>
                  </a:lnTo>
                  <a:lnTo>
                    <a:pt x="663170" y="121051"/>
                  </a:lnTo>
                  <a:lnTo>
                    <a:pt x="631489" y="90962"/>
                  </a:lnTo>
                  <a:lnTo>
                    <a:pt x="596266" y="64575"/>
                  </a:lnTo>
                  <a:lnTo>
                    <a:pt x="557856" y="42229"/>
                  </a:lnTo>
                  <a:lnTo>
                    <a:pt x="516617" y="24260"/>
                  </a:lnTo>
                  <a:lnTo>
                    <a:pt x="472903" y="11007"/>
                  </a:lnTo>
                  <a:lnTo>
                    <a:pt x="427070" y="2808"/>
                  </a:lnTo>
                  <a:lnTo>
                    <a:pt x="379476" y="0"/>
                  </a:lnTo>
                  <a:close/>
                </a:path>
              </a:pathLst>
            </a:custGeom>
            <a:solidFill>
              <a:srgbClr val="16375E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473452" y="3689603"/>
              <a:ext cx="757555" cy="721360"/>
            </a:xfrm>
            <a:custGeom>
              <a:avLst/>
              <a:gdLst/>
              <a:ahLst/>
              <a:cxnLst/>
              <a:rect l="l" t="t" r="r" b="b"/>
              <a:pathLst>
                <a:path w="757555" h="721360">
                  <a:moveTo>
                    <a:pt x="378714" y="0"/>
                  </a:moveTo>
                  <a:lnTo>
                    <a:pt x="331206" y="2809"/>
                  </a:lnTo>
                  <a:lnTo>
                    <a:pt x="285461" y="11010"/>
                  </a:lnTo>
                  <a:lnTo>
                    <a:pt x="241831" y="24266"/>
                  </a:lnTo>
                  <a:lnTo>
                    <a:pt x="200673" y="42239"/>
                  </a:lnTo>
                  <a:lnTo>
                    <a:pt x="162341" y="64589"/>
                  </a:lnTo>
                  <a:lnTo>
                    <a:pt x="127190" y="90980"/>
                  </a:lnTo>
                  <a:lnTo>
                    <a:pt x="95574" y="121072"/>
                  </a:lnTo>
                  <a:lnTo>
                    <a:pt x="67849" y="154528"/>
                  </a:lnTo>
                  <a:lnTo>
                    <a:pt x="44370" y="191009"/>
                  </a:lnTo>
                  <a:lnTo>
                    <a:pt x="25490" y="230178"/>
                  </a:lnTo>
                  <a:lnTo>
                    <a:pt x="11565" y="271695"/>
                  </a:lnTo>
                  <a:lnTo>
                    <a:pt x="2950" y="315224"/>
                  </a:lnTo>
                  <a:lnTo>
                    <a:pt x="0" y="360426"/>
                  </a:lnTo>
                  <a:lnTo>
                    <a:pt x="2950" y="405637"/>
                  </a:lnTo>
                  <a:lnTo>
                    <a:pt x="11565" y="449172"/>
                  </a:lnTo>
                  <a:lnTo>
                    <a:pt x="25490" y="490694"/>
                  </a:lnTo>
                  <a:lnTo>
                    <a:pt x="44370" y="529864"/>
                  </a:lnTo>
                  <a:lnTo>
                    <a:pt x="67849" y="566346"/>
                  </a:lnTo>
                  <a:lnTo>
                    <a:pt x="95574" y="599800"/>
                  </a:lnTo>
                  <a:lnTo>
                    <a:pt x="127190" y="629889"/>
                  </a:lnTo>
                  <a:lnTo>
                    <a:pt x="162341" y="656276"/>
                  </a:lnTo>
                  <a:lnTo>
                    <a:pt x="200673" y="678622"/>
                  </a:lnTo>
                  <a:lnTo>
                    <a:pt x="241831" y="696591"/>
                  </a:lnTo>
                  <a:lnTo>
                    <a:pt x="285461" y="709844"/>
                  </a:lnTo>
                  <a:lnTo>
                    <a:pt x="331206" y="718043"/>
                  </a:lnTo>
                  <a:lnTo>
                    <a:pt x="378714" y="720852"/>
                  </a:lnTo>
                  <a:lnTo>
                    <a:pt x="426221" y="718043"/>
                  </a:lnTo>
                  <a:lnTo>
                    <a:pt x="471966" y="709844"/>
                  </a:lnTo>
                  <a:lnTo>
                    <a:pt x="515596" y="696591"/>
                  </a:lnTo>
                  <a:lnTo>
                    <a:pt x="556754" y="678622"/>
                  </a:lnTo>
                  <a:lnTo>
                    <a:pt x="595086" y="656276"/>
                  </a:lnTo>
                  <a:lnTo>
                    <a:pt x="630237" y="629889"/>
                  </a:lnTo>
                  <a:lnTo>
                    <a:pt x="661853" y="599800"/>
                  </a:lnTo>
                  <a:lnTo>
                    <a:pt x="689578" y="566346"/>
                  </a:lnTo>
                  <a:lnTo>
                    <a:pt x="713057" y="529864"/>
                  </a:lnTo>
                  <a:lnTo>
                    <a:pt x="731937" y="490694"/>
                  </a:lnTo>
                  <a:lnTo>
                    <a:pt x="745862" y="449172"/>
                  </a:lnTo>
                  <a:lnTo>
                    <a:pt x="754477" y="405637"/>
                  </a:lnTo>
                  <a:lnTo>
                    <a:pt x="757428" y="360426"/>
                  </a:lnTo>
                  <a:lnTo>
                    <a:pt x="754477" y="315224"/>
                  </a:lnTo>
                  <a:lnTo>
                    <a:pt x="745862" y="271695"/>
                  </a:lnTo>
                  <a:lnTo>
                    <a:pt x="731937" y="230178"/>
                  </a:lnTo>
                  <a:lnTo>
                    <a:pt x="713057" y="191009"/>
                  </a:lnTo>
                  <a:lnTo>
                    <a:pt x="689578" y="154528"/>
                  </a:lnTo>
                  <a:lnTo>
                    <a:pt x="661853" y="121072"/>
                  </a:lnTo>
                  <a:lnTo>
                    <a:pt x="630237" y="90980"/>
                  </a:lnTo>
                  <a:lnTo>
                    <a:pt x="595086" y="64589"/>
                  </a:lnTo>
                  <a:lnTo>
                    <a:pt x="556754" y="42239"/>
                  </a:lnTo>
                  <a:lnTo>
                    <a:pt x="515596" y="24266"/>
                  </a:lnTo>
                  <a:lnTo>
                    <a:pt x="471966" y="11010"/>
                  </a:lnTo>
                  <a:lnTo>
                    <a:pt x="426221" y="2809"/>
                  </a:lnTo>
                  <a:lnTo>
                    <a:pt x="378714" y="0"/>
                  </a:lnTo>
                  <a:close/>
                </a:path>
              </a:pathLst>
            </a:custGeom>
            <a:solidFill>
              <a:srgbClr val="E36C09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29873" y="1137461"/>
            <a:ext cx="35433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20" dirty="0">
                <a:solidFill>
                  <a:srgbClr val="FFFFFF"/>
                </a:solidFill>
                <a:latin typeface="+mj-lt"/>
                <a:cs typeface="Calibri"/>
              </a:rPr>
              <a:t>DATA</a:t>
            </a:r>
            <a:endParaRPr sz="1100">
              <a:latin typeface="+mj-lt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54814" y="1426131"/>
            <a:ext cx="58991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3335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FFFFFF"/>
                </a:solidFill>
                <a:latin typeface="+mj-lt"/>
                <a:cs typeface="Calibri"/>
              </a:rPr>
              <a:t>IDENTITY </a:t>
            </a:r>
            <a:r>
              <a:rPr sz="1100" b="1" dirty="0">
                <a:solidFill>
                  <a:srgbClr val="FFFFFF"/>
                </a:solidFill>
                <a:latin typeface="+mj-lt"/>
                <a:cs typeface="Calibri"/>
              </a:rPr>
              <a:t>&amp;</a:t>
            </a:r>
            <a:r>
              <a:rPr sz="1100" b="1" spc="-2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+mj-lt"/>
                <a:cs typeface="Calibri"/>
              </a:rPr>
              <a:t>ACCESS</a:t>
            </a:r>
            <a:endParaRPr sz="1100">
              <a:latin typeface="+mj-lt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60197" y="2580181"/>
            <a:ext cx="69088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+mj-lt"/>
                <a:cs typeface="Calibri"/>
              </a:rPr>
              <a:t>ADVANCED FRAUD</a:t>
            </a:r>
            <a:endParaRPr sz="1100">
              <a:latin typeface="+mj-lt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34751" y="3993183"/>
            <a:ext cx="62801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865" marR="86995" indent="1270" algn="ctr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FFFFFF"/>
                </a:solidFill>
                <a:latin typeface="+mj-lt"/>
                <a:cs typeface="Calibri"/>
              </a:rPr>
              <a:t>Mgd </a:t>
            </a:r>
            <a:r>
              <a:rPr sz="1100" b="1" spc="-10" dirty="0">
                <a:solidFill>
                  <a:srgbClr val="FFFFFF"/>
                </a:solidFill>
                <a:latin typeface="+mj-lt"/>
                <a:cs typeface="Calibri"/>
              </a:rPr>
              <a:t>Security</a:t>
            </a:r>
            <a:endParaRPr sz="1100">
              <a:latin typeface="+mj-lt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solidFill>
                  <a:srgbClr val="FFFFFF"/>
                </a:solidFill>
                <a:latin typeface="+mj-lt"/>
                <a:cs typeface="Calibri"/>
              </a:rPr>
              <a:t>&amp;</a:t>
            </a:r>
            <a:r>
              <a:rPr sz="1100" b="1" spc="-10" dirty="0">
                <a:solidFill>
                  <a:srgbClr val="FFFFFF"/>
                </a:solidFill>
                <a:latin typeface="+mj-lt"/>
                <a:cs typeface="Calibri"/>
              </a:rPr>
              <a:t> Services</a:t>
            </a:r>
            <a:endParaRPr sz="1100">
              <a:latin typeface="+mj-lt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49860" y="3806340"/>
            <a:ext cx="63373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+mj-lt"/>
                <a:cs typeface="Calibri"/>
              </a:rPr>
              <a:t>NETWORK</a:t>
            </a:r>
            <a:endParaRPr sz="1100">
              <a:latin typeface="+mj-lt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42170" y="3806340"/>
            <a:ext cx="64516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+mj-lt"/>
                <a:cs typeface="Calibri"/>
              </a:rPr>
              <a:t>ENDPOINT</a:t>
            </a:r>
            <a:endParaRPr sz="1100">
              <a:latin typeface="+mj-lt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22079" y="2652317"/>
            <a:ext cx="43434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+mj-lt"/>
                <a:cs typeface="Calibri"/>
              </a:rPr>
              <a:t>CLOUD</a:t>
            </a:r>
            <a:endParaRPr sz="1100">
              <a:latin typeface="+mj-lt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54642" y="1570276"/>
            <a:ext cx="32639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20" dirty="0">
                <a:solidFill>
                  <a:srgbClr val="FFFFFF"/>
                </a:solidFill>
                <a:latin typeface="+mj-lt"/>
                <a:cs typeface="Calibri"/>
              </a:rPr>
              <a:t>APPS</a:t>
            </a:r>
            <a:endParaRPr sz="1100">
              <a:latin typeface="+mj-lt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33253" y="2435401"/>
            <a:ext cx="127825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00"/>
                </a:solidFill>
                <a:latin typeface="+mj-lt"/>
                <a:cs typeface="Calibri"/>
              </a:rPr>
              <a:t>SECURITY </a:t>
            </a:r>
            <a:r>
              <a:rPr sz="1400" b="1" spc="-20" dirty="0">
                <a:solidFill>
                  <a:srgbClr val="FFFF00"/>
                </a:solidFill>
                <a:latin typeface="+mj-lt"/>
                <a:cs typeface="Calibri"/>
              </a:rPr>
              <a:t>ORCHESTRATION </a:t>
            </a:r>
            <a:r>
              <a:rPr sz="1400" b="1" dirty="0">
                <a:solidFill>
                  <a:srgbClr val="FFFF00"/>
                </a:solidFill>
                <a:latin typeface="+mj-lt"/>
                <a:cs typeface="Calibri"/>
              </a:rPr>
              <a:t>&amp;</a:t>
            </a:r>
            <a:r>
              <a:rPr sz="1400" b="1" spc="-25" dirty="0">
                <a:solidFill>
                  <a:srgbClr val="FFFF00"/>
                </a:solidFill>
                <a:latin typeface="+mj-lt"/>
                <a:cs typeface="Calibri"/>
              </a:rPr>
              <a:t> </a:t>
            </a:r>
            <a:r>
              <a:rPr sz="1400" b="1" spc="-10" dirty="0">
                <a:solidFill>
                  <a:srgbClr val="FFFF00"/>
                </a:solidFill>
                <a:latin typeface="+mj-lt"/>
                <a:cs typeface="Calibri"/>
              </a:rPr>
              <a:t>ANALYTICS</a:t>
            </a:r>
            <a:endParaRPr sz="1400">
              <a:latin typeface="+mj-lt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017710" y="1618537"/>
            <a:ext cx="3108198" cy="2307716"/>
            <a:chOff x="2928366" y="1742694"/>
            <a:chExt cx="3108198" cy="2307716"/>
          </a:xfrm>
        </p:grpSpPr>
        <p:sp>
          <p:nvSpPr>
            <p:cNvPr id="22" name="object 22"/>
            <p:cNvSpPr/>
            <p:nvPr/>
          </p:nvSpPr>
          <p:spPr>
            <a:xfrm>
              <a:off x="4444746" y="1742694"/>
              <a:ext cx="38100" cy="648970"/>
            </a:xfrm>
            <a:custGeom>
              <a:avLst/>
              <a:gdLst/>
              <a:ahLst/>
              <a:cxnLst/>
              <a:rect l="l" t="t" r="r" b="b"/>
              <a:pathLst>
                <a:path w="38100" h="648969">
                  <a:moveTo>
                    <a:pt x="0" y="0"/>
                  </a:moveTo>
                  <a:lnTo>
                    <a:pt x="37846" y="648970"/>
                  </a:lnTo>
                </a:path>
              </a:pathLst>
            </a:custGeom>
            <a:ln w="1981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5045202" y="1997202"/>
              <a:ext cx="647700" cy="542290"/>
            </a:xfrm>
            <a:custGeom>
              <a:avLst/>
              <a:gdLst/>
              <a:ahLst/>
              <a:cxnLst/>
              <a:rect l="l" t="t" r="r" b="b"/>
              <a:pathLst>
                <a:path w="647700" h="542289">
                  <a:moveTo>
                    <a:pt x="647191" y="0"/>
                  </a:moveTo>
                  <a:lnTo>
                    <a:pt x="0" y="541909"/>
                  </a:lnTo>
                </a:path>
              </a:pathLst>
            </a:custGeom>
            <a:ln w="1981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5278374" y="2871977"/>
              <a:ext cx="758190" cy="25400"/>
            </a:xfrm>
            <a:custGeom>
              <a:avLst/>
              <a:gdLst/>
              <a:ahLst/>
              <a:cxnLst/>
              <a:rect l="l" t="t" r="r" b="b"/>
              <a:pathLst>
                <a:path w="758189" h="25400">
                  <a:moveTo>
                    <a:pt x="757936" y="0"/>
                  </a:moveTo>
                  <a:lnTo>
                    <a:pt x="0" y="24892"/>
                  </a:lnTo>
                </a:path>
              </a:pathLst>
            </a:custGeom>
            <a:ln w="1981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5045201" y="3252978"/>
              <a:ext cx="647699" cy="528954"/>
            </a:xfrm>
            <a:custGeom>
              <a:avLst/>
              <a:gdLst/>
              <a:ahLst/>
              <a:cxnLst/>
              <a:rect l="l" t="t" r="r" b="b"/>
              <a:pathLst>
                <a:path w="536575" h="776604">
                  <a:moveTo>
                    <a:pt x="536194" y="776389"/>
                  </a:moveTo>
                  <a:lnTo>
                    <a:pt x="0" y="0"/>
                  </a:lnTo>
                </a:path>
              </a:pathLst>
            </a:custGeom>
            <a:ln w="1981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+mj-lt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4444746" y="3400805"/>
              <a:ext cx="38100" cy="649605"/>
            </a:xfrm>
            <a:custGeom>
              <a:avLst/>
              <a:gdLst/>
              <a:ahLst/>
              <a:cxnLst/>
              <a:rect l="l" t="t" r="r" b="b"/>
              <a:pathLst>
                <a:path w="38100" h="649604">
                  <a:moveTo>
                    <a:pt x="0" y="648982"/>
                  </a:moveTo>
                  <a:lnTo>
                    <a:pt x="37846" y="0"/>
                  </a:lnTo>
                </a:path>
              </a:pathLst>
            </a:custGeom>
            <a:ln w="1981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156966" y="3329177"/>
              <a:ext cx="895350" cy="490855"/>
            </a:xfrm>
            <a:custGeom>
              <a:avLst/>
              <a:gdLst/>
              <a:ahLst/>
              <a:cxnLst/>
              <a:rect l="l" t="t" r="r" b="b"/>
              <a:pathLst>
                <a:path w="895350" h="490854">
                  <a:moveTo>
                    <a:pt x="0" y="490855"/>
                  </a:moveTo>
                  <a:lnTo>
                    <a:pt x="894841" y="0"/>
                  </a:lnTo>
                </a:path>
              </a:pathLst>
            </a:custGeom>
            <a:ln w="1981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2928366" y="2896362"/>
              <a:ext cx="758190" cy="1905"/>
            </a:xfrm>
            <a:custGeom>
              <a:avLst/>
              <a:gdLst/>
              <a:ahLst/>
              <a:cxnLst/>
              <a:rect l="l" t="t" r="r" b="b"/>
              <a:pathLst>
                <a:path w="758189" h="1905">
                  <a:moveTo>
                    <a:pt x="0" y="0"/>
                  </a:moveTo>
                  <a:lnTo>
                    <a:pt x="757936" y="1524"/>
                  </a:lnTo>
                </a:path>
              </a:pathLst>
            </a:custGeom>
            <a:ln w="1981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196590" y="2070354"/>
              <a:ext cx="723265" cy="469900"/>
            </a:xfrm>
            <a:custGeom>
              <a:avLst/>
              <a:gdLst/>
              <a:ahLst/>
              <a:cxnLst/>
              <a:rect l="l" t="t" r="r" b="b"/>
              <a:pathLst>
                <a:path w="723264" h="469900">
                  <a:moveTo>
                    <a:pt x="0" y="0"/>
                  </a:moveTo>
                  <a:lnTo>
                    <a:pt x="723011" y="469773"/>
                  </a:lnTo>
                </a:path>
              </a:pathLst>
            </a:custGeom>
            <a:ln w="1981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913312" y="613476"/>
            <a:ext cx="231013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+mj-lt"/>
                <a:cs typeface="Calibri"/>
              </a:rPr>
              <a:t>Data</a:t>
            </a:r>
            <a:r>
              <a:rPr sz="1400" spc="-25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Protection,</a:t>
            </a:r>
            <a:r>
              <a:rPr sz="1400" spc="-15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Encryption</a:t>
            </a:r>
            <a:endParaRPr sz="1400" dirty="0">
              <a:latin typeface="+mj-lt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spc="-10" dirty="0">
                <a:latin typeface="+mj-lt"/>
                <a:cs typeface="Calibri"/>
              </a:rPr>
              <a:t>Degaussing,</a:t>
            </a:r>
            <a:r>
              <a:rPr sz="1400" spc="15" dirty="0">
                <a:latin typeface="+mj-lt"/>
                <a:cs typeface="Calibri"/>
              </a:rPr>
              <a:t> </a:t>
            </a:r>
            <a:r>
              <a:rPr sz="1400" spc="-25" dirty="0">
                <a:latin typeface="+mj-lt"/>
                <a:cs typeface="Calibri"/>
              </a:rPr>
              <a:t>DRM</a:t>
            </a:r>
            <a:endParaRPr sz="1400" dirty="0">
              <a:latin typeface="+mj-lt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35673" y="1095089"/>
            <a:ext cx="238887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+mj-lt"/>
                <a:cs typeface="Calibri"/>
              </a:rPr>
              <a:t>Access</a:t>
            </a:r>
            <a:r>
              <a:rPr sz="1400" spc="-40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Control</a:t>
            </a:r>
            <a:endParaRPr sz="1400" dirty="0">
              <a:latin typeface="+mj-lt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+mj-lt"/>
                <a:cs typeface="Calibri"/>
              </a:rPr>
              <a:t>Privileged</a:t>
            </a:r>
            <a:r>
              <a:rPr sz="1400" spc="-50" dirty="0">
                <a:latin typeface="+mj-lt"/>
                <a:cs typeface="Calibri"/>
              </a:rPr>
              <a:t> </a:t>
            </a:r>
            <a:r>
              <a:rPr sz="1400" dirty="0">
                <a:latin typeface="+mj-lt"/>
                <a:cs typeface="Calibri"/>
              </a:rPr>
              <a:t>user</a:t>
            </a:r>
            <a:r>
              <a:rPr sz="1400" spc="-55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management</a:t>
            </a:r>
            <a:endParaRPr sz="1400" dirty="0">
              <a:latin typeface="+mj-lt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+mj-lt"/>
                <a:cs typeface="Calibri"/>
              </a:rPr>
              <a:t>Identity</a:t>
            </a:r>
            <a:r>
              <a:rPr sz="1400" spc="-10" dirty="0">
                <a:latin typeface="+mj-lt"/>
                <a:cs typeface="Calibri"/>
              </a:rPr>
              <a:t> governance</a:t>
            </a:r>
            <a:r>
              <a:rPr sz="1400" spc="-25" dirty="0">
                <a:latin typeface="+mj-lt"/>
                <a:cs typeface="Calibri"/>
              </a:rPr>
              <a:t> </a:t>
            </a:r>
            <a:r>
              <a:rPr sz="1400" dirty="0">
                <a:latin typeface="+mj-lt"/>
                <a:cs typeface="Calibri"/>
              </a:rPr>
              <a:t>&amp;</a:t>
            </a:r>
            <a:r>
              <a:rPr sz="1400" spc="-40" dirty="0">
                <a:latin typeface="+mj-lt"/>
                <a:cs typeface="Calibri"/>
              </a:rPr>
              <a:t> </a:t>
            </a:r>
            <a:r>
              <a:rPr sz="1400" spc="-20" dirty="0">
                <a:latin typeface="+mj-lt"/>
                <a:cs typeface="Calibri"/>
              </a:rPr>
              <a:t>Admn</a:t>
            </a:r>
            <a:endParaRPr sz="1400" dirty="0">
              <a:latin typeface="+mj-lt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+mj-lt"/>
                <a:cs typeface="Calibri"/>
              </a:rPr>
              <a:t>Access</a:t>
            </a:r>
            <a:r>
              <a:rPr sz="1400" spc="-20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management/</a:t>
            </a:r>
            <a:r>
              <a:rPr sz="1400" spc="-5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IDaas</a:t>
            </a:r>
            <a:endParaRPr sz="1400" dirty="0">
              <a:latin typeface="+mj-lt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42658" y="2435401"/>
            <a:ext cx="15208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+mj-lt"/>
                <a:cs typeface="Calibri"/>
              </a:rPr>
              <a:t>Fraud</a:t>
            </a:r>
            <a:r>
              <a:rPr sz="1400" spc="-65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protection</a:t>
            </a:r>
            <a:endParaRPr sz="1400">
              <a:latin typeface="+mj-lt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+mj-lt"/>
                <a:cs typeface="Calibri"/>
              </a:rPr>
              <a:t>Crime</a:t>
            </a:r>
            <a:r>
              <a:rPr sz="1400" spc="-25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detection</a:t>
            </a:r>
            <a:endParaRPr sz="1400">
              <a:latin typeface="+mj-lt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93775" y="3539029"/>
            <a:ext cx="227266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sz="1400" spc="-10" dirty="0">
                <a:latin typeface="+mj-lt"/>
                <a:cs typeface="Calibri"/>
              </a:rPr>
              <a:t>Firewalls,</a:t>
            </a:r>
            <a:r>
              <a:rPr sz="1400" spc="-35" dirty="0">
                <a:latin typeface="+mj-lt"/>
                <a:cs typeface="Calibri"/>
              </a:rPr>
              <a:t> </a:t>
            </a:r>
            <a:r>
              <a:rPr sz="1400" dirty="0">
                <a:latin typeface="+mj-lt"/>
                <a:cs typeface="Calibri"/>
              </a:rPr>
              <a:t>Filters</a:t>
            </a:r>
            <a:r>
              <a:rPr sz="1400" spc="-35" dirty="0">
                <a:latin typeface="+mj-lt"/>
                <a:cs typeface="Calibri"/>
              </a:rPr>
              <a:t> </a:t>
            </a:r>
            <a:r>
              <a:rPr sz="1400" dirty="0">
                <a:latin typeface="+mj-lt"/>
                <a:cs typeface="Calibri"/>
              </a:rPr>
              <a:t>and</a:t>
            </a:r>
            <a:r>
              <a:rPr sz="1400" spc="-25" dirty="0">
                <a:latin typeface="+mj-lt"/>
                <a:cs typeface="Calibri"/>
              </a:rPr>
              <a:t> IPS</a:t>
            </a:r>
            <a:endParaRPr sz="1400" dirty="0">
              <a:latin typeface="+mj-lt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+mj-lt"/>
                <a:cs typeface="Calibri"/>
              </a:rPr>
              <a:t>NW</a:t>
            </a:r>
            <a:r>
              <a:rPr sz="1400" spc="-45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forensics</a:t>
            </a:r>
            <a:r>
              <a:rPr sz="1400" spc="-40" dirty="0">
                <a:latin typeface="+mj-lt"/>
                <a:cs typeface="Calibri"/>
              </a:rPr>
              <a:t> </a:t>
            </a:r>
            <a:r>
              <a:rPr sz="1400" dirty="0">
                <a:latin typeface="+mj-lt"/>
                <a:cs typeface="Calibri"/>
              </a:rPr>
              <a:t>&amp;</a:t>
            </a:r>
            <a:r>
              <a:rPr sz="1400" spc="-35" dirty="0">
                <a:latin typeface="+mj-lt"/>
                <a:cs typeface="Calibri"/>
              </a:rPr>
              <a:t> </a:t>
            </a:r>
            <a:r>
              <a:rPr sz="1400" dirty="0">
                <a:latin typeface="+mj-lt"/>
                <a:cs typeface="Calibri"/>
              </a:rPr>
              <a:t>Threat</a:t>
            </a:r>
            <a:r>
              <a:rPr sz="1400" spc="-5" dirty="0">
                <a:latin typeface="+mj-lt"/>
                <a:cs typeface="Calibri"/>
              </a:rPr>
              <a:t> </a:t>
            </a:r>
            <a:r>
              <a:rPr sz="1400" spc="-25" dirty="0">
                <a:latin typeface="+mj-lt"/>
                <a:cs typeface="Calibri"/>
              </a:rPr>
              <a:t>Mgt</a:t>
            </a:r>
            <a:endParaRPr sz="1400" dirty="0">
              <a:latin typeface="+mj-lt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+mj-lt"/>
                <a:cs typeface="Calibri"/>
              </a:rPr>
              <a:t>Network</a:t>
            </a:r>
            <a:r>
              <a:rPr sz="1400" spc="-70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Visibility</a:t>
            </a:r>
            <a:endParaRPr sz="1400" dirty="0">
              <a:latin typeface="+mj-lt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94211" y="4316893"/>
            <a:ext cx="2405636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sz="1400" spc="-10" dirty="0">
                <a:latin typeface="+mj-lt"/>
                <a:cs typeface="Calibri"/>
              </a:rPr>
              <a:t>VA</a:t>
            </a:r>
            <a:r>
              <a:rPr sz="1400" spc="-35" dirty="0">
                <a:latin typeface="+mj-lt"/>
                <a:cs typeface="Calibri"/>
              </a:rPr>
              <a:t> </a:t>
            </a:r>
            <a:r>
              <a:rPr sz="1400" dirty="0">
                <a:latin typeface="+mj-lt"/>
                <a:cs typeface="Calibri"/>
              </a:rPr>
              <a:t>&amp;</a:t>
            </a:r>
            <a:r>
              <a:rPr sz="1400" spc="-55" dirty="0">
                <a:latin typeface="+mj-lt"/>
                <a:cs typeface="Calibri"/>
              </a:rPr>
              <a:t> </a:t>
            </a:r>
            <a:r>
              <a:rPr sz="1400" spc="-25" dirty="0">
                <a:latin typeface="+mj-lt"/>
                <a:cs typeface="Calibri"/>
              </a:rPr>
              <a:t>PT</a:t>
            </a:r>
            <a:endParaRPr sz="1400" dirty="0">
              <a:latin typeface="+mj-lt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+mj-lt"/>
                <a:cs typeface="Calibri"/>
              </a:rPr>
              <a:t>Log &amp;</a:t>
            </a:r>
            <a:r>
              <a:rPr sz="1400" spc="-20" dirty="0">
                <a:latin typeface="+mj-lt"/>
                <a:cs typeface="Calibri"/>
              </a:rPr>
              <a:t> </a:t>
            </a:r>
            <a:r>
              <a:rPr sz="1400" dirty="0">
                <a:latin typeface="+mj-lt"/>
                <a:cs typeface="Calibri"/>
              </a:rPr>
              <a:t>Flow</a:t>
            </a:r>
            <a:r>
              <a:rPr sz="1400" spc="-35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Analysis</a:t>
            </a:r>
            <a:endParaRPr lang="en-US" sz="1400" spc="-10" dirty="0">
              <a:latin typeface="+mj-lt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lang="en-IN" sz="1400" spc="-10" dirty="0">
                <a:latin typeface="+mj-lt"/>
                <a:cs typeface="Calibri"/>
              </a:rPr>
              <a:t>Security </a:t>
            </a:r>
            <a:r>
              <a:rPr lang="en-IN" sz="1400" spc="-10" dirty="0" err="1">
                <a:latin typeface="+mj-lt"/>
                <a:cs typeface="Calibri"/>
              </a:rPr>
              <a:t>Mgt</a:t>
            </a:r>
            <a:r>
              <a:rPr lang="en-IN" sz="1400" spc="-10" dirty="0">
                <a:latin typeface="+mj-lt"/>
                <a:cs typeface="Calibri"/>
              </a:rPr>
              <a:t> &amp; Intelligence</a:t>
            </a:r>
            <a:endParaRPr sz="1400" dirty="0">
              <a:latin typeface="+mj-lt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6891" y="3326823"/>
            <a:ext cx="221678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+mj-lt"/>
                <a:cs typeface="Calibri"/>
              </a:rPr>
              <a:t>Endpoint</a:t>
            </a:r>
            <a:r>
              <a:rPr sz="1400" spc="-30" dirty="0">
                <a:latin typeface="+mj-lt"/>
                <a:cs typeface="Calibri"/>
              </a:rPr>
              <a:t> </a:t>
            </a:r>
            <a:r>
              <a:rPr sz="1400" dirty="0">
                <a:latin typeface="+mj-lt"/>
                <a:cs typeface="Calibri"/>
              </a:rPr>
              <a:t>patch</a:t>
            </a:r>
            <a:r>
              <a:rPr sz="1400" spc="-45" dirty="0">
                <a:latin typeface="+mj-lt"/>
                <a:cs typeface="Calibri"/>
              </a:rPr>
              <a:t> </a:t>
            </a:r>
            <a:r>
              <a:rPr sz="1400" dirty="0">
                <a:latin typeface="+mj-lt"/>
                <a:cs typeface="Calibri"/>
              </a:rPr>
              <a:t>&amp;</a:t>
            </a:r>
            <a:r>
              <a:rPr sz="1400" spc="-40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Controls</a:t>
            </a:r>
            <a:endParaRPr sz="1400">
              <a:latin typeface="+mj-lt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299085" algn="l"/>
              </a:tabLst>
            </a:pPr>
            <a:r>
              <a:rPr sz="1400" spc="-10" dirty="0">
                <a:latin typeface="+mj-lt"/>
                <a:cs typeface="Calibri"/>
              </a:rPr>
              <a:t>Malware</a:t>
            </a:r>
            <a:r>
              <a:rPr sz="1400" spc="-30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protection</a:t>
            </a:r>
            <a:endParaRPr sz="1400">
              <a:latin typeface="+mj-lt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+mj-lt"/>
                <a:cs typeface="Calibri"/>
              </a:rPr>
              <a:t>Mobile</a:t>
            </a:r>
            <a:r>
              <a:rPr sz="1400" spc="-60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Txn</a:t>
            </a:r>
            <a:r>
              <a:rPr sz="1400" spc="-45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protection</a:t>
            </a:r>
            <a:endParaRPr sz="1400">
              <a:latin typeface="+mj-lt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spc="-10" dirty="0">
                <a:latin typeface="+mj-lt"/>
                <a:cs typeface="Calibri"/>
              </a:rPr>
              <a:t>BYOD</a:t>
            </a:r>
            <a:r>
              <a:rPr sz="1400" spc="-40" dirty="0">
                <a:latin typeface="+mj-lt"/>
                <a:cs typeface="Calibri"/>
              </a:rPr>
              <a:t> </a:t>
            </a:r>
            <a:r>
              <a:rPr sz="1400" dirty="0">
                <a:latin typeface="+mj-lt"/>
                <a:cs typeface="Calibri"/>
              </a:rPr>
              <a:t>&amp;</a:t>
            </a:r>
            <a:r>
              <a:rPr sz="1400" spc="-45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Content security</a:t>
            </a:r>
            <a:endParaRPr sz="1400">
              <a:latin typeface="+mj-lt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0241" y="2421000"/>
            <a:ext cx="193230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299085" algn="l"/>
              </a:tabLst>
            </a:pPr>
            <a:r>
              <a:rPr sz="1400" spc="-10" dirty="0">
                <a:latin typeface="+mj-lt"/>
                <a:cs typeface="Calibri"/>
              </a:rPr>
              <a:t>Workload</a:t>
            </a:r>
            <a:r>
              <a:rPr sz="1400" spc="-25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Protection</a:t>
            </a:r>
            <a:endParaRPr sz="1400">
              <a:latin typeface="+mj-lt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+mj-lt"/>
                <a:cs typeface="Calibri"/>
              </a:rPr>
              <a:t>Access</a:t>
            </a:r>
            <a:r>
              <a:rPr sz="1400" spc="-40" dirty="0">
                <a:latin typeface="+mj-lt"/>
                <a:cs typeface="Calibri"/>
              </a:rPr>
              <a:t> </a:t>
            </a:r>
            <a:r>
              <a:rPr sz="1400" dirty="0">
                <a:latin typeface="+mj-lt"/>
                <a:cs typeface="Calibri"/>
              </a:rPr>
              <a:t>Security</a:t>
            </a:r>
            <a:r>
              <a:rPr sz="1400" spc="-45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Broker</a:t>
            </a:r>
            <a:endParaRPr sz="1400">
              <a:latin typeface="+mj-lt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0021" y="903604"/>
            <a:ext cx="180403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+mj-lt"/>
                <a:cs typeface="Calibri"/>
              </a:rPr>
              <a:t>DevOps</a:t>
            </a:r>
            <a:r>
              <a:rPr sz="1400" spc="-40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Security</a:t>
            </a:r>
            <a:endParaRPr sz="1400">
              <a:latin typeface="+mj-lt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spc="-10" dirty="0">
                <a:latin typeface="+mj-lt"/>
                <a:cs typeface="Calibri"/>
              </a:rPr>
              <a:t>Application</a:t>
            </a:r>
            <a:r>
              <a:rPr sz="1400" spc="25" dirty="0">
                <a:latin typeface="+mj-lt"/>
                <a:cs typeface="Calibri"/>
              </a:rPr>
              <a:t> </a:t>
            </a:r>
            <a:r>
              <a:rPr sz="1400" spc="-10" dirty="0">
                <a:latin typeface="+mj-lt"/>
                <a:cs typeface="Calibri"/>
              </a:rPr>
              <a:t>scanning</a:t>
            </a:r>
            <a:endParaRPr sz="1400">
              <a:latin typeface="+mj-lt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+mj-lt"/>
                <a:cs typeface="Calibri"/>
              </a:rPr>
              <a:t>App</a:t>
            </a:r>
            <a:r>
              <a:rPr sz="1400" spc="-30" dirty="0">
                <a:latin typeface="+mj-lt"/>
                <a:cs typeface="Calibri"/>
              </a:rPr>
              <a:t> </a:t>
            </a:r>
            <a:r>
              <a:rPr sz="1400" dirty="0">
                <a:latin typeface="+mj-lt"/>
                <a:cs typeface="Calibri"/>
              </a:rPr>
              <a:t>Security</a:t>
            </a:r>
            <a:r>
              <a:rPr sz="1400" spc="-25" dirty="0">
                <a:latin typeface="+mj-lt"/>
                <a:cs typeface="Calibri"/>
              </a:rPr>
              <a:t> Mgt</a:t>
            </a:r>
            <a:endParaRPr sz="1400">
              <a:latin typeface="+mj-lt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32694" y="3295317"/>
            <a:ext cx="114109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+mj-lt"/>
                <a:cs typeface="Calibri"/>
              </a:rPr>
              <a:t>Security</a:t>
            </a:r>
            <a:r>
              <a:rPr sz="1100" b="1" spc="-40" dirty="0">
                <a:latin typeface="+mj-lt"/>
                <a:cs typeface="Calibri"/>
              </a:rPr>
              <a:t> </a:t>
            </a:r>
            <a:r>
              <a:rPr sz="1100" b="1" spc="-10" dirty="0">
                <a:latin typeface="+mj-lt"/>
                <a:cs typeface="Calibri"/>
              </a:rPr>
              <a:t>Consulting Compliance Certifications</a:t>
            </a:r>
            <a:endParaRPr sz="1100" dirty="0">
              <a:latin typeface="+mj-lt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83647" y="1696769"/>
            <a:ext cx="157670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latin typeface="+mj-lt"/>
                <a:cs typeface="Calibri"/>
              </a:rPr>
              <a:t>Vulnerability</a:t>
            </a:r>
            <a:r>
              <a:rPr sz="1100" b="1" spc="55" dirty="0">
                <a:latin typeface="+mj-lt"/>
                <a:cs typeface="Calibri"/>
              </a:rPr>
              <a:t> </a:t>
            </a:r>
            <a:r>
              <a:rPr sz="1100" b="1" spc="-10" dirty="0">
                <a:latin typeface="+mj-lt"/>
                <a:cs typeface="Calibri"/>
              </a:rPr>
              <a:t>management </a:t>
            </a:r>
            <a:r>
              <a:rPr sz="1100" b="1" dirty="0">
                <a:latin typeface="+mj-lt"/>
                <a:cs typeface="Calibri"/>
              </a:rPr>
              <a:t>Anomaly</a:t>
            </a:r>
            <a:r>
              <a:rPr sz="1100" b="1" spc="-50" dirty="0">
                <a:latin typeface="+mj-lt"/>
                <a:cs typeface="Calibri"/>
              </a:rPr>
              <a:t> </a:t>
            </a:r>
            <a:r>
              <a:rPr sz="1100" b="1" spc="-10" dirty="0">
                <a:latin typeface="+mj-lt"/>
                <a:cs typeface="Calibri"/>
              </a:rPr>
              <a:t>detection </a:t>
            </a:r>
            <a:r>
              <a:rPr sz="1100" b="1" dirty="0">
                <a:latin typeface="+mj-lt"/>
                <a:cs typeface="Calibri"/>
              </a:rPr>
              <a:t>Incident</a:t>
            </a:r>
            <a:r>
              <a:rPr sz="1100" b="1" spc="-45" dirty="0">
                <a:latin typeface="+mj-lt"/>
                <a:cs typeface="Calibri"/>
              </a:rPr>
              <a:t> </a:t>
            </a:r>
            <a:r>
              <a:rPr sz="1100" b="1" spc="-10" dirty="0">
                <a:latin typeface="+mj-lt"/>
                <a:cs typeface="Calibri"/>
              </a:rPr>
              <a:t>Response</a:t>
            </a:r>
            <a:endParaRPr sz="1100">
              <a:latin typeface="+mj-lt"/>
              <a:cs typeface="Calibri"/>
            </a:endParaRPr>
          </a:p>
        </p:txBody>
      </p:sp>
      <p:sp>
        <p:nvSpPr>
          <p:cNvPr id="42" name="object 35">
            <a:extLst>
              <a:ext uri="{FF2B5EF4-FFF2-40B4-BE49-F238E27FC236}">
                <a16:creationId xmlns:a16="http://schemas.microsoft.com/office/drawing/2014/main" id="{758AFFA6-8DDF-0142-B0B4-0E76ECF9B0E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1859" y="4224528"/>
            <a:ext cx="792479" cy="6111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6107" y="4232147"/>
            <a:ext cx="864107" cy="6111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95372" y="4224528"/>
            <a:ext cx="792479" cy="6111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4359" y="4224528"/>
            <a:ext cx="864108" cy="61112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763511" y="693419"/>
            <a:ext cx="2216150" cy="2089785"/>
            <a:chOff x="6763511" y="693419"/>
            <a:chExt cx="2216150" cy="2089785"/>
          </a:xfrm>
        </p:grpSpPr>
        <p:sp>
          <p:nvSpPr>
            <p:cNvPr id="7" name="object 7"/>
            <p:cNvSpPr/>
            <p:nvPr/>
          </p:nvSpPr>
          <p:spPr>
            <a:xfrm>
              <a:off x="6763511" y="693419"/>
              <a:ext cx="2216150" cy="2089785"/>
            </a:xfrm>
            <a:custGeom>
              <a:avLst/>
              <a:gdLst/>
              <a:ahLst/>
              <a:cxnLst/>
              <a:rect l="l" t="t" r="r" b="b"/>
              <a:pathLst>
                <a:path w="2216150" h="2089785">
                  <a:moveTo>
                    <a:pt x="2215896" y="0"/>
                  </a:moveTo>
                  <a:lnTo>
                    <a:pt x="0" y="0"/>
                  </a:lnTo>
                  <a:lnTo>
                    <a:pt x="0" y="2089403"/>
                  </a:lnTo>
                  <a:lnTo>
                    <a:pt x="2215896" y="2089403"/>
                  </a:lnTo>
                  <a:lnTo>
                    <a:pt x="2215896" y="0"/>
                  </a:lnTo>
                  <a:close/>
                </a:path>
              </a:pathLst>
            </a:custGeom>
            <a:solidFill>
              <a:srgbClr val="C5D9F0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76287" y="807719"/>
              <a:ext cx="2008631" cy="914400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4572000" y="693419"/>
            <a:ext cx="2125980" cy="2089785"/>
          </a:xfrm>
          <a:custGeom>
            <a:avLst/>
            <a:gdLst/>
            <a:ahLst/>
            <a:cxnLst/>
            <a:rect l="l" t="t" r="r" b="b"/>
            <a:pathLst>
              <a:path w="2125979" h="2089785">
                <a:moveTo>
                  <a:pt x="2125979" y="0"/>
                </a:moveTo>
                <a:lnTo>
                  <a:pt x="0" y="0"/>
                </a:lnTo>
                <a:lnTo>
                  <a:pt x="0" y="2089403"/>
                </a:lnTo>
                <a:lnTo>
                  <a:pt x="2125979" y="2089403"/>
                </a:lnTo>
                <a:lnTo>
                  <a:pt x="212597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85486" y="2133345"/>
            <a:ext cx="1668145" cy="575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10160" algn="ctr">
              <a:lnSpc>
                <a:spcPct val="100400"/>
              </a:lnSpc>
              <a:spcBef>
                <a:spcPts val="95"/>
              </a:spcBef>
            </a:pP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Providing</a:t>
            </a:r>
            <a:r>
              <a:rPr sz="900" spc="-5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Customers</a:t>
            </a:r>
            <a:r>
              <a:rPr sz="900" spc="-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with</a:t>
            </a:r>
            <a:r>
              <a:rPr sz="900" spc="-1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a</a:t>
            </a:r>
            <a:r>
              <a:rPr sz="900" spc="-2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spc="-10" dirty="0">
                <a:solidFill>
                  <a:srgbClr val="252525"/>
                </a:solidFill>
                <a:latin typeface="+mj-lt"/>
                <a:cs typeface="Times New Roman"/>
              </a:rPr>
              <a:t>Robust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Governance</a:t>
            </a:r>
            <a:r>
              <a:rPr sz="900" spc="-1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Model</a:t>
            </a:r>
            <a:r>
              <a:rPr sz="900" spc="-3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to</a:t>
            </a:r>
            <a:r>
              <a:rPr sz="900" spc="18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manage </a:t>
            </a:r>
            <a:r>
              <a:rPr sz="900" spc="-25" dirty="0">
                <a:solidFill>
                  <a:srgbClr val="252525"/>
                </a:solidFill>
                <a:latin typeface="+mj-lt"/>
                <a:cs typeface="Times New Roman"/>
              </a:rPr>
              <a:t>new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 developments,</a:t>
            </a:r>
            <a:r>
              <a:rPr sz="900" spc="-3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BAU</a:t>
            </a:r>
            <a:r>
              <a:rPr sz="900" spc="-3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spc="-10" dirty="0">
                <a:solidFill>
                  <a:srgbClr val="252525"/>
                </a:solidFill>
                <a:latin typeface="+mj-lt"/>
                <a:cs typeface="Times New Roman"/>
              </a:rPr>
              <a:t>support,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enhancements</a:t>
            </a:r>
            <a:r>
              <a:rPr sz="900" spc="-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&amp;</a:t>
            </a:r>
            <a:r>
              <a:rPr sz="900" spc="-2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new</a:t>
            </a:r>
            <a:r>
              <a:rPr sz="900" spc="-2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spc="-10" dirty="0">
                <a:solidFill>
                  <a:srgbClr val="252525"/>
                </a:solidFill>
                <a:latin typeface="+mj-lt"/>
                <a:cs typeface="Times New Roman"/>
              </a:rPr>
              <a:t>features</a:t>
            </a:r>
            <a:endParaRPr sz="900">
              <a:latin typeface="+mj-lt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87265" y="1774952"/>
            <a:ext cx="162560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+mj-lt"/>
                <a:cs typeface="Times New Roman"/>
              </a:rPr>
              <a:t>Robust</a:t>
            </a:r>
            <a:r>
              <a:rPr sz="1100" b="1" spc="-20" dirty="0">
                <a:latin typeface="+mj-lt"/>
                <a:cs typeface="Times New Roman"/>
              </a:rPr>
              <a:t> </a:t>
            </a:r>
            <a:r>
              <a:rPr sz="1100" b="1" dirty="0">
                <a:latin typeface="+mj-lt"/>
                <a:cs typeface="Times New Roman"/>
              </a:rPr>
              <a:t>Governance</a:t>
            </a:r>
            <a:r>
              <a:rPr sz="1100" b="1" spc="-30" dirty="0">
                <a:latin typeface="+mj-lt"/>
                <a:cs typeface="Times New Roman"/>
              </a:rPr>
              <a:t> </a:t>
            </a:r>
            <a:r>
              <a:rPr sz="1100" b="1" spc="-10" dirty="0">
                <a:latin typeface="+mj-lt"/>
                <a:cs typeface="Times New Roman"/>
              </a:rPr>
              <a:t>Model</a:t>
            </a:r>
            <a:endParaRPr sz="1100">
              <a:latin typeface="+mj-lt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97979" y="1773123"/>
            <a:ext cx="136779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+mj-lt"/>
                <a:cs typeface="Times New Roman"/>
              </a:rPr>
              <a:t>Lower</a:t>
            </a:r>
            <a:r>
              <a:rPr sz="1100" b="1" spc="-30" dirty="0">
                <a:latin typeface="+mj-lt"/>
                <a:cs typeface="Times New Roman"/>
              </a:rPr>
              <a:t> </a:t>
            </a:r>
            <a:r>
              <a:rPr sz="1100" b="1" dirty="0">
                <a:latin typeface="+mj-lt"/>
                <a:cs typeface="Times New Roman"/>
              </a:rPr>
              <a:t>Operating</a:t>
            </a:r>
            <a:r>
              <a:rPr sz="1100" b="1" spc="-40" dirty="0">
                <a:latin typeface="+mj-lt"/>
                <a:cs typeface="Times New Roman"/>
              </a:rPr>
              <a:t> </a:t>
            </a:r>
            <a:r>
              <a:rPr sz="1100" b="1" spc="-20" dirty="0">
                <a:latin typeface="+mj-lt"/>
                <a:cs typeface="Times New Roman"/>
              </a:rPr>
              <a:t>Cost</a:t>
            </a:r>
            <a:endParaRPr sz="1100">
              <a:latin typeface="+mj-lt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98491" y="809244"/>
            <a:ext cx="1858010" cy="1231900"/>
            <a:chOff x="4698491" y="809244"/>
            <a:chExt cx="1858010" cy="12319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98491" y="809244"/>
              <a:ext cx="1857756" cy="9159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11851" y="2028444"/>
              <a:ext cx="1434719" cy="1219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983094" y="2180335"/>
            <a:ext cx="1777364" cy="572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99600"/>
              </a:lnSpc>
              <a:spcBef>
                <a:spcPts val="105"/>
              </a:spcBef>
            </a:pP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Flexible</a:t>
            </a:r>
            <a:r>
              <a:rPr sz="900" spc="-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Cost</a:t>
            </a:r>
            <a:r>
              <a:rPr sz="900" spc="-15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Models</a:t>
            </a:r>
            <a:r>
              <a:rPr sz="900" spc="21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to</a:t>
            </a:r>
            <a:r>
              <a:rPr sz="900" spc="-2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spc="-10" dirty="0">
                <a:solidFill>
                  <a:srgbClr val="252525"/>
                </a:solidFill>
                <a:latin typeface="+mj-lt"/>
                <a:cs typeface="Times New Roman"/>
              </a:rPr>
              <a:t>enable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reduction</a:t>
            </a:r>
            <a:r>
              <a:rPr sz="900" spc="-3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of</a:t>
            </a:r>
            <a:r>
              <a:rPr sz="900" spc="-2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TCO on</a:t>
            </a:r>
            <a:r>
              <a:rPr sz="900" spc="-2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Software </a:t>
            </a:r>
            <a:r>
              <a:rPr sz="900" spc="-10" dirty="0">
                <a:solidFill>
                  <a:srgbClr val="252525"/>
                </a:solidFill>
                <a:latin typeface="+mj-lt"/>
                <a:cs typeface="Times New Roman"/>
              </a:rPr>
              <a:t>(Ticket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Volume,</a:t>
            </a:r>
            <a:r>
              <a:rPr sz="900" spc="-4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Delivery</a:t>
            </a:r>
            <a:r>
              <a:rPr sz="900" spc="-3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rgbClr val="252525"/>
                </a:solidFill>
                <a:latin typeface="+mj-lt"/>
                <a:cs typeface="Times New Roman"/>
              </a:rPr>
              <a:t>Locations</a:t>
            </a:r>
            <a:r>
              <a:rPr sz="900" spc="-30" dirty="0">
                <a:solidFill>
                  <a:srgbClr val="252525"/>
                </a:solidFill>
                <a:latin typeface="+mj-lt"/>
                <a:cs typeface="Times New Roman"/>
              </a:rPr>
              <a:t> </a:t>
            </a:r>
            <a:r>
              <a:rPr sz="900" spc="-50" dirty="0">
                <a:solidFill>
                  <a:srgbClr val="252525"/>
                </a:solidFill>
                <a:latin typeface="+mj-lt"/>
                <a:cs typeface="Times New Roman"/>
              </a:rPr>
              <a:t>&amp;</a:t>
            </a:r>
            <a:r>
              <a:rPr sz="900" spc="-10" dirty="0">
                <a:solidFill>
                  <a:srgbClr val="252525"/>
                </a:solidFill>
                <a:latin typeface="+mj-lt"/>
                <a:cs typeface="Times New Roman"/>
              </a:rPr>
              <a:t> Coverage</a:t>
            </a:r>
            <a:r>
              <a:rPr sz="900" spc="-10" dirty="0">
                <a:solidFill>
                  <a:srgbClr val="252525"/>
                </a:solidFill>
                <a:latin typeface="+mj-lt"/>
                <a:cs typeface="Calibri"/>
              </a:rPr>
              <a:t>)</a:t>
            </a:r>
            <a:endParaRPr sz="900">
              <a:latin typeface="+mj-lt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73523" y="2849879"/>
            <a:ext cx="2143125" cy="2049780"/>
          </a:xfrm>
          <a:custGeom>
            <a:avLst/>
            <a:gdLst/>
            <a:ahLst/>
            <a:cxnLst/>
            <a:rect l="l" t="t" r="r" b="b"/>
            <a:pathLst>
              <a:path w="2143125" h="2049779">
                <a:moveTo>
                  <a:pt x="2142744" y="0"/>
                </a:moveTo>
                <a:lnTo>
                  <a:pt x="0" y="0"/>
                </a:lnTo>
                <a:lnTo>
                  <a:pt x="0" y="2049780"/>
                </a:lnTo>
                <a:lnTo>
                  <a:pt x="2142744" y="2049780"/>
                </a:lnTo>
                <a:lnTo>
                  <a:pt x="2142744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lIns="0" tIns="0" rIns="0" bIns="0" rtlCol="0"/>
          <a:lstStyle/>
          <a:p>
            <a:endParaRPr dirty="0">
              <a:latin typeface="+mj-l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771131" y="2836164"/>
            <a:ext cx="2214880" cy="2063750"/>
          </a:xfrm>
          <a:custGeom>
            <a:avLst/>
            <a:gdLst/>
            <a:ahLst/>
            <a:cxnLst/>
            <a:rect l="l" t="t" r="r" b="b"/>
            <a:pathLst>
              <a:path w="2214879" h="2063750">
                <a:moveTo>
                  <a:pt x="2214372" y="0"/>
                </a:moveTo>
                <a:lnTo>
                  <a:pt x="0" y="0"/>
                </a:lnTo>
                <a:lnTo>
                  <a:pt x="0" y="2063495"/>
                </a:lnTo>
                <a:lnTo>
                  <a:pt x="2214372" y="2063495"/>
                </a:lnTo>
                <a:lnTo>
                  <a:pt x="2214372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09615" y="3860088"/>
            <a:ext cx="668655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chemeClr val="bg1"/>
                </a:solidFill>
                <a:latin typeface="+mj-lt"/>
                <a:cs typeface="Times New Roman"/>
              </a:rPr>
              <a:t>Innovation</a:t>
            </a:r>
            <a:endParaRPr sz="1100" dirty="0">
              <a:solidFill>
                <a:schemeClr val="bg1"/>
              </a:solidFill>
              <a:latin typeface="+mj-lt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06233" y="3874109"/>
            <a:ext cx="130175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chemeClr val="bg1"/>
                </a:solidFill>
                <a:latin typeface="+mj-lt"/>
                <a:cs typeface="Times New Roman"/>
              </a:rPr>
              <a:t>Tools</a:t>
            </a:r>
            <a:r>
              <a:rPr sz="1100" b="1" spc="-2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1100" b="1" dirty="0">
                <a:solidFill>
                  <a:schemeClr val="bg1"/>
                </a:solidFill>
                <a:latin typeface="+mj-lt"/>
                <a:cs typeface="Times New Roman"/>
              </a:rPr>
              <a:t>&amp;</a:t>
            </a:r>
            <a:r>
              <a:rPr sz="1100" b="1" spc="-1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1100" b="1" spc="-10" dirty="0">
                <a:solidFill>
                  <a:schemeClr val="bg1"/>
                </a:solidFill>
                <a:latin typeface="+mj-lt"/>
                <a:cs typeface="Times New Roman"/>
              </a:rPr>
              <a:t>Frameworks</a:t>
            </a:r>
            <a:endParaRPr sz="1100" dirty="0">
              <a:solidFill>
                <a:schemeClr val="bg1"/>
              </a:solidFill>
              <a:latin typeface="+mj-lt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01943" y="4272898"/>
            <a:ext cx="189801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Use</a:t>
            </a:r>
            <a:r>
              <a:rPr sz="900" spc="-1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of</a:t>
            </a:r>
            <a:r>
              <a:rPr sz="900" spc="210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CMS</a:t>
            </a:r>
            <a:r>
              <a:rPr sz="900" spc="-1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proprietary</a:t>
            </a:r>
            <a:r>
              <a:rPr sz="900" spc="-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Tools</a:t>
            </a:r>
            <a:r>
              <a:rPr sz="900" spc="-1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spc="-25" dirty="0">
                <a:solidFill>
                  <a:schemeClr val="bg1"/>
                </a:solidFill>
                <a:latin typeface="+mj-lt"/>
                <a:cs typeface="Times New Roman"/>
              </a:rPr>
              <a:t>and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 Frameworks</a:t>
            </a:r>
            <a:r>
              <a:rPr sz="900" spc="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to</a:t>
            </a:r>
            <a:r>
              <a:rPr sz="900" spc="-30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enhance</a:t>
            </a:r>
            <a:r>
              <a:rPr sz="900" spc="-40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productivity</a:t>
            </a:r>
            <a:r>
              <a:rPr sz="900" spc="-4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spc="-25" dirty="0">
                <a:solidFill>
                  <a:schemeClr val="bg1"/>
                </a:solidFill>
                <a:latin typeface="+mj-lt"/>
                <a:cs typeface="Times New Roman"/>
              </a:rPr>
              <a:t>and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 better</a:t>
            </a:r>
            <a:r>
              <a:rPr sz="900" spc="-1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speed</a:t>
            </a:r>
            <a:r>
              <a:rPr sz="900" spc="-1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to</a:t>
            </a:r>
            <a:r>
              <a:rPr sz="900" spc="-1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spc="-10" dirty="0">
                <a:solidFill>
                  <a:schemeClr val="bg1"/>
                </a:solidFill>
                <a:latin typeface="+mj-lt"/>
                <a:cs typeface="Times New Roman"/>
              </a:rPr>
              <a:t>market</a:t>
            </a:r>
            <a:endParaRPr sz="900" dirty="0">
              <a:solidFill>
                <a:schemeClr val="bg1"/>
              </a:solidFill>
              <a:latin typeface="+mj-lt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70679" y="4271180"/>
            <a:ext cx="19754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Innovation</a:t>
            </a:r>
            <a:r>
              <a:rPr sz="900" spc="-20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based</a:t>
            </a:r>
            <a:r>
              <a:rPr sz="900" spc="-1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on</a:t>
            </a:r>
            <a:r>
              <a:rPr sz="900" spc="-10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Proof</a:t>
            </a:r>
            <a:r>
              <a:rPr sz="900" spc="-40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Of</a:t>
            </a:r>
            <a:r>
              <a:rPr sz="900" spc="-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Concept</a:t>
            </a:r>
            <a:r>
              <a:rPr sz="900" spc="-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spc="-25" dirty="0">
                <a:solidFill>
                  <a:schemeClr val="bg1"/>
                </a:solidFill>
                <a:latin typeface="+mj-lt"/>
                <a:cs typeface="Times New Roman"/>
              </a:rPr>
              <a:t>and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 Proof</a:t>
            </a:r>
            <a:r>
              <a:rPr sz="900" spc="-40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of</a:t>
            </a:r>
            <a:r>
              <a:rPr sz="900" spc="-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Value</a:t>
            </a:r>
            <a:r>
              <a:rPr sz="900" spc="-2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approach</a:t>
            </a:r>
            <a:r>
              <a:rPr sz="900" spc="-10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with </a:t>
            </a:r>
            <a:r>
              <a:rPr sz="900" spc="-20" dirty="0">
                <a:solidFill>
                  <a:schemeClr val="bg1"/>
                </a:solidFill>
                <a:latin typeface="+mj-lt"/>
                <a:cs typeface="Times New Roman"/>
              </a:rPr>
              <a:t>high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efficiency</a:t>
            </a:r>
            <a:r>
              <a:rPr sz="900" spc="-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and</a:t>
            </a:r>
            <a:r>
              <a:rPr sz="900" spc="-3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dirty="0">
                <a:solidFill>
                  <a:schemeClr val="bg1"/>
                </a:solidFill>
                <a:latin typeface="+mj-lt"/>
                <a:cs typeface="Times New Roman"/>
              </a:rPr>
              <a:t>minimum</a:t>
            </a:r>
            <a:r>
              <a:rPr sz="900" spc="-30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sz="900" spc="-10" dirty="0">
                <a:solidFill>
                  <a:schemeClr val="bg1"/>
                </a:solidFill>
                <a:latin typeface="+mj-lt"/>
                <a:cs typeface="Times New Roman"/>
              </a:rPr>
              <a:t>disruption</a:t>
            </a:r>
            <a:endParaRPr sz="900" dirty="0">
              <a:solidFill>
                <a:schemeClr val="bg1"/>
              </a:solidFill>
              <a:latin typeface="+mj-lt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678679" y="2909316"/>
            <a:ext cx="1929764" cy="1199515"/>
            <a:chOff x="4678679" y="2909316"/>
            <a:chExt cx="1929764" cy="1199515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78679" y="2909316"/>
              <a:ext cx="1929383" cy="94335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82311" y="4096512"/>
              <a:ext cx="1434719" cy="12191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6842759" y="2907792"/>
            <a:ext cx="2071370" cy="1231900"/>
            <a:chOff x="6842759" y="2907792"/>
            <a:chExt cx="2071370" cy="1231900"/>
          </a:xfrm>
        </p:grpSpPr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42759" y="2907792"/>
              <a:ext cx="2071116" cy="90068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04887" y="4126992"/>
              <a:ext cx="1434719" cy="12191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21652" y="1994916"/>
            <a:ext cx="1434719" cy="12192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0" y="68462"/>
            <a:ext cx="754380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marL="27305" algn="l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+mj-lt"/>
              </a:rPr>
              <a:t>  </a:t>
            </a:r>
            <a:r>
              <a:rPr sz="2400" dirty="0">
                <a:solidFill>
                  <a:schemeClr val="bg1"/>
                </a:solidFill>
                <a:latin typeface="+mj-lt"/>
              </a:rPr>
              <a:t>CMS</a:t>
            </a:r>
            <a:r>
              <a:rPr sz="2400" spc="-4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in</a:t>
            </a:r>
            <a:r>
              <a:rPr sz="2400" spc="-5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Software:</a:t>
            </a:r>
            <a:r>
              <a:rPr sz="2400" spc="-4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CMMI</a:t>
            </a:r>
            <a:r>
              <a:rPr sz="2400" spc="-5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Level</a:t>
            </a:r>
            <a:r>
              <a:rPr sz="2400" spc="-6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5</a:t>
            </a:r>
            <a:r>
              <a:rPr sz="2400" spc="-5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Maturity</a:t>
            </a:r>
            <a:endParaRPr sz="2400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588556" y="1447291"/>
          <a:ext cx="3554729" cy="265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92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Resource</a:t>
                      </a:r>
                      <a:r>
                        <a:rPr sz="14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Capabilities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Strength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Project &amp;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Service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Management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35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Java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120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Portal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Technologies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80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Dot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Net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72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UI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55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sz="12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Analyst,</a:t>
                      </a:r>
                      <a:r>
                        <a:rPr sz="12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Quality,</a:t>
                      </a:r>
                      <a:r>
                        <a:rPr sz="12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Others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85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Developers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Admin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60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Embedded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Technologies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(Analytics,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Python,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R)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Admin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32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Engineers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300+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463189" y="691513"/>
            <a:ext cx="3894454" cy="581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 indent="-171450">
              <a:lnSpc>
                <a:spcPts val="1570"/>
              </a:lnSpc>
              <a:buClr>
                <a:srgbClr val="C00000"/>
              </a:buClr>
              <a:buSzPct val="125000"/>
              <a:buFont typeface="Wingdings"/>
              <a:buChar char=""/>
              <a:tabLst>
                <a:tab pos="184150" algn="l"/>
              </a:tabLst>
            </a:pPr>
            <a:r>
              <a:rPr sz="1200" b="1" dirty="0">
                <a:latin typeface="+mj-lt"/>
                <a:cs typeface="Calibri"/>
              </a:rPr>
              <a:t>Product</a:t>
            </a:r>
            <a:r>
              <a:rPr sz="1200" b="1" spc="-10" dirty="0">
                <a:latin typeface="+mj-lt"/>
                <a:cs typeface="Calibri"/>
              </a:rPr>
              <a:t> </a:t>
            </a:r>
            <a:r>
              <a:rPr sz="1200" b="1" dirty="0">
                <a:latin typeface="+mj-lt"/>
                <a:cs typeface="Calibri"/>
              </a:rPr>
              <a:t>Dev</a:t>
            </a:r>
            <a:r>
              <a:rPr sz="1200" b="1" spc="5" dirty="0">
                <a:latin typeface="+mj-lt"/>
                <a:cs typeface="Calibri"/>
              </a:rPr>
              <a:t> </a:t>
            </a:r>
            <a:r>
              <a:rPr sz="1200" b="1" spc="-10" dirty="0">
                <a:latin typeface="+mj-lt"/>
                <a:cs typeface="Calibri"/>
              </a:rPr>
              <a:t>Centres</a:t>
            </a:r>
            <a:r>
              <a:rPr sz="1200" b="1" spc="-25" dirty="0">
                <a:latin typeface="+mj-lt"/>
                <a:cs typeface="Calibri"/>
              </a:rPr>
              <a:t> </a:t>
            </a:r>
            <a:r>
              <a:rPr sz="1200" b="1" dirty="0">
                <a:latin typeface="+mj-lt"/>
                <a:cs typeface="Calibri"/>
              </a:rPr>
              <a:t>at</a:t>
            </a:r>
            <a:r>
              <a:rPr sz="1200" b="1" spc="-5" dirty="0">
                <a:latin typeface="+mj-lt"/>
                <a:cs typeface="Calibri"/>
              </a:rPr>
              <a:t> </a:t>
            </a:r>
            <a:r>
              <a:rPr sz="1200" b="1" spc="-10" dirty="0">
                <a:latin typeface="+mj-lt"/>
                <a:cs typeface="Calibri"/>
              </a:rPr>
              <a:t>Thiruvananthapuram</a:t>
            </a:r>
            <a:r>
              <a:rPr sz="1200" b="1" spc="-15" dirty="0">
                <a:latin typeface="+mj-lt"/>
                <a:cs typeface="Calibri"/>
              </a:rPr>
              <a:t> </a:t>
            </a:r>
            <a:r>
              <a:rPr sz="1200" b="1" dirty="0">
                <a:latin typeface="+mj-lt"/>
                <a:cs typeface="Calibri"/>
              </a:rPr>
              <a:t>&amp;</a:t>
            </a:r>
            <a:r>
              <a:rPr sz="1200" b="1" spc="5" dirty="0">
                <a:latin typeface="+mj-lt"/>
                <a:cs typeface="Calibri"/>
              </a:rPr>
              <a:t> </a:t>
            </a:r>
            <a:r>
              <a:rPr sz="1200" b="1" spc="-10" dirty="0">
                <a:latin typeface="+mj-lt"/>
                <a:cs typeface="Calibri"/>
              </a:rPr>
              <a:t>Mumbai</a:t>
            </a:r>
            <a:endParaRPr sz="1200" dirty="0">
              <a:latin typeface="+mj-lt"/>
              <a:cs typeface="Calibri"/>
            </a:endParaRPr>
          </a:p>
          <a:p>
            <a:pPr marL="219075" indent="-206375">
              <a:lnSpc>
                <a:spcPts val="1260"/>
              </a:lnSpc>
              <a:buClr>
                <a:srgbClr val="C00000"/>
              </a:buClr>
              <a:buSzPct val="125000"/>
              <a:buFont typeface="Wingdings"/>
              <a:buChar char=""/>
              <a:tabLst>
                <a:tab pos="219075" algn="l"/>
              </a:tabLst>
            </a:pPr>
            <a:r>
              <a:rPr sz="1200" b="1" dirty="0">
                <a:latin typeface="+mj-lt"/>
                <a:cs typeface="Calibri"/>
              </a:rPr>
              <a:t>Software</a:t>
            </a:r>
            <a:r>
              <a:rPr sz="1200" b="1" spc="-55" dirty="0">
                <a:latin typeface="+mj-lt"/>
                <a:cs typeface="Calibri"/>
              </a:rPr>
              <a:t> </a:t>
            </a:r>
            <a:r>
              <a:rPr sz="1200" b="1" dirty="0">
                <a:latin typeface="+mj-lt"/>
                <a:cs typeface="Calibri"/>
              </a:rPr>
              <a:t>Dev</a:t>
            </a:r>
            <a:r>
              <a:rPr sz="1200" b="1" spc="-40" dirty="0">
                <a:latin typeface="+mj-lt"/>
                <a:cs typeface="Calibri"/>
              </a:rPr>
              <a:t> </a:t>
            </a:r>
            <a:r>
              <a:rPr sz="1200" b="1" dirty="0">
                <a:latin typeface="+mj-lt"/>
                <a:cs typeface="Calibri"/>
              </a:rPr>
              <a:t>Centres</a:t>
            </a:r>
            <a:r>
              <a:rPr sz="1200" b="1" spc="-40" dirty="0">
                <a:latin typeface="+mj-lt"/>
                <a:cs typeface="Calibri"/>
              </a:rPr>
              <a:t> </a:t>
            </a:r>
            <a:r>
              <a:rPr sz="1200" b="1" dirty="0">
                <a:latin typeface="+mj-lt"/>
                <a:cs typeface="Calibri"/>
              </a:rPr>
              <a:t>at</a:t>
            </a:r>
            <a:r>
              <a:rPr sz="1200" b="1" spc="-35" dirty="0">
                <a:latin typeface="+mj-lt"/>
                <a:cs typeface="Calibri"/>
              </a:rPr>
              <a:t> </a:t>
            </a:r>
            <a:r>
              <a:rPr sz="1200" b="1" dirty="0">
                <a:latin typeface="+mj-lt"/>
                <a:cs typeface="Calibri"/>
              </a:rPr>
              <a:t>Bengaluru, </a:t>
            </a:r>
            <a:r>
              <a:rPr sz="1200" b="1" spc="-10" dirty="0">
                <a:latin typeface="+mj-lt"/>
                <a:cs typeface="Calibri"/>
              </a:rPr>
              <a:t>Hyderabad</a:t>
            </a:r>
            <a:r>
              <a:rPr sz="1200" b="1" spc="-30" dirty="0">
                <a:latin typeface="+mj-lt"/>
                <a:cs typeface="Calibri"/>
              </a:rPr>
              <a:t> </a:t>
            </a:r>
            <a:r>
              <a:rPr sz="1200" b="1" dirty="0">
                <a:latin typeface="+mj-lt"/>
                <a:cs typeface="Calibri"/>
              </a:rPr>
              <a:t>&amp;</a:t>
            </a:r>
            <a:r>
              <a:rPr sz="1200" b="1" spc="-35" dirty="0">
                <a:latin typeface="+mj-lt"/>
                <a:cs typeface="Calibri"/>
              </a:rPr>
              <a:t> </a:t>
            </a:r>
            <a:r>
              <a:rPr sz="1200" b="1" spc="-10" dirty="0">
                <a:latin typeface="+mj-lt"/>
                <a:cs typeface="Calibri"/>
              </a:rPr>
              <a:t>Chennai</a:t>
            </a:r>
            <a:endParaRPr sz="1200" dirty="0">
              <a:latin typeface="+mj-lt"/>
              <a:cs typeface="Calibri"/>
            </a:endParaRPr>
          </a:p>
          <a:p>
            <a:pPr marL="184150" indent="-171450">
              <a:lnSpc>
                <a:spcPts val="1650"/>
              </a:lnSpc>
              <a:buClr>
                <a:srgbClr val="C00000"/>
              </a:buClr>
              <a:buSzPct val="125000"/>
              <a:buFont typeface="Wingdings"/>
              <a:buChar char=""/>
              <a:tabLst>
                <a:tab pos="184150" algn="l"/>
              </a:tabLst>
            </a:pPr>
            <a:r>
              <a:rPr sz="1200" b="1" dirty="0">
                <a:latin typeface="+mj-lt"/>
                <a:cs typeface="Calibri"/>
              </a:rPr>
              <a:t>Analytics</a:t>
            </a:r>
            <a:r>
              <a:rPr sz="1200" b="1" spc="-30" dirty="0">
                <a:latin typeface="+mj-lt"/>
                <a:cs typeface="Calibri"/>
              </a:rPr>
              <a:t> </a:t>
            </a:r>
            <a:r>
              <a:rPr sz="1200" b="1" dirty="0">
                <a:latin typeface="+mj-lt"/>
                <a:cs typeface="Calibri"/>
              </a:rPr>
              <a:t>CoE at</a:t>
            </a:r>
            <a:r>
              <a:rPr sz="1200" b="1" spc="-25" dirty="0">
                <a:latin typeface="+mj-lt"/>
                <a:cs typeface="Calibri"/>
              </a:rPr>
              <a:t> </a:t>
            </a:r>
            <a:r>
              <a:rPr sz="1200" b="1" spc="-10" dirty="0">
                <a:latin typeface="+mj-lt"/>
                <a:cs typeface="Calibri"/>
              </a:rPr>
              <a:t>Bengaluru; </a:t>
            </a:r>
            <a:r>
              <a:rPr sz="1200" b="1" dirty="0">
                <a:latin typeface="+mj-lt"/>
                <a:cs typeface="Calibri"/>
              </a:rPr>
              <a:t>Energy</a:t>
            </a:r>
            <a:r>
              <a:rPr sz="1200" b="1" spc="-25" dirty="0">
                <a:latin typeface="+mj-lt"/>
                <a:cs typeface="Calibri"/>
              </a:rPr>
              <a:t> </a:t>
            </a:r>
            <a:r>
              <a:rPr sz="1200" b="1" dirty="0">
                <a:latin typeface="+mj-lt"/>
                <a:cs typeface="Calibri"/>
              </a:rPr>
              <a:t>COE</a:t>
            </a:r>
            <a:r>
              <a:rPr sz="1200" b="1" spc="-15" dirty="0">
                <a:latin typeface="+mj-lt"/>
                <a:cs typeface="Calibri"/>
              </a:rPr>
              <a:t> </a:t>
            </a:r>
            <a:r>
              <a:rPr sz="1200" b="1" dirty="0">
                <a:latin typeface="+mj-lt"/>
                <a:cs typeface="Calibri"/>
              </a:rPr>
              <a:t>at</a:t>
            </a:r>
            <a:r>
              <a:rPr sz="1200" b="1" spc="-15" dirty="0">
                <a:latin typeface="+mj-lt"/>
                <a:cs typeface="Calibri"/>
              </a:rPr>
              <a:t> </a:t>
            </a:r>
            <a:r>
              <a:rPr sz="1200" b="1" spc="-10" dirty="0">
                <a:latin typeface="+mj-lt"/>
                <a:cs typeface="Calibri"/>
              </a:rPr>
              <a:t>Mumbai</a:t>
            </a:r>
            <a:endParaRPr sz="1200" dirty="0">
              <a:latin typeface="+mj-lt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>
            <a:extLst>
              <a:ext uri="{FF2B5EF4-FFF2-40B4-BE49-F238E27FC236}">
                <a16:creationId xmlns:a16="http://schemas.microsoft.com/office/drawing/2014/main" id="{F25AF107-3045-81A1-82D7-E5B8D5FBB5A6}"/>
              </a:ext>
            </a:extLst>
          </p:cNvPr>
          <p:cNvSpPr/>
          <p:nvPr/>
        </p:nvSpPr>
        <p:spPr>
          <a:xfrm rot="10800000">
            <a:off x="5501220" y="4081625"/>
            <a:ext cx="2977335" cy="43349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B2EF19E-7830-CD64-8D63-479DB440C23C}"/>
              </a:ext>
            </a:extLst>
          </p:cNvPr>
          <p:cNvSpPr/>
          <p:nvPr/>
        </p:nvSpPr>
        <p:spPr>
          <a:xfrm rot="10800000">
            <a:off x="5609372" y="3555590"/>
            <a:ext cx="2869183" cy="4334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7B50F46-721D-29D7-D285-7F349EE4C2C4}"/>
              </a:ext>
            </a:extLst>
          </p:cNvPr>
          <p:cNvSpPr/>
          <p:nvPr/>
        </p:nvSpPr>
        <p:spPr>
          <a:xfrm rot="10800000">
            <a:off x="5609374" y="3020189"/>
            <a:ext cx="2869182" cy="4334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BD02676-BA54-DC4D-603E-D77B62576746}"/>
              </a:ext>
            </a:extLst>
          </p:cNvPr>
          <p:cNvSpPr/>
          <p:nvPr/>
        </p:nvSpPr>
        <p:spPr>
          <a:xfrm rot="10800000">
            <a:off x="5609374" y="2497777"/>
            <a:ext cx="2869181" cy="43349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F3FD883-FCAB-060E-45B5-56556789D88F}"/>
              </a:ext>
            </a:extLst>
          </p:cNvPr>
          <p:cNvSpPr/>
          <p:nvPr/>
        </p:nvSpPr>
        <p:spPr>
          <a:xfrm rot="10800000">
            <a:off x="5609376" y="1975365"/>
            <a:ext cx="2869180" cy="4334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8918D81-5C22-41A6-846B-7F974B622614}"/>
              </a:ext>
            </a:extLst>
          </p:cNvPr>
          <p:cNvSpPr/>
          <p:nvPr/>
        </p:nvSpPr>
        <p:spPr>
          <a:xfrm rot="10800000">
            <a:off x="5505144" y="1422329"/>
            <a:ext cx="2973411" cy="4334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11017F2-C651-63F3-CEF2-49CB843B50A9}"/>
              </a:ext>
            </a:extLst>
          </p:cNvPr>
          <p:cNvSpPr/>
          <p:nvPr/>
        </p:nvSpPr>
        <p:spPr>
          <a:xfrm rot="10800000">
            <a:off x="830043" y="3092779"/>
            <a:ext cx="4681440" cy="3178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8A92219-C6F2-E761-DE2C-6A1E510E9864}"/>
              </a:ext>
            </a:extLst>
          </p:cNvPr>
          <p:cNvSpPr/>
          <p:nvPr/>
        </p:nvSpPr>
        <p:spPr>
          <a:xfrm rot="10800000">
            <a:off x="764237" y="3631593"/>
            <a:ext cx="4752006" cy="3178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86E0CD3-7EEC-B709-6B7F-DCA693457FA8}"/>
              </a:ext>
            </a:extLst>
          </p:cNvPr>
          <p:cNvSpPr/>
          <p:nvPr/>
        </p:nvSpPr>
        <p:spPr>
          <a:xfrm rot="10800000">
            <a:off x="844140" y="4177032"/>
            <a:ext cx="4666324" cy="3178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4A647D5-7F4F-9038-3637-9965A0F534CF}"/>
              </a:ext>
            </a:extLst>
          </p:cNvPr>
          <p:cNvSpPr/>
          <p:nvPr/>
        </p:nvSpPr>
        <p:spPr>
          <a:xfrm rot="10800000">
            <a:off x="830043" y="2576718"/>
            <a:ext cx="4681440" cy="3178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B00899D-9CFD-5778-C7AB-E5FCD2CB3EEE}"/>
              </a:ext>
            </a:extLst>
          </p:cNvPr>
          <p:cNvSpPr/>
          <p:nvPr/>
        </p:nvSpPr>
        <p:spPr>
          <a:xfrm rot="10800000">
            <a:off x="830044" y="2078919"/>
            <a:ext cx="4681440" cy="3178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C3CD276-55C6-F32C-EAB7-72E87E3525C3}"/>
              </a:ext>
            </a:extLst>
          </p:cNvPr>
          <p:cNvSpPr/>
          <p:nvPr/>
        </p:nvSpPr>
        <p:spPr>
          <a:xfrm rot="10800000">
            <a:off x="830043" y="1502451"/>
            <a:ext cx="4681440" cy="3178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99732"/>
            <a:ext cx="754380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marL="220345" algn="l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solidFill>
                  <a:schemeClr val="bg1"/>
                </a:solidFill>
              </a:rPr>
              <a:t>CMS</a:t>
            </a:r>
            <a:r>
              <a:rPr sz="2400" spc="-5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Software</a:t>
            </a:r>
            <a:r>
              <a:rPr sz="2400" spc="-60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Capabilities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13222" y="1485438"/>
            <a:ext cx="2802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1800" dirty="0">
                <a:latin typeface="Calibri"/>
                <a:cs typeface="Calibri"/>
              </a:rPr>
              <a:t>•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eGovernance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Services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3222" y="2066488"/>
            <a:ext cx="2915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Calibri"/>
              <a:buChar char="•"/>
              <a:tabLst>
                <a:tab pos="184785" algn="l"/>
              </a:tabLst>
            </a:pPr>
            <a:r>
              <a:rPr sz="1800" b="1" dirty="0">
                <a:latin typeface="Calibri"/>
                <a:cs typeface="Calibri"/>
              </a:rPr>
              <a:t>Custom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ERP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Implementation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22213" y="2558482"/>
            <a:ext cx="2396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Calibri"/>
              <a:buChar char="•"/>
              <a:tabLst>
                <a:tab pos="184785" algn="l"/>
              </a:tabLst>
            </a:pPr>
            <a:r>
              <a:rPr sz="1800" b="1" dirty="0">
                <a:latin typeface="Calibri"/>
                <a:cs typeface="Calibri"/>
              </a:rPr>
              <a:t>Enterprise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Applications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11760" y="3082824"/>
            <a:ext cx="317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Calibri"/>
              <a:buChar char="•"/>
              <a:tabLst>
                <a:tab pos="184785" algn="l"/>
              </a:tabLst>
            </a:pPr>
            <a:r>
              <a:rPr sz="1800" b="1" dirty="0">
                <a:latin typeface="Calibri"/>
                <a:cs typeface="Calibri"/>
              </a:rPr>
              <a:t>Hospital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Management</a:t>
            </a:r>
            <a:r>
              <a:rPr sz="1800" b="1" spc="3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Systems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11760" y="3629893"/>
            <a:ext cx="2734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Calibri"/>
              <a:buChar char="•"/>
              <a:tabLst>
                <a:tab pos="184785" algn="l"/>
              </a:tabLst>
            </a:pPr>
            <a:r>
              <a:rPr sz="1800" b="1" dirty="0">
                <a:latin typeface="Calibri"/>
                <a:cs typeface="Calibri"/>
              </a:rPr>
              <a:t>Health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Insurance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Solutions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18201" y="4157091"/>
            <a:ext cx="40405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Calibri"/>
              <a:buChar char="•"/>
              <a:tabLst>
                <a:tab pos="184785" algn="l"/>
              </a:tabLst>
            </a:pPr>
            <a:r>
              <a:rPr sz="1800" b="1" dirty="0">
                <a:latin typeface="Calibri"/>
                <a:cs typeface="Calibri"/>
              </a:rPr>
              <a:t>Analytics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Computer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Vision</a:t>
            </a:r>
            <a:r>
              <a:rPr sz="1800" b="1" spc="-10" dirty="0">
                <a:latin typeface="Calibri"/>
                <a:cs typeface="Calibri"/>
              </a:rPr>
              <a:t> Solutions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85537" y="1469144"/>
            <a:ext cx="1931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bg1"/>
                </a:solidFill>
                <a:latin typeface="Calibri"/>
                <a:cs typeface="Calibri"/>
              </a:rPr>
              <a:t>Enterprise</a:t>
            </a:r>
            <a:r>
              <a:rPr sz="1800" b="1" spc="-9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chemeClr val="bg1"/>
                </a:solidFill>
                <a:latin typeface="Calibri"/>
                <a:cs typeface="Calibri"/>
              </a:rPr>
              <a:t>Solutions</a:t>
            </a:r>
            <a:endParaRPr sz="1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063211" y="2017418"/>
            <a:ext cx="1741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bg1"/>
                </a:solidFill>
                <a:latin typeface="Calibri"/>
                <a:cs typeface="Calibri"/>
              </a:rPr>
              <a:t>Managed</a:t>
            </a:r>
            <a:r>
              <a:rPr sz="1800" b="1" spc="-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chemeClr val="bg1"/>
                </a:solidFill>
                <a:latin typeface="Calibri"/>
                <a:cs typeface="Calibri"/>
              </a:rPr>
              <a:t>Services</a:t>
            </a:r>
            <a:endParaRPr sz="1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085537" y="2535215"/>
            <a:ext cx="1395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bg1"/>
                </a:solidFill>
                <a:latin typeface="Calibri"/>
                <a:cs typeface="Calibri"/>
              </a:rPr>
              <a:t>Cloud</a:t>
            </a:r>
            <a:r>
              <a:rPr sz="1800" b="1" spc="-10" dirty="0">
                <a:solidFill>
                  <a:schemeClr val="bg1"/>
                </a:solidFill>
                <a:latin typeface="Calibri"/>
                <a:cs typeface="Calibri"/>
              </a:rPr>
              <a:t> Services</a:t>
            </a:r>
            <a:endParaRPr sz="1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085537" y="3053050"/>
            <a:ext cx="2001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bg1"/>
                </a:solidFill>
                <a:latin typeface="Calibri"/>
                <a:cs typeface="Calibri"/>
              </a:rPr>
              <a:t>Consultancy</a:t>
            </a:r>
            <a:r>
              <a:rPr sz="1800" b="1" spc="-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chemeClr val="bg1"/>
                </a:solidFill>
                <a:latin typeface="Calibri"/>
                <a:cs typeface="Calibri"/>
              </a:rPr>
              <a:t>Services</a:t>
            </a:r>
            <a:endParaRPr sz="1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080346" y="3597561"/>
            <a:ext cx="1978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bg1"/>
                </a:solidFill>
                <a:latin typeface="Calibri"/>
                <a:cs typeface="Calibri"/>
              </a:rPr>
              <a:t>Information</a:t>
            </a:r>
            <a:r>
              <a:rPr sz="1800" b="1" spc="-8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chemeClr val="bg1"/>
                </a:solidFill>
                <a:latin typeface="Calibri"/>
                <a:cs typeface="Calibri"/>
              </a:rPr>
              <a:t>Security</a:t>
            </a:r>
            <a:endParaRPr sz="18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080346" y="4135136"/>
            <a:ext cx="1572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bg1"/>
                </a:solidFill>
                <a:latin typeface="Calibri"/>
                <a:cs typeface="Calibri"/>
              </a:rPr>
              <a:t>Digital</a:t>
            </a:r>
            <a:r>
              <a:rPr sz="1800" b="1" spc="-4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chemeClr val="bg1"/>
                </a:solidFill>
                <a:latin typeface="Calibri"/>
                <a:cs typeface="Calibri"/>
              </a:rPr>
              <a:t>Solutions</a:t>
            </a:r>
            <a:endParaRPr sz="1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169318" y="1410535"/>
            <a:ext cx="819581" cy="3294815"/>
            <a:chOff x="5631179" y="1552955"/>
            <a:chExt cx="454659" cy="3175000"/>
          </a:xfrm>
          <a:solidFill>
            <a:schemeClr val="bg1">
              <a:lumMod val="95000"/>
            </a:schemeClr>
          </a:solidFill>
        </p:grpSpPr>
        <p:sp>
          <p:nvSpPr>
            <p:cNvPr id="68" name="object 68"/>
            <p:cNvSpPr/>
            <p:nvPr/>
          </p:nvSpPr>
          <p:spPr>
            <a:xfrm>
              <a:off x="5644133" y="1565909"/>
              <a:ext cx="428625" cy="3148965"/>
            </a:xfrm>
            <a:prstGeom prst="chevron">
              <a:avLst/>
            </a:prstGeom>
            <a:grpFill/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644133" y="1565909"/>
              <a:ext cx="428625" cy="3148965"/>
            </a:xfrm>
            <a:prstGeom prst="chevron">
              <a:avLst/>
            </a:prstGeom>
            <a:grpFill/>
            <a:ln w="25908"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521335" y="686689"/>
            <a:ext cx="81013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5080" indent="-14668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We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high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quality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D75B6"/>
                </a:solidFill>
                <a:latin typeface="Calibri"/>
                <a:cs typeface="Calibri"/>
              </a:rPr>
              <a:t>Software</a:t>
            </a:r>
            <a:r>
              <a:rPr sz="1800" b="1" spc="-55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D75B6"/>
                </a:solidFill>
                <a:latin typeface="Calibri"/>
                <a:cs typeface="Calibri"/>
              </a:rPr>
              <a:t>Solutions</a:t>
            </a:r>
            <a:r>
              <a:rPr sz="1800" b="1" spc="-75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D75B6"/>
                </a:solidFill>
                <a:latin typeface="Calibri"/>
                <a:cs typeface="Calibri"/>
              </a:rPr>
              <a:t>Services</a:t>
            </a:r>
            <a:r>
              <a:rPr sz="1800" b="1" spc="-50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focus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D75B6"/>
                </a:solidFill>
                <a:latin typeface="Calibri"/>
                <a:cs typeface="Calibri"/>
              </a:rPr>
              <a:t>Application </a:t>
            </a:r>
            <a:r>
              <a:rPr sz="1800" b="1" dirty="0">
                <a:solidFill>
                  <a:srgbClr val="2D75B6"/>
                </a:solidFill>
                <a:latin typeface="Calibri"/>
                <a:cs typeface="Calibri"/>
              </a:rPr>
              <a:t>Management</a:t>
            </a:r>
            <a:r>
              <a:rPr sz="1800" b="1" spc="-65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Digital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Services,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Bespoke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Open-</a:t>
            </a: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technologies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0" dirty="0"/>
              <a:t> </a:t>
            </a:r>
            <a:r>
              <a:rPr dirty="0"/>
              <a:t>2024</a:t>
            </a:r>
            <a:r>
              <a:rPr spc="-15" dirty="0"/>
              <a:t> </a:t>
            </a:r>
            <a:r>
              <a:rPr dirty="0"/>
              <a:t>CMS</a:t>
            </a:r>
            <a:r>
              <a:rPr spc="-10" dirty="0"/>
              <a:t> </a:t>
            </a:r>
            <a:r>
              <a:rPr dirty="0"/>
              <a:t>Computers</a:t>
            </a:r>
            <a:r>
              <a:rPr spc="-15" dirty="0"/>
              <a:t> </a:t>
            </a:r>
            <a:r>
              <a:rPr dirty="0"/>
              <a:t>India</a:t>
            </a:r>
            <a:r>
              <a:rPr spc="-10" dirty="0"/>
              <a:t> </a:t>
            </a:r>
            <a:r>
              <a:rPr dirty="0"/>
              <a:t>Private</a:t>
            </a:r>
            <a:r>
              <a:rPr spc="-15" dirty="0"/>
              <a:t> </a:t>
            </a:r>
            <a:r>
              <a:rPr dirty="0"/>
              <a:t>Ltd.</a:t>
            </a:r>
            <a:r>
              <a:rPr spc="-10" dirty="0"/>
              <a:t> </a:t>
            </a:r>
            <a:r>
              <a:rPr dirty="0"/>
              <a:t>All</a:t>
            </a:r>
            <a:r>
              <a:rPr spc="-15" dirty="0"/>
              <a:t> </a:t>
            </a:r>
            <a:r>
              <a:rPr dirty="0"/>
              <a:t>Rights</a:t>
            </a:r>
            <a:r>
              <a:rPr spc="-10" dirty="0"/>
              <a:t> Reserved.</a:t>
            </a:r>
          </a:p>
        </p:txBody>
      </p:sp>
      <p:sp>
        <p:nvSpPr>
          <p:cNvPr id="82" name="Flowchart: Preparation 81">
            <a:extLst>
              <a:ext uri="{FF2B5EF4-FFF2-40B4-BE49-F238E27FC236}">
                <a16:creationId xmlns:a16="http://schemas.microsoft.com/office/drawing/2014/main" id="{256D7592-2644-45EA-F3F6-CB2E17087207}"/>
              </a:ext>
            </a:extLst>
          </p:cNvPr>
          <p:cNvSpPr/>
          <p:nvPr/>
        </p:nvSpPr>
        <p:spPr>
          <a:xfrm rot="10800000">
            <a:off x="457201" y="1449108"/>
            <a:ext cx="451247" cy="388171"/>
          </a:xfrm>
          <a:prstGeom prst="flowChartPreparation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Flowchart: Preparation 82">
            <a:extLst>
              <a:ext uri="{FF2B5EF4-FFF2-40B4-BE49-F238E27FC236}">
                <a16:creationId xmlns:a16="http://schemas.microsoft.com/office/drawing/2014/main" id="{7815B5C6-1FAE-959F-0E96-8137EC99CA7B}"/>
              </a:ext>
            </a:extLst>
          </p:cNvPr>
          <p:cNvSpPr/>
          <p:nvPr/>
        </p:nvSpPr>
        <p:spPr>
          <a:xfrm rot="10800000">
            <a:off x="457201" y="2009068"/>
            <a:ext cx="451247" cy="388171"/>
          </a:xfrm>
          <a:prstGeom prst="flowChartPreparation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Flowchart: Preparation 83">
            <a:extLst>
              <a:ext uri="{FF2B5EF4-FFF2-40B4-BE49-F238E27FC236}">
                <a16:creationId xmlns:a16="http://schemas.microsoft.com/office/drawing/2014/main" id="{F89FBAC8-75B2-0D86-9833-74B3B30F531F}"/>
              </a:ext>
            </a:extLst>
          </p:cNvPr>
          <p:cNvSpPr/>
          <p:nvPr/>
        </p:nvSpPr>
        <p:spPr>
          <a:xfrm rot="10800000">
            <a:off x="480466" y="2540352"/>
            <a:ext cx="451247" cy="388171"/>
          </a:xfrm>
          <a:prstGeom prst="flowChartPreparation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Flowchart: Preparation 84">
            <a:extLst>
              <a:ext uri="{FF2B5EF4-FFF2-40B4-BE49-F238E27FC236}">
                <a16:creationId xmlns:a16="http://schemas.microsoft.com/office/drawing/2014/main" id="{D7F50FEE-7230-6827-5913-FFC86E1AEF36}"/>
              </a:ext>
            </a:extLst>
          </p:cNvPr>
          <p:cNvSpPr/>
          <p:nvPr/>
        </p:nvSpPr>
        <p:spPr>
          <a:xfrm rot="10800000">
            <a:off x="457201" y="3037682"/>
            <a:ext cx="451247" cy="388171"/>
          </a:xfrm>
          <a:prstGeom prst="flowChartPreparation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Flowchart: Preparation 85">
            <a:extLst>
              <a:ext uri="{FF2B5EF4-FFF2-40B4-BE49-F238E27FC236}">
                <a16:creationId xmlns:a16="http://schemas.microsoft.com/office/drawing/2014/main" id="{5251FFCD-5EB0-393C-3D49-0287A1509EB6}"/>
              </a:ext>
            </a:extLst>
          </p:cNvPr>
          <p:cNvSpPr/>
          <p:nvPr/>
        </p:nvSpPr>
        <p:spPr>
          <a:xfrm rot="10800000">
            <a:off x="457201" y="3597642"/>
            <a:ext cx="451247" cy="388171"/>
          </a:xfrm>
          <a:prstGeom prst="flowChartPreparation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Flowchart: Preparation 86">
            <a:extLst>
              <a:ext uri="{FF2B5EF4-FFF2-40B4-BE49-F238E27FC236}">
                <a16:creationId xmlns:a16="http://schemas.microsoft.com/office/drawing/2014/main" id="{DBC0C5F2-271C-CEF9-C5BD-F10EE53F4226}"/>
              </a:ext>
            </a:extLst>
          </p:cNvPr>
          <p:cNvSpPr/>
          <p:nvPr/>
        </p:nvSpPr>
        <p:spPr>
          <a:xfrm rot="10800000">
            <a:off x="480466" y="4128926"/>
            <a:ext cx="451247" cy="388171"/>
          </a:xfrm>
          <a:prstGeom prst="flowChartPreparation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691" y="4868062"/>
            <a:ext cx="335280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Copyright</a:t>
            </a:r>
            <a:r>
              <a:rPr sz="800" spc="-1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©</a:t>
            </a:r>
            <a:r>
              <a:rPr sz="8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2024</a:t>
            </a:r>
            <a:r>
              <a:rPr sz="800" spc="-1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CMS</a:t>
            </a:r>
            <a:r>
              <a:rPr sz="8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Computers</a:t>
            </a:r>
            <a:r>
              <a:rPr sz="800" spc="-1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India</a:t>
            </a:r>
            <a:r>
              <a:rPr sz="8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Private</a:t>
            </a:r>
            <a:r>
              <a:rPr sz="800" spc="-1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Ltd.</a:t>
            </a:r>
            <a:r>
              <a:rPr sz="8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All</a:t>
            </a:r>
            <a:r>
              <a:rPr sz="800" spc="-1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+mj-lt"/>
                <a:cs typeface="Arial"/>
              </a:rPr>
              <a:t>Rights</a:t>
            </a:r>
            <a:r>
              <a:rPr sz="800" spc="-10" dirty="0">
                <a:solidFill>
                  <a:srgbClr val="FFFFFF"/>
                </a:solidFill>
                <a:latin typeface="+mj-lt"/>
                <a:cs typeface="Arial"/>
              </a:rPr>
              <a:t> Reserved.</a:t>
            </a:r>
            <a:endParaRPr sz="800" dirty="0">
              <a:latin typeface="+mj-lt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959607" y="1630679"/>
            <a:ext cx="3081655" cy="2453640"/>
            <a:chOff x="2959607" y="1630679"/>
            <a:chExt cx="3081655" cy="2453640"/>
          </a:xfrm>
        </p:grpSpPr>
        <p:sp>
          <p:nvSpPr>
            <p:cNvPr id="4" name="object 4"/>
            <p:cNvSpPr/>
            <p:nvPr/>
          </p:nvSpPr>
          <p:spPr>
            <a:xfrm>
              <a:off x="2959607" y="3105911"/>
              <a:ext cx="875030" cy="978535"/>
            </a:xfrm>
            <a:custGeom>
              <a:avLst/>
              <a:gdLst/>
              <a:ahLst/>
              <a:cxnLst/>
              <a:rect l="l" t="t" r="r" b="b"/>
              <a:pathLst>
                <a:path w="875029" h="978535">
                  <a:moveTo>
                    <a:pt x="627380" y="0"/>
                  </a:moveTo>
                  <a:lnTo>
                    <a:pt x="0" y="0"/>
                  </a:lnTo>
                  <a:lnTo>
                    <a:pt x="1979" y="51591"/>
                  </a:lnTo>
                  <a:lnTo>
                    <a:pt x="5854" y="102711"/>
                  </a:lnTo>
                  <a:lnTo>
                    <a:pt x="11591" y="153331"/>
                  </a:lnTo>
                  <a:lnTo>
                    <a:pt x="19157" y="203417"/>
                  </a:lnTo>
                  <a:lnTo>
                    <a:pt x="28521" y="252940"/>
                  </a:lnTo>
                  <a:lnTo>
                    <a:pt x="39650" y="301868"/>
                  </a:lnTo>
                  <a:lnTo>
                    <a:pt x="52511" y="350170"/>
                  </a:lnTo>
                  <a:lnTo>
                    <a:pt x="67073" y="397815"/>
                  </a:lnTo>
                  <a:lnTo>
                    <a:pt x="83302" y="444772"/>
                  </a:lnTo>
                  <a:lnTo>
                    <a:pt x="101166" y="491009"/>
                  </a:lnTo>
                  <a:lnTo>
                    <a:pt x="120634" y="536495"/>
                  </a:lnTo>
                  <a:lnTo>
                    <a:pt x="141671" y="581200"/>
                  </a:lnTo>
                  <a:lnTo>
                    <a:pt x="164247" y="625092"/>
                  </a:lnTo>
                  <a:lnTo>
                    <a:pt x="188329" y="668140"/>
                  </a:lnTo>
                  <a:lnTo>
                    <a:pt x="213883" y="710313"/>
                  </a:lnTo>
                  <a:lnTo>
                    <a:pt x="240879" y="751580"/>
                  </a:lnTo>
                  <a:lnTo>
                    <a:pt x="269282" y="791909"/>
                  </a:lnTo>
                  <a:lnTo>
                    <a:pt x="299062" y="831271"/>
                  </a:lnTo>
                  <a:lnTo>
                    <a:pt x="330185" y="869632"/>
                  </a:lnTo>
                  <a:lnTo>
                    <a:pt x="362619" y="906963"/>
                  </a:lnTo>
                  <a:lnTo>
                    <a:pt x="396332" y="943232"/>
                  </a:lnTo>
                  <a:lnTo>
                    <a:pt x="431292" y="978408"/>
                  </a:lnTo>
                  <a:lnTo>
                    <a:pt x="874776" y="562991"/>
                  </a:lnTo>
                  <a:lnTo>
                    <a:pt x="841641" y="527771"/>
                  </a:lnTo>
                  <a:lnTo>
                    <a:pt x="810527" y="490920"/>
                  </a:lnTo>
                  <a:lnTo>
                    <a:pt x="781523" y="452515"/>
                  </a:lnTo>
                  <a:lnTo>
                    <a:pt x="754719" y="412633"/>
                  </a:lnTo>
                  <a:lnTo>
                    <a:pt x="730206" y="371351"/>
                  </a:lnTo>
                  <a:lnTo>
                    <a:pt x="708073" y="328748"/>
                  </a:lnTo>
                  <a:lnTo>
                    <a:pt x="688412" y="284899"/>
                  </a:lnTo>
                  <a:lnTo>
                    <a:pt x="671311" y="239884"/>
                  </a:lnTo>
                  <a:lnTo>
                    <a:pt x="656862" y="193778"/>
                  </a:lnTo>
                  <a:lnTo>
                    <a:pt x="645153" y="146659"/>
                  </a:lnTo>
                  <a:lnTo>
                    <a:pt x="636277" y="98605"/>
                  </a:lnTo>
                  <a:lnTo>
                    <a:pt x="630322" y="49692"/>
                  </a:lnTo>
                  <a:lnTo>
                    <a:pt x="62738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959607" y="2074163"/>
              <a:ext cx="875030" cy="978535"/>
            </a:xfrm>
            <a:custGeom>
              <a:avLst/>
              <a:gdLst/>
              <a:ahLst/>
              <a:cxnLst/>
              <a:rect l="l" t="t" r="r" b="b"/>
              <a:pathLst>
                <a:path w="875029" h="978535">
                  <a:moveTo>
                    <a:pt x="431292" y="0"/>
                  </a:moveTo>
                  <a:lnTo>
                    <a:pt x="396332" y="35175"/>
                  </a:lnTo>
                  <a:lnTo>
                    <a:pt x="362619" y="71444"/>
                  </a:lnTo>
                  <a:lnTo>
                    <a:pt x="330185" y="108775"/>
                  </a:lnTo>
                  <a:lnTo>
                    <a:pt x="299062" y="147136"/>
                  </a:lnTo>
                  <a:lnTo>
                    <a:pt x="269282" y="186498"/>
                  </a:lnTo>
                  <a:lnTo>
                    <a:pt x="240879" y="226827"/>
                  </a:lnTo>
                  <a:lnTo>
                    <a:pt x="213883" y="268094"/>
                  </a:lnTo>
                  <a:lnTo>
                    <a:pt x="188329" y="310267"/>
                  </a:lnTo>
                  <a:lnTo>
                    <a:pt x="164247" y="353315"/>
                  </a:lnTo>
                  <a:lnTo>
                    <a:pt x="141671" y="397207"/>
                  </a:lnTo>
                  <a:lnTo>
                    <a:pt x="120634" y="441912"/>
                  </a:lnTo>
                  <a:lnTo>
                    <a:pt x="101166" y="487398"/>
                  </a:lnTo>
                  <a:lnTo>
                    <a:pt x="83302" y="533635"/>
                  </a:lnTo>
                  <a:lnTo>
                    <a:pt x="67073" y="580592"/>
                  </a:lnTo>
                  <a:lnTo>
                    <a:pt x="52511" y="628237"/>
                  </a:lnTo>
                  <a:lnTo>
                    <a:pt x="39650" y="676539"/>
                  </a:lnTo>
                  <a:lnTo>
                    <a:pt x="28521" y="725467"/>
                  </a:lnTo>
                  <a:lnTo>
                    <a:pt x="19157" y="774990"/>
                  </a:lnTo>
                  <a:lnTo>
                    <a:pt x="11591" y="825076"/>
                  </a:lnTo>
                  <a:lnTo>
                    <a:pt x="5854" y="875696"/>
                  </a:lnTo>
                  <a:lnTo>
                    <a:pt x="1979" y="926816"/>
                  </a:lnTo>
                  <a:lnTo>
                    <a:pt x="0" y="978408"/>
                  </a:lnTo>
                  <a:lnTo>
                    <a:pt x="627380" y="978408"/>
                  </a:lnTo>
                  <a:lnTo>
                    <a:pt x="630322" y="928715"/>
                  </a:lnTo>
                  <a:lnTo>
                    <a:pt x="636277" y="879802"/>
                  </a:lnTo>
                  <a:lnTo>
                    <a:pt x="645153" y="831748"/>
                  </a:lnTo>
                  <a:lnTo>
                    <a:pt x="656862" y="784629"/>
                  </a:lnTo>
                  <a:lnTo>
                    <a:pt x="671311" y="738523"/>
                  </a:lnTo>
                  <a:lnTo>
                    <a:pt x="688412" y="693508"/>
                  </a:lnTo>
                  <a:lnTo>
                    <a:pt x="708073" y="649659"/>
                  </a:lnTo>
                  <a:lnTo>
                    <a:pt x="730206" y="607056"/>
                  </a:lnTo>
                  <a:lnTo>
                    <a:pt x="754719" y="565774"/>
                  </a:lnTo>
                  <a:lnTo>
                    <a:pt x="781523" y="525892"/>
                  </a:lnTo>
                  <a:lnTo>
                    <a:pt x="810527" y="487487"/>
                  </a:lnTo>
                  <a:lnTo>
                    <a:pt x="841641" y="450636"/>
                  </a:lnTo>
                  <a:lnTo>
                    <a:pt x="874776" y="415417"/>
                  </a:lnTo>
                  <a:lnTo>
                    <a:pt x="431292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432047" y="1630679"/>
              <a:ext cx="1041400" cy="821690"/>
            </a:xfrm>
            <a:custGeom>
              <a:avLst/>
              <a:gdLst/>
              <a:ahLst/>
              <a:cxnLst/>
              <a:rect l="l" t="t" r="r" b="b"/>
              <a:pathLst>
                <a:path w="1041400" h="821689">
                  <a:moveTo>
                    <a:pt x="1040892" y="0"/>
                  </a:moveTo>
                  <a:lnTo>
                    <a:pt x="988382" y="1751"/>
                  </a:lnTo>
                  <a:lnTo>
                    <a:pt x="936329" y="5133"/>
                  </a:lnTo>
                  <a:lnTo>
                    <a:pt x="884760" y="10118"/>
                  </a:lnTo>
                  <a:lnTo>
                    <a:pt x="833705" y="16680"/>
                  </a:lnTo>
                  <a:lnTo>
                    <a:pt x="783192" y="24792"/>
                  </a:lnTo>
                  <a:lnTo>
                    <a:pt x="733252" y="34429"/>
                  </a:lnTo>
                  <a:lnTo>
                    <a:pt x="683913" y="45563"/>
                  </a:lnTo>
                  <a:lnTo>
                    <a:pt x="635204" y="58169"/>
                  </a:lnTo>
                  <a:lnTo>
                    <a:pt x="587154" y="72219"/>
                  </a:lnTo>
                  <a:lnTo>
                    <a:pt x="539793" y="87687"/>
                  </a:lnTo>
                  <a:lnTo>
                    <a:pt x="493149" y="104546"/>
                  </a:lnTo>
                  <a:lnTo>
                    <a:pt x="447253" y="122771"/>
                  </a:lnTo>
                  <a:lnTo>
                    <a:pt x="402132" y="142335"/>
                  </a:lnTo>
                  <a:lnTo>
                    <a:pt x="357816" y="163210"/>
                  </a:lnTo>
                  <a:lnTo>
                    <a:pt x="314334" y="185371"/>
                  </a:lnTo>
                  <a:lnTo>
                    <a:pt x="271715" y="208792"/>
                  </a:lnTo>
                  <a:lnTo>
                    <a:pt x="229988" y="233445"/>
                  </a:lnTo>
                  <a:lnTo>
                    <a:pt x="189183" y="259304"/>
                  </a:lnTo>
                  <a:lnTo>
                    <a:pt x="149329" y="286342"/>
                  </a:lnTo>
                  <a:lnTo>
                    <a:pt x="110454" y="314534"/>
                  </a:lnTo>
                  <a:lnTo>
                    <a:pt x="72588" y="343853"/>
                  </a:lnTo>
                  <a:lnTo>
                    <a:pt x="35760" y="374272"/>
                  </a:lnTo>
                  <a:lnTo>
                    <a:pt x="0" y="405765"/>
                  </a:lnTo>
                  <a:lnTo>
                    <a:pt x="441960" y="821436"/>
                  </a:lnTo>
                  <a:lnTo>
                    <a:pt x="479106" y="790289"/>
                  </a:lnTo>
                  <a:lnTo>
                    <a:pt x="518041" y="761083"/>
                  </a:lnTo>
                  <a:lnTo>
                    <a:pt x="558683" y="733889"/>
                  </a:lnTo>
                  <a:lnTo>
                    <a:pt x="600949" y="708782"/>
                  </a:lnTo>
                  <a:lnTo>
                    <a:pt x="644758" y="685834"/>
                  </a:lnTo>
                  <a:lnTo>
                    <a:pt x="690027" y="665119"/>
                  </a:lnTo>
                  <a:lnTo>
                    <a:pt x="736675" y="646709"/>
                  </a:lnTo>
                  <a:lnTo>
                    <a:pt x="784617" y="630679"/>
                  </a:lnTo>
                  <a:lnTo>
                    <a:pt x="833774" y="617100"/>
                  </a:lnTo>
                  <a:lnTo>
                    <a:pt x="884062" y="606047"/>
                  </a:lnTo>
                  <a:lnTo>
                    <a:pt x="935399" y="597592"/>
                  </a:lnTo>
                  <a:lnTo>
                    <a:pt x="987703" y="591810"/>
                  </a:lnTo>
                  <a:lnTo>
                    <a:pt x="1040892" y="588772"/>
                  </a:lnTo>
                  <a:lnTo>
                    <a:pt x="1040892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529327" y="1630679"/>
              <a:ext cx="1041400" cy="821690"/>
            </a:xfrm>
            <a:custGeom>
              <a:avLst/>
              <a:gdLst/>
              <a:ahLst/>
              <a:cxnLst/>
              <a:rect l="l" t="t" r="r" b="b"/>
              <a:pathLst>
                <a:path w="1041400" h="821689">
                  <a:moveTo>
                    <a:pt x="0" y="0"/>
                  </a:moveTo>
                  <a:lnTo>
                    <a:pt x="0" y="588772"/>
                  </a:lnTo>
                  <a:lnTo>
                    <a:pt x="52863" y="591810"/>
                  </a:lnTo>
                  <a:lnTo>
                    <a:pt x="104892" y="597592"/>
                  </a:lnTo>
                  <a:lnTo>
                    <a:pt x="155999" y="606047"/>
                  </a:lnTo>
                  <a:lnTo>
                    <a:pt x="206099" y="617100"/>
                  </a:lnTo>
                  <a:lnTo>
                    <a:pt x="255105" y="630679"/>
                  </a:lnTo>
                  <a:lnTo>
                    <a:pt x="302930" y="646709"/>
                  </a:lnTo>
                  <a:lnTo>
                    <a:pt x="349489" y="665119"/>
                  </a:lnTo>
                  <a:lnTo>
                    <a:pt x="394695" y="685834"/>
                  </a:lnTo>
                  <a:lnTo>
                    <a:pt x="438462" y="708782"/>
                  </a:lnTo>
                  <a:lnTo>
                    <a:pt x="480703" y="733889"/>
                  </a:lnTo>
                  <a:lnTo>
                    <a:pt x="521332" y="761083"/>
                  </a:lnTo>
                  <a:lnTo>
                    <a:pt x="560262" y="790289"/>
                  </a:lnTo>
                  <a:lnTo>
                    <a:pt x="597408" y="821436"/>
                  </a:lnTo>
                  <a:lnTo>
                    <a:pt x="1040891" y="405765"/>
                  </a:lnTo>
                  <a:lnTo>
                    <a:pt x="1004940" y="374272"/>
                  </a:lnTo>
                  <a:lnTo>
                    <a:pt x="967940" y="343853"/>
                  </a:lnTo>
                  <a:lnTo>
                    <a:pt x="929918" y="314534"/>
                  </a:lnTo>
                  <a:lnTo>
                    <a:pt x="890905" y="286342"/>
                  </a:lnTo>
                  <a:lnTo>
                    <a:pt x="850930" y="259304"/>
                  </a:lnTo>
                  <a:lnTo>
                    <a:pt x="810021" y="233445"/>
                  </a:lnTo>
                  <a:lnTo>
                    <a:pt x="768208" y="208792"/>
                  </a:lnTo>
                  <a:lnTo>
                    <a:pt x="725520" y="185371"/>
                  </a:lnTo>
                  <a:lnTo>
                    <a:pt x="681986" y="163210"/>
                  </a:lnTo>
                  <a:lnTo>
                    <a:pt x="637636" y="142335"/>
                  </a:lnTo>
                  <a:lnTo>
                    <a:pt x="592498" y="122771"/>
                  </a:lnTo>
                  <a:lnTo>
                    <a:pt x="546601" y="104546"/>
                  </a:lnTo>
                  <a:lnTo>
                    <a:pt x="499974" y="87687"/>
                  </a:lnTo>
                  <a:lnTo>
                    <a:pt x="452648" y="72219"/>
                  </a:lnTo>
                  <a:lnTo>
                    <a:pt x="404650" y="58169"/>
                  </a:lnTo>
                  <a:lnTo>
                    <a:pt x="356010" y="45563"/>
                  </a:lnTo>
                  <a:lnTo>
                    <a:pt x="306757" y="34429"/>
                  </a:lnTo>
                  <a:lnTo>
                    <a:pt x="256921" y="24792"/>
                  </a:lnTo>
                  <a:lnTo>
                    <a:pt x="206529" y="16680"/>
                  </a:lnTo>
                  <a:lnTo>
                    <a:pt x="155612" y="10118"/>
                  </a:lnTo>
                  <a:lnTo>
                    <a:pt x="104199" y="5133"/>
                  </a:lnTo>
                  <a:lnTo>
                    <a:pt x="52318" y="1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166359" y="3105911"/>
              <a:ext cx="875030" cy="978535"/>
            </a:xfrm>
            <a:custGeom>
              <a:avLst/>
              <a:gdLst/>
              <a:ahLst/>
              <a:cxnLst/>
              <a:rect l="l" t="t" r="r" b="b"/>
              <a:pathLst>
                <a:path w="875029" h="978535">
                  <a:moveTo>
                    <a:pt x="874776" y="0"/>
                  </a:moveTo>
                  <a:lnTo>
                    <a:pt x="248920" y="0"/>
                  </a:lnTo>
                  <a:lnTo>
                    <a:pt x="245676" y="49692"/>
                  </a:lnTo>
                  <a:lnTo>
                    <a:pt x="239513" y="98605"/>
                  </a:lnTo>
                  <a:lnTo>
                    <a:pt x="230502" y="146659"/>
                  </a:lnTo>
                  <a:lnTo>
                    <a:pt x="218719" y="193778"/>
                  </a:lnTo>
                  <a:lnTo>
                    <a:pt x="204235" y="239884"/>
                  </a:lnTo>
                  <a:lnTo>
                    <a:pt x="187126" y="284899"/>
                  </a:lnTo>
                  <a:lnTo>
                    <a:pt x="167463" y="328748"/>
                  </a:lnTo>
                  <a:lnTo>
                    <a:pt x="145322" y="371351"/>
                  </a:lnTo>
                  <a:lnTo>
                    <a:pt x="120774" y="412633"/>
                  </a:lnTo>
                  <a:lnTo>
                    <a:pt x="93895" y="452515"/>
                  </a:lnTo>
                  <a:lnTo>
                    <a:pt x="64757" y="490920"/>
                  </a:lnTo>
                  <a:lnTo>
                    <a:pt x="33434" y="527771"/>
                  </a:lnTo>
                  <a:lnTo>
                    <a:pt x="0" y="562991"/>
                  </a:lnTo>
                  <a:lnTo>
                    <a:pt x="443484" y="978407"/>
                  </a:lnTo>
                  <a:lnTo>
                    <a:pt x="478443" y="943232"/>
                  </a:lnTo>
                  <a:lnTo>
                    <a:pt x="512156" y="906963"/>
                  </a:lnTo>
                  <a:lnTo>
                    <a:pt x="544590" y="869632"/>
                  </a:lnTo>
                  <a:lnTo>
                    <a:pt x="575713" y="831271"/>
                  </a:lnTo>
                  <a:lnTo>
                    <a:pt x="605493" y="791909"/>
                  </a:lnTo>
                  <a:lnTo>
                    <a:pt x="633896" y="751580"/>
                  </a:lnTo>
                  <a:lnTo>
                    <a:pt x="660892" y="710313"/>
                  </a:lnTo>
                  <a:lnTo>
                    <a:pt x="686446" y="668140"/>
                  </a:lnTo>
                  <a:lnTo>
                    <a:pt x="710528" y="625092"/>
                  </a:lnTo>
                  <a:lnTo>
                    <a:pt x="733104" y="581200"/>
                  </a:lnTo>
                  <a:lnTo>
                    <a:pt x="754141" y="536495"/>
                  </a:lnTo>
                  <a:lnTo>
                    <a:pt x="773609" y="491009"/>
                  </a:lnTo>
                  <a:lnTo>
                    <a:pt x="791473" y="444772"/>
                  </a:lnTo>
                  <a:lnTo>
                    <a:pt x="807702" y="397815"/>
                  </a:lnTo>
                  <a:lnTo>
                    <a:pt x="822264" y="350170"/>
                  </a:lnTo>
                  <a:lnTo>
                    <a:pt x="835125" y="301868"/>
                  </a:lnTo>
                  <a:lnTo>
                    <a:pt x="846254" y="252940"/>
                  </a:lnTo>
                  <a:lnTo>
                    <a:pt x="855618" y="203417"/>
                  </a:lnTo>
                  <a:lnTo>
                    <a:pt x="863184" y="153331"/>
                  </a:lnTo>
                  <a:lnTo>
                    <a:pt x="868921" y="102711"/>
                  </a:lnTo>
                  <a:lnTo>
                    <a:pt x="872796" y="51591"/>
                  </a:lnTo>
                  <a:lnTo>
                    <a:pt x="874776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166359" y="2074163"/>
              <a:ext cx="875030" cy="978535"/>
            </a:xfrm>
            <a:custGeom>
              <a:avLst/>
              <a:gdLst/>
              <a:ahLst/>
              <a:cxnLst/>
              <a:rect l="l" t="t" r="r" b="b"/>
              <a:pathLst>
                <a:path w="875029" h="978535">
                  <a:moveTo>
                    <a:pt x="443484" y="0"/>
                  </a:moveTo>
                  <a:lnTo>
                    <a:pt x="0" y="415417"/>
                  </a:lnTo>
                  <a:lnTo>
                    <a:pt x="33134" y="450636"/>
                  </a:lnTo>
                  <a:lnTo>
                    <a:pt x="64254" y="487487"/>
                  </a:lnTo>
                  <a:lnTo>
                    <a:pt x="93271" y="525892"/>
                  </a:lnTo>
                  <a:lnTo>
                    <a:pt x="120100" y="565774"/>
                  </a:lnTo>
                  <a:lnTo>
                    <a:pt x="144656" y="607056"/>
                  </a:lnTo>
                  <a:lnTo>
                    <a:pt x="166851" y="649659"/>
                  </a:lnTo>
                  <a:lnTo>
                    <a:pt x="186601" y="693508"/>
                  </a:lnTo>
                  <a:lnTo>
                    <a:pt x="203819" y="738523"/>
                  </a:lnTo>
                  <a:lnTo>
                    <a:pt x="218419" y="784629"/>
                  </a:lnTo>
                  <a:lnTo>
                    <a:pt x="230315" y="831748"/>
                  </a:lnTo>
                  <a:lnTo>
                    <a:pt x="239421" y="879802"/>
                  </a:lnTo>
                  <a:lnTo>
                    <a:pt x="245651" y="928715"/>
                  </a:lnTo>
                  <a:lnTo>
                    <a:pt x="248920" y="978408"/>
                  </a:lnTo>
                  <a:lnTo>
                    <a:pt x="874776" y="978408"/>
                  </a:lnTo>
                  <a:lnTo>
                    <a:pt x="872796" y="926816"/>
                  </a:lnTo>
                  <a:lnTo>
                    <a:pt x="868921" y="875696"/>
                  </a:lnTo>
                  <a:lnTo>
                    <a:pt x="863184" y="825076"/>
                  </a:lnTo>
                  <a:lnTo>
                    <a:pt x="855618" y="774990"/>
                  </a:lnTo>
                  <a:lnTo>
                    <a:pt x="846254" y="725467"/>
                  </a:lnTo>
                  <a:lnTo>
                    <a:pt x="835125" y="676539"/>
                  </a:lnTo>
                  <a:lnTo>
                    <a:pt x="822264" y="628237"/>
                  </a:lnTo>
                  <a:lnTo>
                    <a:pt x="807702" y="580592"/>
                  </a:lnTo>
                  <a:lnTo>
                    <a:pt x="791473" y="533635"/>
                  </a:lnTo>
                  <a:lnTo>
                    <a:pt x="773609" y="487398"/>
                  </a:lnTo>
                  <a:lnTo>
                    <a:pt x="754141" y="441912"/>
                  </a:lnTo>
                  <a:lnTo>
                    <a:pt x="733104" y="397207"/>
                  </a:lnTo>
                  <a:lnTo>
                    <a:pt x="710528" y="353315"/>
                  </a:lnTo>
                  <a:lnTo>
                    <a:pt x="686446" y="310267"/>
                  </a:lnTo>
                  <a:lnTo>
                    <a:pt x="660892" y="268094"/>
                  </a:lnTo>
                  <a:lnTo>
                    <a:pt x="633896" y="226827"/>
                  </a:lnTo>
                  <a:lnTo>
                    <a:pt x="605493" y="186498"/>
                  </a:lnTo>
                  <a:lnTo>
                    <a:pt x="575713" y="147136"/>
                  </a:lnTo>
                  <a:lnTo>
                    <a:pt x="544590" y="108775"/>
                  </a:lnTo>
                  <a:lnTo>
                    <a:pt x="512156" y="71444"/>
                  </a:lnTo>
                  <a:lnTo>
                    <a:pt x="478443" y="35175"/>
                  </a:lnTo>
                  <a:lnTo>
                    <a:pt x="44348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074919" y="2488691"/>
              <a:ext cx="340360" cy="563880"/>
            </a:xfrm>
            <a:custGeom>
              <a:avLst/>
              <a:gdLst/>
              <a:ahLst/>
              <a:cxnLst/>
              <a:rect l="l" t="t" r="r" b="b"/>
              <a:pathLst>
                <a:path w="340360" h="563880">
                  <a:moveTo>
                    <a:pt x="90677" y="0"/>
                  </a:moveTo>
                  <a:lnTo>
                    <a:pt x="0" y="86614"/>
                  </a:lnTo>
                  <a:lnTo>
                    <a:pt x="33629" y="123191"/>
                  </a:lnTo>
                  <a:lnTo>
                    <a:pt x="64722" y="161782"/>
                  </a:lnTo>
                  <a:lnTo>
                    <a:pt x="93172" y="202253"/>
                  </a:lnTo>
                  <a:lnTo>
                    <a:pt x="118871" y="244475"/>
                  </a:lnTo>
                  <a:lnTo>
                    <a:pt x="125221" y="257047"/>
                  </a:lnTo>
                  <a:lnTo>
                    <a:pt x="64642" y="333629"/>
                  </a:lnTo>
                  <a:lnTo>
                    <a:pt x="164845" y="344678"/>
                  </a:lnTo>
                  <a:lnTo>
                    <a:pt x="187303" y="412968"/>
                  </a:lnTo>
                  <a:lnTo>
                    <a:pt x="198389" y="462121"/>
                  </a:lnTo>
                  <a:lnTo>
                    <a:pt x="205976" y="512464"/>
                  </a:lnTo>
                  <a:lnTo>
                    <a:pt x="209930" y="563880"/>
                  </a:lnTo>
                  <a:lnTo>
                    <a:pt x="339851" y="563880"/>
                  </a:lnTo>
                  <a:lnTo>
                    <a:pt x="336606" y="514099"/>
                  </a:lnTo>
                  <a:lnTo>
                    <a:pt x="330387" y="465099"/>
                  </a:lnTo>
                  <a:lnTo>
                    <a:pt x="321280" y="416960"/>
                  </a:lnTo>
                  <a:lnTo>
                    <a:pt x="309375" y="369757"/>
                  </a:lnTo>
                  <a:lnTo>
                    <a:pt x="294758" y="323570"/>
                  </a:lnTo>
                  <a:lnTo>
                    <a:pt x="277516" y="278477"/>
                  </a:lnTo>
                  <a:lnTo>
                    <a:pt x="257737" y="234555"/>
                  </a:lnTo>
                  <a:lnTo>
                    <a:pt x="235508" y="191883"/>
                  </a:lnTo>
                  <a:lnTo>
                    <a:pt x="210917" y="150539"/>
                  </a:lnTo>
                  <a:lnTo>
                    <a:pt x="184051" y="110600"/>
                  </a:lnTo>
                  <a:lnTo>
                    <a:pt x="154997" y="72146"/>
                  </a:lnTo>
                  <a:lnTo>
                    <a:pt x="123844" y="35253"/>
                  </a:lnTo>
                  <a:lnTo>
                    <a:pt x="90677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529327" y="2218943"/>
              <a:ext cx="597535" cy="320040"/>
            </a:xfrm>
            <a:custGeom>
              <a:avLst/>
              <a:gdLst/>
              <a:ahLst/>
              <a:cxnLst/>
              <a:rect l="l" t="t" r="r" b="b"/>
              <a:pathLst>
                <a:path w="597535" h="320039">
                  <a:moveTo>
                    <a:pt x="0" y="0"/>
                  </a:moveTo>
                  <a:lnTo>
                    <a:pt x="0" y="122301"/>
                  </a:lnTo>
                  <a:lnTo>
                    <a:pt x="54296" y="125688"/>
                  </a:lnTo>
                  <a:lnTo>
                    <a:pt x="107568" y="132540"/>
                  </a:lnTo>
                  <a:lnTo>
                    <a:pt x="159698" y="142749"/>
                  </a:lnTo>
                  <a:lnTo>
                    <a:pt x="210565" y="156210"/>
                  </a:lnTo>
                  <a:lnTo>
                    <a:pt x="215011" y="157861"/>
                  </a:lnTo>
                  <a:lnTo>
                    <a:pt x="228854" y="252095"/>
                  </a:lnTo>
                  <a:lnTo>
                    <a:pt x="308102" y="193294"/>
                  </a:lnTo>
                  <a:lnTo>
                    <a:pt x="383841" y="231457"/>
                  </a:lnTo>
                  <a:lnTo>
                    <a:pt x="426942" y="258444"/>
                  </a:lnTo>
                  <a:lnTo>
                    <a:pt x="467995" y="288004"/>
                  </a:lnTo>
                  <a:lnTo>
                    <a:pt x="506856" y="320040"/>
                  </a:lnTo>
                  <a:lnTo>
                    <a:pt x="597408" y="233299"/>
                  </a:lnTo>
                  <a:lnTo>
                    <a:pt x="560287" y="202067"/>
                  </a:lnTo>
                  <a:lnTo>
                    <a:pt x="521374" y="172779"/>
                  </a:lnTo>
                  <a:lnTo>
                    <a:pt x="480755" y="145510"/>
                  </a:lnTo>
                  <a:lnTo>
                    <a:pt x="438518" y="120333"/>
                  </a:lnTo>
                  <a:lnTo>
                    <a:pt x="394751" y="97321"/>
                  </a:lnTo>
                  <a:lnTo>
                    <a:pt x="349540" y="76548"/>
                  </a:lnTo>
                  <a:lnTo>
                    <a:pt x="302974" y="58087"/>
                  </a:lnTo>
                  <a:lnTo>
                    <a:pt x="255139" y="42012"/>
                  </a:lnTo>
                  <a:lnTo>
                    <a:pt x="206124" y="28397"/>
                  </a:lnTo>
                  <a:lnTo>
                    <a:pt x="156015" y="17314"/>
                  </a:lnTo>
                  <a:lnTo>
                    <a:pt x="104899" y="8838"/>
                  </a:lnTo>
                  <a:lnTo>
                    <a:pt x="52865" y="3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874007" y="2218943"/>
              <a:ext cx="599440" cy="320040"/>
            </a:xfrm>
            <a:custGeom>
              <a:avLst/>
              <a:gdLst/>
              <a:ahLst/>
              <a:cxnLst/>
              <a:rect l="l" t="t" r="r" b="b"/>
              <a:pathLst>
                <a:path w="599439" h="320039">
                  <a:moveTo>
                    <a:pt x="598932" y="0"/>
                  </a:moveTo>
                  <a:lnTo>
                    <a:pt x="545741" y="3042"/>
                  </a:lnTo>
                  <a:lnTo>
                    <a:pt x="493431" y="8838"/>
                  </a:lnTo>
                  <a:lnTo>
                    <a:pt x="442086" y="17314"/>
                  </a:lnTo>
                  <a:lnTo>
                    <a:pt x="391789" y="28397"/>
                  </a:lnTo>
                  <a:lnTo>
                    <a:pt x="342623" y="42012"/>
                  </a:lnTo>
                  <a:lnTo>
                    <a:pt x="294671" y="58087"/>
                  </a:lnTo>
                  <a:lnTo>
                    <a:pt x="248016" y="76548"/>
                  </a:lnTo>
                  <a:lnTo>
                    <a:pt x="202743" y="97321"/>
                  </a:lnTo>
                  <a:lnTo>
                    <a:pt x="158933" y="120333"/>
                  </a:lnTo>
                  <a:lnTo>
                    <a:pt x="116671" y="145510"/>
                  </a:lnTo>
                  <a:lnTo>
                    <a:pt x="76039" y="172779"/>
                  </a:lnTo>
                  <a:lnTo>
                    <a:pt x="37121" y="202067"/>
                  </a:lnTo>
                  <a:lnTo>
                    <a:pt x="0" y="233299"/>
                  </a:lnTo>
                  <a:lnTo>
                    <a:pt x="92075" y="320040"/>
                  </a:lnTo>
                  <a:lnTo>
                    <a:pt x="130581" y="288004"/>
                  </a:lnTo>
                  <a:lnTo>
                    <a:pt x="171338" y="258444"/>
                  </a:lnTo>
                  <a:lnTo>
                    <a:pt x="214215" y="231457"/>
                  </a:lnTo>
                  <a:lnTo>
                    <a:pt x="259080" y="207136"/>
                  </a:lnTo>
                  <a:lnTo>
                    <a:pt x="272288" y="201168"/>
                  </a:lnTo>
                  <a:lnTo>
                    <a:pt x="349758" y="256032"/>
                  </a:lnTo>
                  <a:lnTo>
                    <a:pt x="360807" y="165481"/>
                  </a:lnTo>
                  <a:lnTo>
                    <a:pt x="438358" y="142749"/>
                  </a:lnTo>
                  <a:lnTo>
                    <a:pt x="490712" y="132540"/>
                  </a:lnTo>
                  <a:lnTo>
                    <a:pt x="544280" y="125688"/>
                  </a:lnTo>
                  <a:lnTo>
                    <a:pt x="598932" y="122301"/>
                  </a:lnTo>
                  <a:lnTo>
                    <a:pt x="598932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570731" y="2479547"/>
              <a:ext cx="344805" cy="573405"/>
            </a:xfrm>
            <a:custGeom>
              <a:avLst/>
              <a:gdLst/>
              <a:ahLst/>
              <a:cxnLst/>
              <a:rect l="l" t="t" r="r" b="b"/>
              <a:pathLst>
                <a:path w="344804" h="573405">
                  <a:moveTo>
                    <a:pt x="252222" y="0"/>
                  </a:moveTo>
                  <a:lnTo>
                    <a:pt x="218432" y="35823"/>
                  </a:lnTo>
                  <a:lnTo>
                    <a:pt x="186700" y="73312"/>
                  </a:lnTo>
                  <a:lnTo>
                    <a:pt x="157120" y="112388"/>
                  </a:lnTo>
                  <a:lnTo>
                    <a:pt x="129783" y="152972"/>
                  </a:lnTo>
                  <a:lnTo>
                    <a:pt x="104783" y="194984"/>
                  </a:lnTo>
                  <a:lnTo>
                    <a:pt x="82212" y="238346"/>
                  </a:lnTo>
                  <a:lnTo>
                    <a:pt x="62162" y="282978"/>
                  </a:lnTo>
                  <a:lnTo>
                    <a:pt x="44726" y="328802"/>
                  </a:lnTo>
                  <a:lnTo>
                    <a:pt x="29997" y="375738"/>
                  </a:lnTo>
                  <a:lnTo>
                    <a:pt x="18067" y="423707"/>
                  </a:lnTo>
                  <a:lnTo>
                    <a:pt x="9029" y="472631"/>
                  </a:lnTo>
                  <a:lnTo>
                    <a:pt x="2976" y="522429"/>
                  </a:lnTo>
                  <a:lnTo>
                    <a:pt x="0" y="573024"/>
                  </a:lnTo>
                  <a:lnTo>
                    <a:pt x="130683" y="573024"/>
                  </a:lnTo>
                  <a:lnTo>
                    <a:pt x="134754" y="520771"/>
                  </a:lnTo>
                  <a:lnTo>
                    <a:pt x="142494" y="469614"/>
                  </a:lnTo>
                  <a:lnTo>
                    <a:pt x="153757" y="419647"/>
                  </a:lnTo>
                  <a:lnTo>
                    <a:pt x="168402" y="370967"/>
                  </a:lnTo>
                  <a:lnTo>
                    <a:pt x="171577" y="362966"/>
                  </a:lnTo>
                  <a:lnTo>
                    <a:pt x="267970" y="350901"/>
                  </a:lnTo>
                  <a:lnTo>
                    <a:pt x="207899" y="279146"/>
                  </a:lnTo>
                  <a:lnTo>
                    <a:pt x="249537" y="205543"/>
                  </a:lnTo>
                  <a:lnTo>
                    <a:pt x="278526" y="164449"/>
                  </a:lnTo>
                  <a:lnTo>
                    <a:pt x="310207" y="125235"/>
                  </a:lnTo>
                  <a:lnTo>
                    <a:pt x="344424" y="88011"/>
                  </a:lnTo>
                  <a:lnTo>
                    <a:pt x="252222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587495" y="3105911"/>
              <a:ext cx="337185" cy="562610"/>
            </a:xfrm>
            <a:custGeom>
              <a:avLst/>
              <a:gdLst/>
              <a:ahLst/>
              <a:cxnLst/>
              <a:rect l="l" t="t" r="r" b="b"/>
              <a:pathLst>
                <a:path w="337185" h="562610">
                  <a:moveTo>
                    <a:pt x="127762" y="0"/>
                  </a:moveTo>
                  <a:lnTo>
                    <a:pt x="0" y="0"/>
                  </a:lnTo>
                  <a:lnTo>
                    <a:pt x="2911" y="49661"/>
                  </a:lnTo>
                  <a:lnTo>
                    <a:pt x="8829" y="98538"/>
                  </a:lnTo>
                  <a:lnTo>
                    <a:pt x="17665" y="146552"/>
                  </a:lnTo>
                  <a:lnTo>
                    <a:pt x="29328" y="193628"/>
                  </a:lnTo>
                  <a:lnTo>
                    <a:pt x="43728" y="239688"/>
                  </a:lnTo>
                  <a:lnTo>
                    <a:pt x="60775" y="284655"/>
                  </a:lnTo>
                  <a:lnTo>
                    <a:pt x="80378" y="328452"/>
                  </a:lnTo>
                  <a:lnTo>
                    <a:pt x="102447" y="371002"/>
                  </a:lnTo>
                  <a:lnTo>
                    <a:pt x="126893" y="412229"/>
                  </a:lnTo>
                  <a:lnTo>
                    <a:pt x="153624" y="452054"/>
                  </a:lnTo>
                  <a:lnTo>
                    <a:pt x="182552" y="490402"/>
                  </a:lnTo>
                  <a:lnTo>
                    <a:pt x="213585" y="527195"/>
                  </a:lnTo>
                  <a:lnTo>
                    <a:pt x="246634" y="562356"/>
                  </a:lnTo>
                  <a:lnTo>
                    <a:pt x="336804" y="475995"/>
                  </a:lnTo>
                  <a:lnTo>
                    <a:pt x="303343" y="439459"/>
                  </a:lnTo>
                  <a:lnTo>
                    <a:pt x="272383" y="400970"/>
                  </a:lnTo>
                  <a:lnTo>
                    <a:pt x="244042" y="360624"/>
                  </a:lnTo>
                  <a:lnTo>
                    <a:pt x="218440" y="318516"/>
                  </a:lnTo>
                  <a:lnTo>
                    <a:pt x="209550" y="300863"/>
                  </a:lnTo>
                  <a:lnTo>
                    <a:pt x="266192" y="230504"/>
                  </a:lnTo>
                  <a:lnTo>
                    <a:pt x="172974" y="219329"/>
                  </a:lnTo>
                  <a:lnTo>
                    <a:pt x="164719" y="198247"/>
                  </a:lnTo>
                  <a:lnTo>
                    <a:pt x="150354" y="150518"/>
                  </a:lnTo>
                  <a:lnTo>
                    <a:pt x="139334" y="101504"/>
                  </a:lnTo>
                  <a:lnTo>
                    <a:pt x="131768" y="51300"/>
                  </a:lnTo>
                  <a:lnTo>
                    <a:pt x="127762" y="0"/>
                  </a:lnTo>
                  <a:close/>
                </a:path>
              </a:pathLst>
            </a:custGeom>
            <a:solidFill>
              <a:srgbClr val="375F92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074919" y="3105911"/>
              <a:ext cx="340360" cy="562610"/>
            </a:xfrm>
            <a:custGeom>
              <a:avLst/>
              <a:gdLst/>
              <a:ahLst/>
              <a:cxnLst/>
              <a:rect l="l" t="t" r="r" b="b"/>
              <a:pathLst>
                <a:path w="340360" h="562610">
                  <a:moveTo>
                    <a:pt x="339851" y="0"/>
                  </a:moveTo>
                  <a:lnTo>
                    <a:pt x="209930" y="0"/>
                  </a:lnTo>
                  <a:lnTo>
                    <a:pt x="206331" y="51300"/>
                  </a:lnTo>
                  <a:lnTo>
                    <a:pt x="199040" y="101504"/>
                  </a:lnTo>
                  <a:lnTo>
                    <a:pt x="188178" y="150518"/>
                  </a:lnTo>
                  <a:lnTo>
                    <a:pt x="173862" y="198247"/>
                  </a:lnTo>
                  <a:lnTo>
                    <a:pt x="171068" y="205486"/>
                  </a:lnTo>
                  <a:lnTo>
                    <a:pt x="69849" y="218947"/>
                  </a:lnTo>
                  <a:lnTo>
                    <a:pt x="131952" y="294767"/>
                  </a:lnTo>
                  <a:lnTo>
                    <a:pt x="94101" y="360624"/>
                  </a:lnTo>
                  <a:lnTo>
                    <a:pt x="65420" y="400970"/>
                  </a:lnTo>
                  <a:lnTo>
                    <a:pt x="34002" y="439459"/>
                  </a:lnTo>
                  <a:lnTo>
                    <a:pt x="0" y="475995"/>
                  </a:lnTo>
                  <a:lnTo>
                    <a:pt x="90677" y="562356"/>
                  </a:lnTo>
                  <a:lnTo>
                    <a:pt x="124143" y="527195"/>
                  </a:lnTo>
                  <a:lnTo>
                    <a:pt x="155501" y="490402"/>
                  </a:lnTo>
                  <a:lnTo>
                    <a:pt x="184675" y="452054"/>
                  </a:lnTo>
                  <a:lnTo>
                    <a:pt x="211591" y="412229"/>
                  </a:lnTo>
                  <a:lnTo>
                    <a:pt x="236174" y="371002"/>
                  </a:lnTo>
                  <a:lnTo>
                    <a:pt x="258348" y="328452"/>
                  </a:lnTo>
                  <a:lnTo>
                    <a:pt x="278040" y="284655"/>
                  </a:lnTo>
                  <a:lnTo>
                    <a:pt x="295174" y="239688"/>
                  </a:lnTo>
                  <a:lnTo>
                    <a:pt x="309675" y="193628"/>
                  </a:lnTo>
                  <a:lnTo>
                    <a:pt x="321468" y="146552"/>
                  </a:lnTo>
                  <a:lnTo>
                    <a:pt x="330478" y="98538"/>
                  </a:lnTo>
                  <a:lnTo>
                    <a:pt x="336631" y="49661"/>
                  </a:lnTo>
                  <a:lnTo>
                    <a:pt x="339851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7055" y="2497835"/>
              <a:ext cx="1246631" cy="11719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3735" y="1956815"/>
              <a:ext cx="99060" cy="1752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2603" y="1959863"/>
              <a:ext cx="182880" cy="1691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4500" y="2563367"/>
              <a:ext cx="185927" cy="17373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90569" y="2583179"/>
              <a:ext cx="185562" cy="13411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87267" y="3424427"/>
              <a:ext cx="185928" cy="15849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6023" y="3416807"/>
              <a:ext cx="185928" cy="17373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332731" y="2857499"/>
              <a:ext cx="335280" cy="318770"/>
            </a:xfrm>
            <a:custGeom>
              <a:avLst/>
              <a:gdLst/>
              <a:ahLst/>
              <a:cxnLst/>
              <a:rect l="l" t="t" r="r" b="b"/>
              <a:pathLst>
                <a:path w="335279" h="318769">
                  <a:moveTo>
                    <a:pt x="167132" y="0"/>
                  </a:moveTo>
                  <a:lnTo>
                    <a:pt x="158623" y="508"/>
                  </a:lnTo>
                  <a:lnTo>
                    <a:pt x="150622" y="1524"/>
                  </a:lnTo>
                  <a:lnTo>
                    <a:pt x="142113" y="2032"/>
                  </a:lnTo>
                  <a:lnTo>
                    <a:pt x="87503" y="19177"/>
                  </a:lnTo>
                  <a:lnTo>
                    <a:pt x="80645" y="23749"/>
                  </a:lnTo>
                  <a:lnTo>
                    <a:pt x="73787" y="27178"/>
                  </a:lnTo>
                  <a:lnTo>
                    <a:pt x="67437" y="32258"/>
                  </a:lnTo>
                  <a:lnTo>
                    <a:pt x="60960" y="36322"/>
                  </a:lnTo>
                  <a:lnTo>
                    <a:pt x="54610" y="41275"/>
                  </a:lnTo>
                  <a:lnTo>
                    <a:pt x="28702" y="70104"/>
                  </a:lnTo>
                  <a:lnTo>
                    <a:pt x="10033" y="104775"/>
                  </a:lnTo>
                  <a:lnTo>
                    <a:pt x="2159" y="135509"/>
                  </a:lnTo>
                  <a:lnTo>
                    <a:pt x="508" y="142621"/>
                  </a:lnTo>
                  <a:lnTo>
                    <a:pt x="0" y="151638"/>
                  </a:lnTo>
                  <a:lnTo>
                    <a:pt x="0" y="167259"/>
                  </a:lnTo>
                  <a:lnTo>
                    <a:pt x="508" y="174879"/>
                  </a:lnTo>
                  <a:lnTo>
                    <a:pt x="1651" y="183007"/>
                  </a:lnTo>
                  <a:lnTo>
                    <a:pt x="4826" y="198120"/>
                  </a:lnTo>
                  <a:lnTo>
                    <a:pt x="7366" y="205104"/>
                  </a:lnTo>
                  <a:lnTo>
                    <a:pt x="9017" y="212217"/>
                  </a:lnTo>
                  <a:lnTo>
                    <a:pt x="12192" y="219710"/>
                  </a:lnTo>
                  <a:lnTo>
                    <a:pt x="19050" y="233299"/>
                  </a:lnTo>
                  <a:lnTo>
                    <a:pt x="22860" y="239395"/>
                  </a:lnTo>
                  <a:lnTo>
                    <a:pt x="26543" y="246507"/>
                  </a:lnTo>
                  <a:lnTo>
                    <a:pt x="31242" y="252476"/>
                  </a:lnTo>
                  <a:lnTo>
                    <a:pt x="36576" y="258064"/>
                  </a:lnTo>
                  <a:lnTo>
                    <a:pt x="40894" y="263525"/>
                  </a:lnTo>
                  <a:lnTo>
                    <a:pt x="69977" y="288798"/>
                  </a:lnTo>
                  <a:lnTo>
                    <a:pt x="104521" y="306451"/>
                  </a:lnTo>
                  <a:lnTo>
                    <a:pt x="134747" y="314960"/>
                  </a:lnTo>
                  <a:lnTo>
                    <a:pt x="143256" y="316484"/>
                  </a:lnTo>
                  <a:lnTo>
                    <a:pt x="159639" y="318516"/>
                  </a:lnTo>
                  <a:lnTo>
                    <a:pt x="159639" y="238379"/>
                  </a:lnTo>
                  <a:lnTo>
                    <a:pt x="141605" y="255524"/>
                  </a:lnTo>
                  <a:lnTo>
                    <a:pt x="138938" y="257556"/>
                  </a:lnTo>
                  <a:lnTo>
                    <a:pt x="135763" y="258064"/>
                  </a:lnTo>
                  <a:lnTo>
                    <a:pt x="132080" y="257556"/>
                  </a:lnTo>
                  <a:lnTo>
                    <a:pt x="98171" y="225297"/>
                  </a:lnTo>
                  <a:lnTo>
                    <a:pt x="96012" y="222758"/>
                  </a:lnTo>
                  <a:lnTo>
                    <a:pt x="95504" y="219710"/>
                  </a:lnTo>
                  <a:lnTo>
                    <a:pt x="96012" y="217170"/>
                  </a:lnTo>
                  <a:lnTo>
                    <a:pt x="98171" y="214757"/>
                  </a:lnTo>
                  <a:lnTo>
                    <a:pt x="100838" y="213233"/>
                  </a:lnTo>
                  <a:lnTo>
                    <a:pt x="104013" y="212217"/>
                  </a:lnTo>
                  <a:lnTo>
                    <a:pt x="106680" y="213233"/>
                  </a:lnTo>
                  <a:lnTo>
                    <a:pt x="108712" y="214757"/>
                  </a:lnTo>
                  <a:lnTo>
                    <a:pt x="135763" y="239395"/>
                  </a:lnTo>
                  <a:lnTo>
                    <a:pt x="161290" y="214757"/>
                  </a:lnTo>
                  <a:lnTo>
                    <a:pt x="165989" y="212217"/>
                  </a:lnTo>
                  <a:lnTo>
                    <a:pt x="169291" y="212217"/>
                  </a:lnTo>
                  <a:lnTo>
                    <a:pt x="170307" y="213233"/>
                  </a:lnTo>
                  <a:lnTo>
                    <a:pt x="171831" y="213740"/>
                  </a:lnTo>
                  <a:lnTo>
                    <a:pt x="198882" y="239395"/>
                  </a:lnTo>
                  <a:lnTo>
                    <a:pt x="225425" y="214757"/>
                  </a:lnTo>
                  <a:lnTo>
                    <a:pt x="228092" y="213233"/>
                  </a:lnTo>
                  <a:lnTo>
                    <a:pt x="231267" y="212217"/>
                  </a:lnTo>
                  <a:lnTo>
                    <a:pt x="233934" y="213233"/>
                  </a:lnTo>
                  <a:lnTo>
                    <a:pt x="236601" y="214757"/>
                  </a:lnTo>
                  <a:lnTo>
                    <a:pt x="238760" y="217170"/>
                  </a:lnTo>
                  <a:lnTo>
                    <a:pt x="239268" y="219710"/>
                  </a:lnTo>
                  <a:lnTo>
                    <a:pt x="238760" y="222758"/>
                  </a:lnTo>
                  <a:lnTo>
                    <a:pt x="236601" y="225297"/>
                  </a:lnTo>
                  <a:lnTo>
                    <a:pt x="204724" y="255524"/>
                  </a:lnTo>
                  <a:lnTo>
                    <a:pt x="202184" y="257556"/>
                  </a:lnTo>
                  <a:lnTo>
                    <a:pt x="198882" y="258064"/>
                  </a:lnTo>
                  <a:lnTo>
                    <a:pt x="196342" y="257556"/>
                  </a:lnTo>
                  <a:lnTo>
                    <a:pt x="193675" y="255524"/>
                  </a:lnTo>
                  <a:lnTo>
                    <a:pt x="175006" y="238379"/>
                  </a:lnTo>
                  <a:lnTo>
                    <a:pt x="175006" y="318516"/>
                  </a:lnTo>
                  <a:lnTo>
                    <a:pt x="192024" y="316484"/>
                  </a:lnTo>
                  <a:lnTo>
                    <a:pt x="199517" y="314960"/>
                  </a:lnTo>
                  <a:lnTo>
                    <a:pt x="207391" y="313944"/>
                  </a:lnTo>
                  <a:lnTo>
                    <a:pt x="245110" y="300355"/>
                  </a:lnTo>
                  <a:lnTo>
                    <a:pt x="282702" y="274701"/>
                  </a:lnTo>
                  <a:lnTo>
                    <a:pt x="319405" y="226822"/>
                  </a:lnTo>
                  <a:lnTo>
                    <a:pt x="325247" y="212217"/>
                  </a:lnTo>
                  <a:lnTo>
                    <a:pt x="327914" y="205613"/>
                  </a:lnTo>
                  <a:lnTo>
                    <a:pt x="332105" y="190500"/>
                  </a:lnTo>
                  <a:lnTo>
                    <a:pt x="333121" y="183007"/>
                  </a:lnTo>
                  <a:lnTo>
                    <a:pt x="334772" y="174879"/>
                  </a:lnTo>
                  <a:lnTo>
                    <a:pt x="334772" y="167259"/>
                  </a:lnTo>
                  <a:lnTo>
                    <a:pt x="335280" y="159258"/>
                  </a:lnTo>
                  <a:lnTo>
                    <a:pt x="334772" y="151638"/>
                  </a:lnTo>
                  <a:lnTo>
                    <a:pt x="333629" y="142621"/>
                  </a:lnTo>
                  <a:lnTo>
                    <a:pt x="333121" y="135509"/>
                  </a:lnTo>
                  <a:lnTo>
                    <a:pt x="332105" y="127507"/>
                  </a:lnTo>
                  <a:lnTo>
                    <a:pt x="315087" y="83693"/>
                  </a:lnTo>
                  <a:lnTo>
                    <a:pt x="310388" y="77089"/>
                  </a:lnTo>
                  <a:lnTo>
                    <a:pt x="306578" y="70104"/>
                  </a:lnTo>
                  <a:lnTo>
                    <a:pt x="301371" y="64008"/>
                  </a:lnTo>
                  <a:lnTo>
                    <a:pt x="297053" y="57912"/>
                  </a:lnTo>
                  <a:lnTo>
                    <a:pt x="280162" y="41275"/>
                  </a:lnTo>
                  <a:lnTo>
                    <a:pt x="274320" y="36322"/>
                  </a:lnTo>
                  <a:lnTo>
                    <a:pt x="267843" y="32258"/>
                  </a:lnTo>
                  <a:lnTo>
                    <a:pt x="260985" y="27178"/>
                  </a:lnTo>
                  <a:lnTo>
                    <a:pt x="254127" y="23749"/>
                  </a:lnTo>
                  <a:lnTo>
                    <a:pt x="247269" y="19177"/>
                  </a:lnTo>
                  <a:lnTo>
                    <a:pt x="232918" y="13081"/>
                  </a:lnTo>
                  <a:lnTo>
                    <a:pt x="224917" y="10033"/>
                  </a:lnTo>
                  <a:lnTo>
                    <a:pt x="216916" y="7620"/>
                  </a:lnTo>
                  <a:lnTo>
                    <a:pt x="209550" y="5080"/>
                  </a:lnTo>
                  <a:lnTo>
                    <a:pt x="201041" y="3048"/>
                  </a:lnTo>
                  <a:lnTo>
                    <a:pt x="193167" y="2032"/>
                  </a:lnTo>
                  <a:lnTo>
                    <a:pt x="184658" y="1524"/>
                  </a:lnTo>
                  <a:lnTo>
                    <a:pt x="175641" y="508"/>
                  </a:lnTo>
                  <a:lnTo>
                    <a:pt x="16713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43983" y="3204971"/>
              <a:ext cx="112775" cy="10515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998911" y="3853141"/>
            <a:ext cx="106083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404040"/>
                </a:solidFill>
                <a:latin typeface="+mj-lt"/>
                <a:cs typeface="Times New Roman"/>
              </a:rPr>
              <a:t>CRISP-</a:t>
            </a:r>
            <a:r>
              <a:rPr sz="1400" b="1" spc="-25" dirty="0">
                <a:solidFill>
                  <a:srgbClr val="404040"/>
                </a:solidFill>
                <a:latin typeface="+mj-lt"/>
                <a:cs typeface="Times New Roman"/>
              </a:rPr>
              <a:t>DM</a:t>
            </a:r>
            <a:endParaRPr sz="1400">
              <a:latin typeface="+mj-lt"/>
              <a:cs typeface="Times New Roman"/>
            </a:endParaRPr>
          </a:p>
          <a:p>
            <a:pPr marL="12700" algn="ctr">
              <a:lnSpc>
                <a:spcPct val="100000"/>
              </a:lnSpc>
            </a:pPr>
            <a:r>
              <a:rPr sz="1400" b="1" spc="-10" dirty="0">
                <a:solidFill>
                  <a:srgbClr val="404040"/>
                </a:solidFill>
                <a:latin typeface="+mj-lt"/>
                <a:cs typeface="Times New Roman"/>
              </a:rPr>
              <a:t>Framework</a:t>
            </a:r>
            <a:endParaRPr sz="1400">
              <a:latin typeface="+mj-lt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80488" y="3345229"/>
            <a:ext cx="1470660" cy="8598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88950" algn="r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404040"/>
                </a:solidFill>
                <a:latin typeface="+mj-lt"/>
                <a:cs typeface="Times New Roman"/>
              </a:rPr>
              <a:t>Business</a:t>
            </a:r>
            <a:r>
              <a:rPr sz="1100" b="1" spc="-35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b="1" spc="-10" dirty="0">
                <a:solidFill>
                  <a:srgbClr val="404040"/>
                </a:solidFill>
                <a:latin typeface="+mj-lt"/>
                <a:cs typeface="Times New Roman"/>
              </a:rPr>
              <a:t>Insight: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Identifying</a:t>
            </a:r>
            <a:r>
              <a:rPr sz="1100" spc="-45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the</a:t>
            </a:r>
            <a:r>
              <a:rPr sz="1100" spc="-25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+mj-lt"/>
                <a:cs typeface="Times New Roman"/>
              </a:rPr>
              <a:t>Client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Analytical</a:t>
            </a:r>
            <a:r>
              <a:rPr sz="1100" spc="-55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Goal</a:t>
            </a:r>
            <a:r>
              <a:rPr sz="1100" spc="-2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based</a:t>
            </a:r>
            <a:r>
              <a:rPr sz="1100" spc="-35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spc="-25" dirty="0">
                <a:solidFill>
                  <a:srgbClr val="404040"/>
                </a:solidFill>
                <a:latin typeface="+mj-lt"/>
                <a:cs typeface="Times New Roman"/>
              </a:rPr>
              <a:t>on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resource</a:t>
            </a:r>
            <a:r>
              <a:rPr sz="1100" spc="-4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and</a:t>
            </a:r>
            <a:r>
              <a:rPr sz="1100" spc="-5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Constraints</a:t>
            </a:r>
            <a:r>
              <a:rPr sz="1100" spc="-45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spc="-50" dirty="0">
                <a:solidFill>
                  <a:srgbClr val="404040"/>
                </a:solidFill>
                <a:latin typeface="+mj-lt"/>
                <a:cs typeface="Times New Roman"/>
              </a:rPr>
              <a:t>.</a:t>
            </a:r>
            <a:endParaRPr sz="1100" dirty="0">
              <a:latin typeface="+mj-lt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62414" y="2334491"/>
            <a:ext cx="174403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28930" algn="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404040"/>
                </a:solidFill>
                <a:latin typeface="+mj-lt"/>
                <a:cs typeface="Times New Roman"/>
              </a:rPr>
              <a:t>Analyze</a:t>
            </a:r>
            <a:r>
              <a:rPr sz="1100" b="1" spc="-4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b="1" spc="-10" dirty="0">
                <a:solidFill>
                  <a:srgbClr val="404040"/>
                </a:solidFill>
                <a:latin typeface="+mj-lt"/>
                <a:cs typeface="Times New Roman"/>
              </a:rPr>
              <a:t>Information</a:t>
            </a:r>
            <a:r>
              <a:rPr sz="1100" spc="-10" dirty="0">
                <a:solidFill>
                  <a:srgbClr val="404040"/>
                </a:solidFill>
                <a:latin typeface="+mj-lt"/>
                <a:cs typeface="Times New Roman"/>
              </a:rPr>
              <a:t>: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Collection,</a:t>
            </a:r>
            <a:r>
              <a:rPr sz="1100" spc="-55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Description</a:t>
            </a:r>
            <a:r>
              <a:rPr sz="1100" spc="-5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spc="-25" dirty="0">
                <a:solidFill>
                  <a:srgbClr val="404040"/>
                </a:solidFill>
                <a:latin typeface="+mj-lt"/>
                <a:cs typeface="Times New Roman"/>
              </a:rPr>
              <a:t>and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Exploration</a:t>
            </a:r>
            <a:r>
              <a:rPr sz="1100" spc="-45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of</a:t>
            </a:r>
            <a:r>
              <a:rPr sz="1100" spc="-10" dirty="0">
                <a:solidFill>
                  <a:srgbClr val="404040"/>
                </a:solidFill>
                <a:latin typeface="+mj-lt"/>
                <a:cs typeface="Times New Roman"/>
              </a:rPr>
              <a:t> Historical</a:t>
            </a:r>
            <a:endParaRPr sz="1100" dirty="0">
              <a:latin typeface="+mj-lt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100" spc="-20" dirty="0">
                <a:solidFill>
                  <a:srgbClr val="404040"/>
                </a:solidFill>
                <a:latin typeface="+mj-lt"/>
                <a:cs typeface="Times New Roman"/>
              </a:rPr>
              <a:t>data</a:t>
            </a:r>
            <a:endParaRPr sz="1100" dirty="0">
              <a:latin typeface="+mj-lt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95337" y="1312261"/>
            <a:ext cx="1685289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404040"/>
                </a:solidFill>
                <a:latin typeface="+mj-lt"/>
                <a:cs typeface="Times New Roman"/>
              </a:rPr>
              <a:t>Data</a:t>
            </a:r>
            <a:r>
              <a:rPr sz="1100" b="1" spc="-25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b="1" dirty="0">
                <a:solidFill>
                  <a:srgbClr val="404040"/>
                </a:solidFill>
                <a:latin typeface="+mj-lt"/>
                <a:cs typeface="Times New Roman"/>
              </a:rPr>
              <a:t>Preparation:</a:t>
            </a:r>
            <a:r>
              <a:rPr sz="1100" b="1" spc="-55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+mj-lt"/>
                <a:cs typeface="Times New Roman"/>
              </a:rPr>
              <a:t>Preparation</a:t>
            </a:r>
            <a:endParaRPr sz="1100" dirty="0">
              <a:latin typeface="+mj-lt"/>
              <a:cs typeface="Times New Roman"/>
            </a:endParaRPr>
          </a:p>
          <a:p>
            <a:pPr marR="7620" algn="r">
              <a:lnSpc>
                <a:spcPct val="100000"/>
              </a:lnSpc>
            </a:pP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and</a:t>
            </a:r>
            <a:r>
              <a:rPr sz="1100" spc="-1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Cleaning</a:t>
            </a:r>
            <a:r>
              <a:rPr sz="1100" spc="-4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of</a:t>
            </a:r>
            <a:r>
              <a:rPr sz="1100" spc="-1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Client</a:t>
            </a:r>
            <a:r>
              <a:rPr sz="1100" spc="-3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spc="-20" dirty="0">
                <a:solidFill>
                  <a:srgbClr val="404040"/>
                </a:solidFill>
                <a:latin typeface="+mj-lt"/>
                <a:cs typeface="Times New Roman"/>
              </a:rPr>
              <a:t>data</a:t>
            </a:r>
            <a:endParaRPr sz="1100" dirty="0">
              <a:latin typeface="+mj-lt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84823" y="3131261"/>
            <a:ext cx="1841500" cy="5346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5"/>
              </a:spcBef>
            </a:pPr>
            <a:r>
              <a:rPr sz="1100" b="1" dirty="0">
                <a:solidFill>
                  <a:srgbClr val="404040"/>
                </a:solidFill>
                <a:latin typeface="+mj-lt"/>
                <a:cs typeface="Calibri"/>
              </a:rPr>
              <a:t>D</a:t>
            </a:r>
            <a:r>
              <a:rPr sz="1100" b="1" dirty="0">
                <a:solidFill>
                  <a:srgbClr val="404040"/>
                </a:solidFill>
                <a:latin typeface="+mj-lt"/>
                <a:cs typeface="Times New Roman"/>
              </a:rPr>
              <a:t>eployment</a:t>
            </a:r>
            <a:r>
              <a:rPr sz="1100" b="1" spc="-1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b="1" dirty="0">
                <a:solidFill>
                  <a:srgbClr val="404040"/>
                </a:solidFill>
                <a:latin typeface="+mj-lt"/>
                <a:cs typeface="Times New Roman"/>
              </a:rPr>
              <a:t>:</a:t>
            </a:r>
            <a:r>
              <a:rPr sz="1100" b="1" spc="-1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D</a:t>
            </a:r>
            <a:r>
              <a:rPr sz="1100" dirty="0">
                <a:latin typeface="+mj-lt"/>
                <a:cs typeface="Times New Roman"/>
              </a:rPr>
              <a:t>ifferent</a:t>
            </a:r>
            <a:r>
              <a:rPr sz="1100" spc="-30" dirty="0">
                <a:latin typeface="+mj-lt"/>
                <a:cs typeface="Times New Roman"/>
              </a:rPr>
              <a:t> </a:t>
            </a:r>
            <a:r>
              <a:rPr sz="1100" dirty="0">
                <a:latin typeface="+mj-lt"/>
                <a:cs typeface="Times New Roman"/>
              </a:rPr>
              <a:t>real</a:t>
            </a:r>
            <a:r>
              <a:rPr sz="1100" spc="-30" dirty="0">
                <a:latin typeface="+mj-lt"/>
                <a:cs typeface="Times New Roman"/>
              </a:rPr>
              <a:t> </a:t>
            </a:r>
            <a:r>
              <a:rPr sz="1100" spc="-20" dirty="0">
                <a:latin typeface="+mj-lt"/>
                <a:cs typeface="Times New Roman"/>
              </a:rPr>
              <a:t>time </a:t>
            </a:r>
            <a:r>
              <a:rPr sz="1100" dirty="0">
                <a:latin typeface="+mj-lt"/>
                <a:cs typeface="Times New Roman"/>
              </a:rPr>
              <a:t>evaluation</a:t>
            </a:r>
            <a:r>
              <a:rPr sz="1100" spc="-50" dirty="0">
                <a:latin typeface="+mj-lt"/>
                <a:cs typeface="Times New Roman"/>
              </a:rPr>
              <a:t> </a:t>
            </a:r>
            <a:r>
              <a:rPr sz="1100" dirty="0">
                <a:latin typeface="+mj-lt"/>
                <a:cs typeface="Times New Roman"/>
              </a:rPr>
              <a:t>and</a:t>
            </a:r>
            <a:r>
              <a:rPr sz="1100" spc="-10" dirty="0">
                <a:latin typeface="+mj-lt"/>
                <a:cs typeface="Times New Roman"/>
              </a:rPr>
              <a:t> </a:t>
            </a:r>
            <a:r>
              <a:rPr sz="1100" dirty="0">
                <a:latin typeface="+mj-lt"/>
                <a:cs typeface="Times New Roman"/>
              </a:rPr>
              <a:t>A/B</a:t>
            </a:r>
            <a:r>
              <a:rPr sz="1100" spc="-10" dirty="0">
                <a:latin typeface="+mj-lt"/>
                <a:cs typeface="Times New Roman"/>
              </a:rPr>
              <a:t> </a:t>
            </a:r>
            <a:r>
              <a:rPr sz="1100" dirty="0">
                <a:latin typeface="+mj-lt"/>
                <a:cs typeface="Times New Roman"/>
              </a:rPr>
              <a:t>Testing</a:t>
            </a:r>
            <a:r>
              <a:rPr sz="1100" spc="-45" dirty="0">
                <a:latin typeface="+mj-lt"/>
                <a:cs typeface="Times New Roman"/>
              </a:rPr>
              <a:t> </a:t>
            </a:r>
            <a:r>
              <a:rPr sz="1100" spc="-25" dirty="0">
                <a:latin typeface="+mj-lt"/>
                <a:cs typeface="Times New Roman"/>
              </a:rPr>
              <a:t>to </a:t>
            </a:r>
            <a:r>
              <a:rPr sz="1100" dirty="0">
                <a:latin typeface="+mj-lt"/>
                <a:cs typeface="Times New Roman"/>
              </a:rPr>
              <a:t>push</a:t>
            </a:r>
            <a:r>
              <a:rPr sz="1100" spc="-20" dirty="0">
                <a:latin typeface="+mj-lt"/>
                <a:cs typeface="Times New Roman"/>
              </a:rPr>
              <a:t> </a:t>
            </a:r>
            <a:r>
              <a:rPr sz="1100" dirty="0">
                <a:latin typeface="+mj-lt"/>
                <a:cs typeface="Times New Roman"/>
              </a:rPr>
              <a:t>to</a:t>
            </a:r>
            <a:r>
              <a:rPr sz="1100" spc="-25" dirty="0">
                <a:latin typeface="+mj-lt"/>
                <a:cs typeface="Times New Roman"/>
              </a:rPr>
              <a:t> </a:t>
            </a:r>
            <a:r>
              <a:rPr sz="1100" dirty="0">
                <a:latin typeface="+mj-lt"/>
                <a:cs typeface="Times New Roman"/>
              </a:rPr>
              <a:t>the</a:t>
            </a:r>
            <a:r>
              <a:rPr sz="1100" spc="-35" dirty="0">
                <a:latin typeface="+mj-lt"/>
                <a:cs typeface="Times New Roman"/>
              </a:rPr>
              <a:t> </a:t>
            </a:r>
            <a:r>
              <a:rPr sz="1100" dirty="0">
                <a:latin typeface="+mj-lt"/>
                <a:cs typeface="Times New Roman"/>
              </a:rPr>
              <a:t>PROD/Live</a:t>
            </a:r>
            <a:r>
              <a:rPr sz="1100" spc="-10" dirty="0">
                <a:latin typeface="+mj-lt"/>
                <a:cs typeface="Times New Roman"/>
              </a:rPr>
              <a:t> </a:t>
            </a:r>
            <a:r>
              <a:rPr sz="1100" spc="-20" dirty="0">
                <a:latin typeface="+mj-lt"/>
                <a:cs typeface="Times New Roman"/>
              </a:rPr>
              <a:t>data</a:t>
            </a:r>
            <a:endParaRPr sz="1100" dirty="0">
              <a:latin typeface="+mj-lt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19654" y="2196794"/>
            <a:ext cx="183705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404040"/>
                </a:solidFill>
                <a:latin typeface="+mj-lt"/>
                <a:cs typeface="Times New Roman"/>
              </a:rPr>
              <a:t>Evaluation</a:t>
            </a:r>
            <a:r>
              <a:rPr sz="1100" b="1" spc="-35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b="1" dirty="0">
                <a:solidFill>
                  <a:srgbClr val="404040"/>
                </a:solidFill>
                <a:latin typeface="+mj-lt"/>
                <a:cs typeface="Times New Roman"/>
              </a:rPr>
              <a:t>: </a:t>
            </a:r>
            <a:r>
              <a:rPr sz="1100" spc="-10" dirty="0">
                <a:latin typeface="+mj-lt"/>
                <a:cs typeface="Times New Roman"/>
              </a:rPr>
              <a:t>Accuracy, </a:t>
            </a:r>
            <a:r>
              <a:rPr sz="1100" dirty="0">
                <a:latin typeface="+mj-lt"/>
                <a:cs typeface="Times New Roman"/>
              </a:rPr>
              <a:t>Sensitivity,</a:t>
            </a:r>
            <a:r>
              <a:rPr sz="1100" spc="-55" dirty="0">
                <a:latin typeface="+mj-lt"/>
                <a:cs typeface="Times New Roman"/>
              </a:rPr>
              <a:t> </a:t>
            </a:r>
            <a:r>
              <a:rPr sz="1100" dirty="0">
                <a:latin typeface="+mj-lt"/>
                <a:cs typeface="Times New Roman"/>
              </a:rPr>
              <a:t>Specificity,</a:t>
            </a:r>
            <a:r>
              <a:rPr sz="1100" spc="-45" dirty="0">
                <a:latin typeface="+mj-lt"/>
                <a:cs typeface="Times New Roman"/>
              </a:rPr>
              <a:t> </a:t>
            </a:r>
            <a:r>
              <a:rPr sz="1100" spc="-10" dirty="0">
                <a:latin typeface="+mj-lt"/>
                <a:cs typeface="Times New Roman"/>
              </a:rPr>
              <a:t>F-Score, </a:t>
            </a:r>
            <a:r>
              <a:rPr sz="1100" dirty="0">
                <a:latin typeface="+mj-lt"/>
                <a:cs typeface="Times New Roman"/>
              </a:rPr>
              <a:t>AUC, </a:t>
            </a:r>
            <a:r>
              <a:rPr sz="1100" spc="-20" dirty="0">
                <a:latin typeface="+mj-lt"/>
                <a:cs typeface="Times New Roman"/>
              </a:rPr>
              <a:t>R-</a:t>
            </a:r>
            <a:r>
              <a:rPr sz="1100" dirty="0">
                <a:latin typeface="+mj-lt"/>
                <a:cs typeface="Times New Roman"/>
              </a:rPr>
              <a:t>Sq,</a:t>
            </a:r>
            <a:r>
              <a:rPr sz="1100" spc="-5" dirty="0">
                <a:latin typeface="+mj-lt"/>
                <a:cs typeface="Times New Roman"/>
              </a:rPr>
              <a:t> </a:t>
            </a:r>
            <a:r>
              <a:rPr sz="1100" dirty="0">
                <a:latin typeface="+mj-lt"/>
                <a:cs typeface="Times New Roman"/>
              </a:rPr>
              <a:t>Adj</a:t>
            </a:r>
            <a:r>
              <a:rPr sz="1100" spc="-30" dirty="0">
                <a:latin typeface="+mj-lt"/>
                <a:cs typeface="Times New Roman"/>
              </a:rPr>
              <a:t> </a:t>
            </a:r>
            <a:r>
              <a:rPr sz="1100" spc="-20" dirty="0">
                <a:latin typeface="+mj-lt"/>
                <a:cs typeface="Times New Roman"/>
              </a:rPr>
              <a:t>R-</a:t>
            </a:r>
            <a:r>
              <a:rPr sz="1100" dirty="0">
                <a:latin typeface="+mj-lt"/>
                <a:cs typeface="Times New Roman"/>
              </a:rPr>
              <a:t>SQ,</a:t>
            </a:r>
            <a:r>
              <a:rPr sz="1100" spc="20" dirty="0">
                <a:latin typeface="+mj-lt"/>
                <a:cs typeface="Times New Roman"/>
              </a:rPr>
              <a:t> </a:t>
            </a:r>
            <a:r>
              <a:rPr sz="1100" spc="-20" dirty="0">
                <a:latin typeface="+mj-lt"/>
                <a:cs typeface="Times New Roman"/>
              </a:rPr>
              <a:t>RMSE</a:t>
            </a:r>
            <a:endParaRPr sz="1100" dirty="0">
              <a:latin typeface="+mj-lt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97701" y="1266316"/>
            <a:ext cx="180975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404040"/>
                </a:solidFill>
                <a:latin typeface="+mj-lt"/>
                <a:cs typeface="Times New Roman"/>
              </a:rPr>
              <a:t>Modeling</a:t>
            </a:r>
            <a:r>
              <a:rPr sz="1100" b="1" spc="-5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b="1" dirty="0">
                <a:solidFill>
                  <a:srgbClr val="404040"/>
                </a:solidFill>
                <a:latin typeface="+mj-lt"/>
                <a:cs typeface="Times New Roman"/>
              </a:rPr>
              <a:t>:</a:t>
            </a:r>
            <a:r>
              <a:rPr sz="1100" b="1" spc="-2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Applying</a:t>
            </a:r>
            <a:r>
              <a:rPr sz="1100" spc="-2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+mj-lt"/>
                <a:cs typeface="Times New Roman"/>
              </a:rPr>
              <a:t>Ensemble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ML</a:t>
            </a:r>
            <a:r>
              <a:rPr sz="1100" spc="-2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Algorithms</a:t>
            </a:r>
            <a:r>
              <a:rPr sz="1100" spc="-3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on the</a:t>
            </a:r>
            <a:r>
              <a:rPr sz="1100" spc="-3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spc="-10" dirty="0">
                <a:solidFill>
                  <a:srgbClr val="404040"/>
                </a:solidFill>
                <a:latin typeface="+mj-lt"/>
                <a:cs typeface="Times New Roman"/>
              </a:rPr>
              <a:t>prepared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Data</a:t>
            </a:r>
            <a:r>
              <a:rPr sz="1100" spc="27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to</a:t>
            </a:r>
            <a:r>
              <a:rPr sz="1100" spc="-25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understand</a:t>
            </a:r>
            <a:r>
              <a:rPr sz="1100" spc="-45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the</a:t>
            </a:r>
            <a:r>
              <a:rPr sz="1100" spc="-10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dirty="0">
                <a:solidFill>
                  <a:srgbClr val="404040"/>
                </a:solidFill>
                <a:latin typeface="+mj-lt"/>
                <a:cs typeface="Times New Roman"/>
              </a:rPr>
              <a:t>Best</a:t>
            </a:r>
            <a:r>
              <a:rPr sz="1100" spc="-15" dirty="0">
                <a:solidFill>
                  <a:srgbClr val="404040"/>
                </a:solidFill>
                <a:latin typeface="+mj-lt"/>
                <a:cs typeface="Times New Roman"/>
              </a:rPr>
              <a:t> </a:t>
            </a:r>
            <a:r>
              <a:rPr sz="1100" spc="-25" dirty="0">
                <a:solidFill>
                  <a:srgbClr val="404040"/>
                </a:solidFill>
                <a:latin typeface="+mj-lt"/>
                <a:cs typeface="Times New Roman"/>
              </a:rPr>
              <a:t>Fit</a:t>
            </a:r>
            <a:endParaRPr sz="1100" dirty="0">
              <a:latin typeface="+mj-lt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34706" y="631063"/>
            <a:ext cx="57988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8855" marR="5080" indent="-98679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solidFill>
                  <a:srgbClr val="C00000"/>
                </a:solidFill>
                <a:latin typeface="+mj-lt"/>
                <a:cs typeface="Arial"/>
              </a:rPr>
              <a:t>CMS</a:t>
            </a:r>
            <a:r>
              <a:rPr sz="1600" i="1" spc="-25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Arial"/>
              </a:rPr>
              <a:t>Data</a:t>
            </a:r>
            <a:r>
              <a:rPr sz="1600" i="1" spc="-25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Arial"/>
              </a:rPr>
              <a:t>Science</a:t>
            </a:r>
            <a:r>
              <a:rPr sz="1600" i="1" spc="-50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Arial"/>
              </a:rPr>
              <a:t>offers</a:t>
            </a:r>
            <a:r>
              <a:rPr sz="1600" i="1" spc="-10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Arial"/>
              </a:rPr>
              <a:t>a</a:t>
            </a:r>
            <a:r>
              <a:rPr sz="1600" i="1" spc="-20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Arial"/>
              </a:rPr>
              <a:t>holistic</a:t>
            </a:r>
            <a:r>
              <a:rPr sz="1600" i="1" spc="-55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Arial"/>
              </a:rPr>
              <a:t>approach</a:t>
            </a:r>
            <a:r>
              <a:rPr sz="1600" i="1" spc="-35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Arial"/>
              </a:rPr>
              <a:t>that</a:t>
            </a:r>
            <a:r>
              <a:rPr sz="1600" i="1" spc="-10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Arial"/>
              </a:rPr>
              <a:t>turns</a:t>
            </a:r>
            <a:r>
              <a:rPr sz="1600" i="1" spc="-25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Arial"/>
              </a:rPr>
              <a:t>data</a:t>
            </a:r>
            <a:r>
              <a:rPr sz="1600" i="1" spc="-25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600" i="1" spc="-20" dirty="0">
                <a:solidFill>
                  <a:srgbClr val="C00000"/>
                </a:solidFill>
                <a:latin typeface="+mj-lt"/>
                <a:cs typeface="Arial"/>
              </a:rPr>
              <a:t>into </a:t>
            </a:r>
            <a:r>
              <a:rPr sz="1600" i="1" dirty="0">
                <a:solidFill>
                  <a:srgbClr val="C00000"/>
                </a:solidFill>
                <a:latin typeface="+mj-lt"/>
                <a:cs typeface="Arial"/>
              </a:rPr>
              <a:t>insight</a:t>
            </a:r>
            <a:r>
              <a:rPr sz="1600" i="1" spc="-45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Arial"/>
              </a:rPr>
              <a:t>and</a:t>
            </a:r>
            <a:r>
              <a:rPr sz="1600" i="1" spc="-35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Arial"/>
              </a:rPr>
              <a:t>insight</a:t>
            </a:r>
            <a:r>
              <a:rPr sz="1600" i="1" spc="-45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Arial"/>
              </a:rPr>
              <a:t>into</a:t>
            </a:r>
            <a:r>
              <a:rPr sz="1600" i="1" spc="-35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600" i="1" dirty="0">
                <a:solidFill>
                  <a:srgbClr val="C00000"/>
                </a:solidFill>
                <a:latin typeface="+mj-lt"/>
                <a:cs typeface="Arial"/>
              </a:rPr>
              <a:t>business</a:t>
            </a:r>
            <a:r>
              <a:rPr sz="1600" i="1" spc="-35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600" i="1" spc="-10" dirty="0">
                <a:solidFill>
                  <a:srgbClr val="C00000"/>
                </a:solidFill>
                <a:latin typeface="+mj-lt"/>
                <a:cs typeface="Arial"/>
              </a:rPr>
              <a:t>outcomes</a:t>
            </a:r>
            <a:endParaRPr sz="1600" dirty="0">
              <a:latin typeface="+mj-lt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0" y="92258"/>
            <a:ext cx="7502271" cy="39116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+mj-lt"/>
              </a:rPr>
              <a:t>  </a:t>
            </a:r>
            <a:r>
              <a:rPr sz="2400" dirty="0">
                <a:solidFill>
                  <a:schemeClr val="bg1"/>
                </a:solidFill>
                <a:latin typeface="+mj-lt"/>
              </a:rPr>
              <a:t>CMS</a:t>
            </a:r>
            <a:r>
              <a:rPr sz="2400" spc="-6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Data</a:t>
            </a:r>
            <a:r>
              <a:rPr sz="2400" spc="-6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Sciences</a:t>
            </a:r>
            <a:r>
              <a:rPr sz="2400" spc="-9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and</a:t>
            </a:r>
            <a:r>
              <a:rPr sz="2400" spc="-7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Analytics</a:t>
            </a:r>
            <a:r>
              <a:rPr sz="2400" spc="-7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25" dirty="0">
                <a:solidFill>
                  <a:schemeClr val="bg1"/>
                </a:solidFill>
                <a:latin typeface="+mj-lt"/>
              </a:rPr>
              <a:t>COE</a:t>
            </a:r>
            <a:endParaRPr sz="24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53344" y="1038255"/>
            <a:ext cx="751837" cy="726581"/>
            <a:chOff x="336804" y="1109472"/>
            <a:chExt cx="982980" cy="949960"/>
          </a:xfrm>
        </p:grpSpPr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6804" y="1109472"/>
              <a:ext cx="941832" cy="94945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5384" y="1167384"/>
              <a:ext cx="914400" cy="623315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8136513" y="2854706"/>
            <a:ext cx="691660" cy="644219"/>
            <a:chOff x="8087868" y="2907792"/>
            <a:chExt cx="901065" cy="908685"/>
          </a:xfrm>
        </p:grpSpPr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87868" y="2907792"/>
              <a:ext cx="900683" cy="90830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148828" y="3031236"/>
              <a:ext cx="813816" cy="608076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7872220" y="1082549"/>
            <a:ext cx="579667" cy="579882"/>
            <a:chOff x="7764780" y="943355"/>
            <a:chExt cx="878205" cy="887094"/>
          </a:xfrm>
        </p:grpSpPr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64780" y="943355"/>
              <a:ext cx="877824" cy="88696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04988" y="1022603"/>
              <a:ext cx="626364" cy="661415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6605355" y="3827349"/>
            <a:ext cx="678730" cy="684149"/>
            <a:chOff x="6435852" y="3828288"/>
            <a:chExt cx="954405" cy="962025"/>
          </a:xfrm>
        </p:grpSpPr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35852" y="3828288"/>
              <a:ext cx="954024" cy="96164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73012" y="3889248"/>
              <a:ext cx="798576" cy="574548"/>
            </a:xfrm>
            <a:prstGeom prst="rect">
              <a:avLst/>
            </a:prstGeom>
          </p:spPr>
        </p:pic>
      </p:grpSp>
      <p:grpSp>
        <p:nvGrpSpPr>
          <p:cNvPr id="46" name="object 46"/>
          <p:cNvGrpSpPr/>
          <p:nvPr/>
        </p:nvGrpSpPr>
        <p:grpSpPr>
          <a:xfrm>
            <a:off x="506856" y="3052571"/>
            <a:ext cx="670690" cy="632844"/>
            <a:chOff x="379475" y="3048000"/>
            <a:chExt cx="929640" cy="954405"/>
          </a:xfrm>
        </p:grpSpPr>
        <p:pic>
          <p:nvPicPr>
            <p:cNvPr id="47" name="object 4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9475" y="3063240"/>
              <a:ext cx="929640" cy="93878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1479" y="3048000"/>
              <a:ext cx="766571" cy="768096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337704" y="1760601"/>
            <a:ext cx="1186157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3175" algn="ctr">
              <a:lnSpc>
                <a:spcPct val="100000"/>
              </a:lnSpc>
              <a:spcBef>
                <a:spcPts val="105"/>
              </a:spcBef>
            </a:pPr>
            <a:r>
              <a:rPr sz="1200" b="1" dirty="0">
                <a:solidFill>
                  <a:srgbClr val="C00000"/>
                </a:solidFill>
                <a:latin typeface="+mj-lt"/>
                <a:cs typeface="Arial"/>
              </a:rPr>
              <a:t>Analyze</a:t>
            </a:r>
            <a:r>
              <a:rPr sz="1200" b="1" spc="-45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200" b="1" spc="-50" dirty="0">
                <a:solidFill>
                  <a:srgbClr val="C00000"/>
                </a:solidFill>
                <a:latin typeface="+mj-lt"/>
                <a:cs typeface="Arial"/>
              </a:rPr>
              <a:t>&amp; </a:t>
            </a:r>
            <a:r>
              <a:rPr sz="1200" b="1" spc="-10" dirty="0">
                <a:solidFill>
                  <a:srgbClr val="C00000"/>
                </a:solidFill>
                <a:latin typeface="+mj-lt"/>
                <a:cs typeface="Arial"/>
              </a:rPr>
              <a:t>Cleanse Information</a:t>
            </a:r>
            <a:r>
              <a:rPr lang="en-US" sz="1200" b="1" spc="-10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200" b="1" dirty="0">
                <a:solidFill>
                  <a:srgbClr val="C00000"/>
                </a:solidFill>
                <a:latin typeface="+mj-lt"/>
                <a:cs typeface="Arial"/>
              </a:rPr>
              <a:t>of</a:t>
            </a:r>
            <a:r>
              <a:rPr sz="1200" b="1" spc="-25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200" b="1" dirty="0">
                <a:solidFill>
                  <a:srgbClr val="C00000"/>
                </a:solidFill>
                <a:latin typeface="+mj-lt"/>
                <a:cs typeface="Arial"/>
              </a:rPr>
              <a:t>any </a:t>
            </a:r>
            <a:r>
              <a:rPr sz="1200" b="1" spc="-10" dirty="0">
                <a:solidFill>
                  <a:srgbClr val="C00000"/>
                </a:solidFill>
                <a:latin typeface="+mj-lt"/>
                <a:cs typeface="Arial"/>
              </a:rPr>
              <a:t>Variety</a:t>
            </a:r>
            <a:endParaRPr sz="1200" dirty="0">
              <a:solidFill>
                <a:srgbClr val="C00000"/>
              </a:solidFill>
              <a:latin typeface="+mj-lt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08431" y="3677600"/>
            <a:ext cx="86233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"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C00000"/>
                </a:solidFill>
                <a:latin typeface="+mj-lt"/>
                <a:cs typeface="Arial"/>
              </a:rPr>
              <a:t>Analyze Information </a:t>
            </a:r>
            <a:r>
              <a:rPr sz="1200" b="1" dirty="0">
                <a:solidFill>
                  <a:srgbClr val="C00000"/>
                </a:solidFill>
                <a:latin typeface="+mj-lt"/>
                <a:cs typeface="Arial"/>
              </a:rPr>
              <a:t>in </a:t>
            </a:r>
            <a:r>
              <a:rPr sz="1200" b="1" spc="-10" dirty="0">
                <a:solidFill>
                  <a:srgbClr val="C00000"/>
                </a:solidFill>
                <a:latin typeface="+mj-lt"/>
                <a:cs typeface="Arial"/>
              </a:rPr>
              <a:t>Motion</a:t>
            </a:r>
            <a:endParaRPr sz="1200" dirty="0">
              <a:solidFill>
                <a:srgbClr val="C00000"/>
              </a:solidFill>
              <a:latin typeface="+mj-lt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435237" y="1690155"/>
            <a:ext cx="1392935" cy="529376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-4445" algn="ctr">
              <a:lnSpc>
                <a:spcPct val="90000"/>
              </a:lnSpc>
              <a:spcBef>
                <a:spcPts val="240"/>
              </a:spcBef>
            </a:pPr>
            <a:r>
              <a:rPr sz="1200" b="1" dirty="0">
                <a:solidFill>
                  <a:srgbClr val="C00000"/>
                </a:solidFill>
                <a:latin typeface="+mj-lt"/>
                <a:cs typeface="Arial"/>
              </a:rPr>
              <a:t>Organize</a:t>
            </a:r>
            <a:r>
              <a:rPr sz="1200" b="1" spc="-45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200" b="1" spc="-50" dirty="0">
                <a:solidFill>
                  <a:srgbClr val="C00000"/>
                </a:solidFill>
                <a:latin typeface="+mj-lt"/>
                <a:cs typeface="Arial"/>
              </a:rPr>
              <a:t>&amp; </a:t>
            </a:r>
            <a:r>
              <a:rPr sz="1200" b="1" dirty="0">
                <a:solidFill>
                  <a:srgbClr val="C00000"/>
                </a:solidFill>
                <a:latin typeface="+mj-lt"/>
                <a:cs typeface="Arial"/>
              </a:rPr>
              <a:t>Model</a:t>
            </a:r>
            <a:r>
              <a:rPr sz="1200" b="1" spc="-20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200" b="1" spc="-10" dirty="0">
                <a:solidFill>
                  <a:srgbClr val="C00000"/>
                </a:solidFill>
                <a:latin typeface="+mj-lt"/>
                <a:cs typeface="Arial"/>
              </a:rPr>
              <a:t>Extreme </a:t>
            </a:r>
            <a:r>
              <a:rPr sz="1200" b="1" spc="-20" dirty="0">
                <a:solidFill>
                  <a:srgbClr val="C00000"/>
                </a:solidFill>
                <a:latin typeface="+mj-lt"/>
                <a:cs typeface="Arial"/>
              </a:rPr>
              <a:t>Volumes</a:t>
            </a:r>
            <a:r>
              <a:rPr sz="1200" b="1" spc="-15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200" b="1" spc="-25" dirty="0">
                <a:solidFill>
                  <a:srgbClr val="C00000"/>
                </a:solidFill>
                <a:latin typeface="+mj-lt"/>
                <a:cs typeface="Arial"/>
              </a:rPr>
              <a:t>of </a:t>
            </a:r>
            <a:r>
              <a:rPr sz="1200" b="1" spc="-10" dirty="0">
                <a:solidFill>
                  <a:srgbClr val="C00000"/>
                </a:solidFill>
                <a:latin typeface="+mj-lt"/>
                <a:cs typeface="Arial"/>
              </a:rPr>
              <a:t>Information</a:t>
            </a:r>
            <a:endParaRPr sz="1200" dirty="0">
              <a:solidFill>
                <a:srgbClr val="C00000"/>
              </a:solidFill>
              <a:latin typeface="+mj-lt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992237" y="3505040"/>
            <a:ext cx="946785" cy="70231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065" marR="5080" indent="4445" algn="ctr">
              <a:lnSpc>
                <a:spcPts val="1300"/>
              </a:lnSpc>
              <a:spcBef>
                <a:spcPts val="259"/>
              </a:spcBef>
            </a:pPr>
            <a:r>
              <a:rPr sz="1200" b="1" spc="-10" dirty="0">
                <a:solidFill>
                  <a:srgbClr val="C00000"/>
                </a:solidFill>
                <a:latin typeface="+mj-lt"/>
                <a:cs typeface="Arial"/>
              </a:rPr>
              <a:t>Identify </a:t>
            </a:r>
            <a:r>
              <a:rPr sz="1200" b="1" dirty="0">
                <a:solidFill>
                  <a:srgbClr val="C00000"/>
                </a:solidFill>
                <a:latin typeface="+mj-lt"/>
                <a:cs typeface="Arial"/>
              </a:rPr>
              <a:t>Patterns</a:t>
            </a:r>
            <a:r>
              <a:rPr sz="1200" b="1" spc="-40" dirty="0">
                <a:solidFill>
                  <a:srgbClr val="C00000"/>
                </a:solidFill>
                <a:latin typeface="+mj-lt"/>
                <a:cs typeface="Arial"/>
              </a:rPr>
              <a:t> </a:t>
            </a:r>
            <a:r>
              <a:rPr sz="1200" b="1" spc="-25" dirty="0">
                <a:solidFill>
                  <a:srgbClr val="C00000"/>
                </a:solidFill>
                <a:latin typeface="+mj-lt"/>
                <a:cs typeface="Arial"/>
              </a:rPr>
              <a:t>and </a:t>
            </a:r>
            <a:r>
              <a:rPr sz="1200" b="1" spc="-10" dirty="0">
                <a:solidFill>
                  <a:srgbClr val="C00000"/>
                </a:solidFill>
                <a:latin typeface="+mj-lt"/>
                <a:cs typeface="Arial"/>
              </a:rPr>
              <a:t>Discover Insights</a:t>
            </a:r>
            <a:endParaRPr sz="1200" dirty="0">
              <a:solidFill>
                <a:srgbClr val="C00000"/>
              </a:solidFill>
              <a:latin typeface="+mj-lt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291229" y="4511227"/>
            <a:ext cx="1342297" cy="363176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1270" algn="ctr">
              <a:lnSpc>
                <a:spcPct val="90100"/>
              </a:lnSpc>
              <a:spcBef>
                <a:spcPts val="240"/>
              </a:spcBef>
            </a:pPr>
            <a:r>
              <a:rPr sz="1200" b="1" spc="-10" dirty="0">
                <a:solidFill>
                  <a:srgbClr val="C00000"/>
                </a:solidFill>
                <a:latin typeface="+mj-lt"/>
                <a:cs typeface="Arial"/>
              </a:rPr>
              <a:t>Manage deployment </a:t>
            </a:r>
            <a:r>
              <a:rPr sz="1200" b="1" dirty="0">
                <a:solidFill>
                  <a:srgbClr val="C00000"/>
                </a:solidFill>
                <a:latin typeface="+mj-lt"/>
                <a:cs typeface="Arial"/>
              </a:rPr>
              <a:t>&amp; </a:t>
            </a:r>
            <a:r>
              <a:rPr sz="1200" b="1" spc="-10" dirty="0">
                <a:solidFill>
                  <a:srgbClr val="C00000"/>
                </a:solidFill>
                <a:latin typeface="+mj-lt"/>
                <a:cs typeface="Arial"/>
              </a:rPr>
              <a:t>Improve</a:t>
            </a:r>
            <a:endParaRPr sz="1200" dirty="0">
              <a:solidFill>
                <a:srgbClr val="C00000"/>
              </a:solidFill>
              <a:latin typeface="+mj-lt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9008" y="3041903"/>
            <a:ext cx="1423415" cy="376428"/>
          </a:xfrm>
          <a:prstGeom prst="rect">
            <a:avLst/>
          </a:prstGeom>
        </p:spPr>
      </p:pic>
      <p:sp>
        <p:nvSpPr>
          <p:cNvPr id="56" name="object 56"/>
          <p:cNvSpPr/>
          <p:nvPr/>
        </p:nvSpPr>
        <p:spPr>
          <a:xfrm>
            <a:off x="5455920" y="2883407"/>
            <a:ext cx="2071370" cy="596265"/>
          </a:xfrm>
          <a:custGeom>
            <a:avLst/>
            <a:gdLst/>
            <a:ahLst/>
            <a:cxnLst/>
            <a:rect l="l" t="t" r="r" b="b"/>
            <a:pathLst>
              <a:path w="2071370" h="596264">
                <a:moveTo>
                  <a:pt x="2071116" y="0"/>
                </a:moveTo>
                <a:lnTo>
                  <a:pt x="0" y="0"/>
                </a:lnTo>
                <a:lnTo>
                  <a:pt x="0" y="595883"/>
                </a:lnTo>
                <a:lnTo>
                  <a:pt x="2071116" y="595883"/>
                </a:lnTo>
                <a:lnTo>
                  <a:pt x="2071116" y="0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1" y="95279"/>
            <a:ext cx="7560665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marL="89535" algn="l">
              <a:lnSpc>
                <a:spcPct val="100000"/>
              </a:lnSpc>
              <a:spcBef>
                <a:spcPts val="95"/>
              </a:spcBef>
            </a:pPr>
            <a:r>
              <a:rPr lang="en-IN" sz="240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Client</a:t>
            </a:r>
            <a:r>
              <a:rPr sz="2400" spc="-9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Service</a:t>
            </a:r>
            <a:r>
              <a:rPr sz="2400" spc="-7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Delivery</a:t>
            </a:r>
            <a:r>
              <a:rPr sz="2400" spc="-9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Framework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3307" y="2478023"/>
            <a:ext cx="1560575" cy="37795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266443" y="2416810"/>
            <a:ext cx="3192780" cy="402590"/>
          </a:xfrm>
          <a:custGeom>
            <a:avLst/>
            <a:gdLst/>
            <a:ahLst/>
            <a:cxnLst/>
            <a:rect l="l" t="t" r="r" b="b"/>
            <a:pathLst>
              <a:path w="3192779" h="402589">
                <a:moveTo>
                  <a:pt x="3192780" y="0"/>
                </a:moveTo>
                <a:lnTo>
                  <a:pt x="0" y="0"/>
                </a:lnTo>
                <a:lnTo>
                  <a:pt x="0" y="402336"/>
                </a:lnTo>
                <a:lnTo>
                  <a:pt x="3192780" y="402336"/>
                </a:lnTo>
                <a:lnTo>
                  <a:pt x="319278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9003" y="1722119"/>
            <a:ext cx="3383279" cy="37795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260347" y="1716023"/>
            <a:ext cx="6262370" cy="291465"/>
          </a:xfrm>
          <a:custGeom>
            <a:avLst/>
            <a:gdLst/>
            <a:ahLst/>
            <a:cxnLst/>
            <a:rect l="l" t="t" r="r" b="b"/>
            <a:pathLst>
              <a:path w="6262370" h="291464">
                <a:moveTo>
                  <a:pt x="6262115" y="0"/>
                </a:moveTo>
                <a:lnTo>
                  <a:pt x="0" y="0"/>
                </a:lnTo>
                <a:lnTo>
                  <a:pt x="0" y="291083"/>
                </a:lnTo>
                <a:lnTo>
                  <a:pt x="6262115" y="291083"/>
                </a:lnTo>
                <a:lnTo>
                  <a:pt x="6262115" y="0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0347" y="1760601"/>
            <a:ext cx="625792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+mj-lt"/>
                <a:cs typeface="Calibri"/>
              </a:rPr>
              <a:t>Infrastructure</a:t>
            </a:r>
            <a:r>
              <a:rPr sz="1050" b="1" dirty="0">
                <a:latin typeface="+mj-lt"/>
                <a:cs typeface="Calibri"/>
              </a:rPr>
              <a:t> /</a:t>
            </a:r>
            <a:r>
              <a:rPr sz="1050" b="1" spc="20" dirty="0">
                <a:latin typeface="+mj-lt"/>
                <a:cs typeface="Calibri"/>
              </a:rPr>
              <a:t> </a:t>
            </a:r>
            <a:r>
              <a:rPr sz="1050" b="1" dirty="0">
                <a:latin typeface="+mj-lt"/>
                <a:cs typeface="Calibri"/>
              </a:rPr>
              <a:t>Applications </a:t>
            </a:r>
            <a:r>
              <a:rPr sz="1050" b="1" spc="-10" dirty="0">
                <a:latin typeface="+mj-lt"/>
                <a:cs typeface="Calibri"/>
              </a:rPr>
              <a:t>Monitoring </a:t>
            </a:r>
            <a:r>
              <a:rPr sz="1050" b="1" dirty="0">
                <a:latin typeface="+mj-lt"/>
                <a:cs typeface="Calibri"/>
              </a:rPr>
              <a:t>&amp;</a:t>
            </a:r>
            <a:r>
              <a:rPr sz="1050" b="1" spc="30" dirty="0">
                <a:latin typeface="+mj-lt"/>
                <a:cs typeface="Calibri"/>
              </a:rPr>
              <a:t> </a:t>
            </a:r>
            <a:r>
              <a:rPr sz="1050" b="1" spc="-10" dirty="0">
                <a:latin typeface="+mj-lt"/>
                <a:cs typeface="Calibri"/>
              </a:rPr>
              <a:t>Management</a:t>
            </a:r>
            <a:endParaRPr sz="1050">
              <a:latin typeface="+mj-lt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4708" y="3195827"/>
            <a:ext cx="845819" cy="37795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251204" y="3192779"/>
            <a:ext cx="2056130" cy="287020"/>
          </a:xfrm>
          <a:custGeom>
            <a:avLst/>
            <a:gdLst/>
            <a:ahLst/>
            <a:cxnLst/>
            <a:rect l="l" t="t" r="r" b="b"/>
            <a:pathLst>
              <a:path w="2056129" h="287020">
                <a:moveTo>
                  <a:pt x="2055876" y="0"/>
                </a:moveTo>
                <a:lnTo>
                  <a:pt x="0" y="0"/>
                </a:lnTo>
                <a:lnTo>
                  <a:pt x="0" y="286512"/>
                </a:lnTo>
                <a:lnTo>
                  <a:pt x="2055876" y="286512"/>
                </a:lnTo>
                <a:lnTo>
                  <a:pt x="2055876" y="0"/>
                </a:lnTo>
                <a:close/>
              </a:path>
            </a:pathLst>
          </a:custGeom>
          <a:solidFill>
            <a:srgbClr val="30859C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0347" y="3235198"/>
            <a:ext cx="205422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0795" algn="ctr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FFFFFF"/>
                </a:solidFill>
                <a:latin typeface="+mj-lt"/>
                <a:cs typeface="Calibri"/>
              </a:rPr>
              <a:t>Consulting</a:t>
            </a:r>
            <a:endParaRPr sz="1050">
              <a:latin typeface="+mj-lt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90188" y="3041903"/>
            <a:ext cx="1153667" cy="376428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3329940" y="2883407"/>
            <a:ext cx="2071370" cy="596265"/>
          </a:xfrm>
          <a:custGeom>
            <a:avLst/>
            <a:gdLst/>
            <a:ahLst/>
            <a:cxnLst/>
            <a:rect l="l" t="t" r="r" b="b"/>
            <a:pathLst>
              <a:path w="2071370" h="596264">
                <a:moveTo>
                  <a:pt x="2071115" y="0"/>
                </a:moveTo>
                <a:lnTo>
                  <a:pt x="0" y="0"/>
                </a:lnTo>
                <a:lnTo>
                  <a:pt x="0" y="595883"/>
                </a:lnTo>
                <a:lnTo>
                  <a:pt x="2071115" y="595883"/>
                </a:lnTo>
                <a:lnTo>
                  <a:pt x="2071115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18203" y="3080766"/>
            <a:ext cx="91186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FFFFFF"/>
                </a:solidFill>
                <a:latin typeface="+mj-lt"/>
                <a:cs typeface="Calibri"/>
              </a:rPr>
              <a:t>Implementation</a:t>
            </a:r>
            <a:endParaRPr sz="1050">
              <a:latin typeface="+mj-lt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91839" y="3651503"/>
            <a:ext cx="2196084" cy="376428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1246632" y="3564635"/>
            <a:ext cx="6288405" cy="451484"/>
          </a:xfrm>
          <a:custGeom>
            <a:avLst/>
            <a:gdLst/>
            <a:ahLst/>
            <a:cxnLst/>
            <a:rect l="l" t="t" r="r" b="b"/>
            <a:pathLst>
              <a:path w="6288405" h="451485">
                <a:moveTo>
                  <a:pt x="6288024" y="0"/>
                </a:moveTo>
                <a:lnTo>
                  <a:pt x="0" y="0"/>
                </a:lnTo>
                <a:lnTo>
                  <a:pt x="0" y="451103"/>
                </a:lnTo>
                <a:lnTo>
                  <a:pt x="6288024" y="451103"/>
                </a:lnTo>
                <a:lnTo>
                  <a:pt x="6288024" y="0"/>
                </a:lnTo>
                <a:close/>
              </a:path>
            </a:pathLst>
          </a:custGeom>
          <a:solidFill>
            <a:srgbClr val="16375E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60347" y="3689984"/>
            <a:ext cx="625792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FFFFFF"/>
                </a:solidFill>
                <a:latin typeface="+mj-lt"/>
                <a:cs typeface="Calibri"/>
              </a:rPr>
              <a:t>Requirements</a:t>
            </a:r>
            <a:r>
              <a:rPr sz="1050" b="1" spc="-2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Analysis</a:t>
            </a:r>
            <a:r>
              <a:rPr sz="1050" b="1" spc="1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&amp;</a:t>
            </a:r>
            <a:r>
              <a:rPr sz="1050" b="1" spc="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FRS /</a:t>
            </a:r>
            <a:r>
              <a:rPr sz="1050" b="1" spc="1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spc="-25" dirty="0">
                <a:solidFill>
                  <a:srgbClr val="FFFFFF"/>
                </a:solidFill>
                <a:latin typeface="+mj-lt"/>
                <a:cs typeface="Calibri"/>
              </a:rPr>
              <a:t>SRS</a:t>
            </a:r>
            <a:endParaRPr sz="1050">
              <a:latin typeface="+mj-lt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4192" y="1735836"/>
            <a:ext cx="377952" cy="1456944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674869" y="924941"/>
            <a:ext cx="486409" cy="3100070"/>
          </a:xfrm>
          <a:custGeom>
            <a:avLst/>
            <a:gdLst/>
            <a:ahLst/>
            <a:cxnLst/>
            <a:rect l="l" t="t" r="r" b="b"/>
            <a:pathLst>
              <a:path w="486409" h="3100070">
                <a:moveTo>
                  <a:pt x="486156" y="0"/>
                </a:moveTo>
                <a:lnTo>
                  <a:pt x="0" y="0"/>
                </a:lnTo>
                <a:lnTo>
                  <a:pt x="0" y="3099816"/>
                </a:lnTo>
                <a:lnTo>
                  <a:pt x="486156" y="3099816"/>
                </a:lnTo>
                <a:lnTo>
                  <a:pt x="48615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99383" y="1593596"/>
            <a:ext cx="153183" cy="1684676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sz="1400" b="1" dirty="0">
                <a:solidFill>
                  <a:srgbClr val="404040"/>
                </a:solidFill>
                <a:latin typeface="+mj-lt"/>
                <a:cs typeface="Calibri"/>
              </a:rPr>
              <a:t>PMO</a:t>
            </a:r>
            <a:r>
              <a:rPr sz="1400" b="1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+mj-lt"/>
                <a:cs typeface="Calibri"/>
              </a:rPr>
              <a:t>Led</a:t>
            </a:r>
            <a:r>
              <a:rPr sz="1400" b="1" spc="-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+mj-lt"/>
                <a:cs typeface="Calibri"/>
              </a:rPr>
              <a:t>Governance</a:t>
            </a:r>
            <a:endParaRPr sz="1400" dirty="0">
              <a:latin typeface="+mj-lt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13319" y="1773936"/>
            <a:ext cx="377951" cy="1435608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7587995" y="900684"/>
            <a:ext cx="271780" cy="3127375"/>
          </a:xfrm>
          <a:custGeom>
            <a:avLst/>
            <a:gdLst/>
            <a:ahLst/>
            <a:cxnLst/>
            <a:rect l="l" t="t" r="r" b="b"/>
            <a:pathLst>
              <a:path w="271779" h="3127375">
                <a:moveTo>
                  <a:pt x="271272" y="0"/>
                </a:moveTo>
                <a:lnTo>
                  <a:pt x="0" y="0"/>
                </a:lnTo>
                <a:lnTo>
                  <a:pt x="0" y="3127248"/>
                </a:lnTo>
                <a:lnTo>
                  <a:pt x="271272" y="3127248"/>
                </a:lnTo>
                <a:lnTo>
                  <a:pt x="271272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52160" y="1862454"/>
            <a:ext cx="141321" cy="12071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sz="1050" b="1" dirty="0">
                <a:solidFill>
                  <a:srgbClr val="404040"/>
                </a:solidFill>
                <a:latin typeface="+mj-lt"/>
                <a:cs typeface="Calibri"/>
              </a:rPr>
              <a:t>Quality</a:t>
            </a:r>
            <a:r>
              <a:rPr sz="1050" b="1" spc="-4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b="1" spc="-10" dirty="0">
                <a:solidFill>
                  <a:srgbClr val="404040"/>
                </a:solidFill>
                <a:latin typeface="+mj-lt"/>
                <a:cs typeface="Calibri"/>
              </a:rPr>
              <a:t>Management</a:t>
            </a:r>
            <a:endParaRPr sz="1050">
              <a:latin typeface="+mj-lt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30296" y="949451"/>
            <a:ext cx="2520696" cy="377951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1260347" y="915923"/>
            <a:ext cx="6262370" cy="349250"/>
          </a:xfrm>
          <a:custGeom>
            <a:avLst/>
            <a:gdLst/>
            <a:ahLst/>
            <a:cxnLst/>
            <a:rect l="l" t="t" r="r" b="b"/>
            <a:pathLst>
              <a:path w="6262370" h="349250">
                <a:moveTo>
                  <a:pt x="6262115" y="0"/>
                </a:moveTo>
                <a:lnTo>
                  <a:pt x="0" y="0"/>
                </a:lnTo>
                <a:lnTo>
                  <a:pt x="0" y="348996"/>
                </a:lnTo>
                <a:lnTo>
                  <a:pt x="6262115" y="348996"/>
                </a:lnTo>
                <a:lnTo>
                  <a:pt x="6262115" y="0"/>
                </a:lnTo>
                <a:close/>
              </a:path>
            </a:pathLst>
          </a:custGeom>
          <a:solidFill>
            <a:srgbClr val="AA281B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21283" y="963163"/>
            <a:ext cx="535381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+mj-lt"/>
                <a:cs typeface="Calibri"/>
              </a:rPr>
              <a:t>Service</a:t>
            </a:r>
            <a:r>
              <a:rPr sz="1400" b="1" spc="-3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+mj-lt"/>
                <a:cs typeface="Calibri"/>
              </a:rPr>
              <a:t>Management:</a:t>
            </a:r>
            <a:r>
              <a:rPr sz="1400" b="1" spc="-6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+mj-lt"/>
                <a:cs typeface="Calibri"/>
              </a:rPr>
              <a:t>DevOps,</a:t>
            </a:r>
            <a:r>
              <a:rPr sz="1400" b="1" spc="-1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+mj-lt"/>
                <a:cs typeface="Calibri"/>
              </a:rPr>
              <a:t>ITSM,</a:t>
            </a:r>
            <a:r>
              <a:rPr sz="1400" b="1" spc="-3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+mj-lt"/>
                <a:cs typeface="Calibri"/>
              </a:rPr>
              <a:t>ISO</a:t>
            </a:r>
            <a:endParaRPr sz="1400" dirty="0">
              <a:latin typeface="+mj-lt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60347" y="1325771"/>
            <a:ext cx="2021205" cy="30698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wrap="square" lIns="0" tIns="72000" rIns="0" bIns="72000" rtlCol="0" anchor="ctr">
            <a:spAutoFit/>
          </a:bodyPr>
          <a:lstStyle/>
          <a:p>
            <a:pPr marL="332105">
              <a:lnSpc>
                <a:spcPct val="100000"/>
              </a:lnSpc>
              <a:spcBef>
                <a:spcPts val="610"/>
              </a:spcBef>
            </a:pPr>
            <a:r>
              <a:rPr sz="1050" b="1" spc="-10" dirty="0">
                <a:solidFill>
                  <a:srgbClr val="FFFFFF"/>
                </a:solidFill>
                <a:latin typeface="+mj-lt"/>
                <a:cs typeface="Calibri"/>
              </a:rPr>
              <a:t>Centralized</a:t>
            </a:r>
            <a:r>
              <a:rPr sz="1050" b="1" spc="-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Service</a:t>
            </a:r>
            <a:r>
              <a:rPr sz="1050" b="1" spc="1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spc="-20" dirty="0">
                <a:solidFill>
                  <a:srgbClr val="FFFFFF"/>
                </a:solidFill>
                <a:latin typeface="+mj-lt"/>
                <a:cs typeface="Calibri"/>
              </a:rPr>
              <a:t>Desk</a:t>
            </a:r>
            <a:endParaRPr sz="1050">
              <a:latin typeface="+mj-lt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365372" y="1330259"/>
            <a:ext cx="2028825" cy="30698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wrap="square" lIns="0" tIns="72000" rIns="0" bIns="72000" rtlCol="0" anchor="ctr">
            <a:spAutoFit/>
          </a:bodyPr>
          <a:lstStyle/>
          <a:p>
            <a:pPr marL="228600">
              <a:lnSpc>
                <a:spcPct val="100000"/>
              </a:lnSpc>
              <a:spcBef>
                <a:spcPts val="680"/>
              </a:spcBef>
            </a:pP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Asset</a:t>
            </a:r>
            <a:r>
              <a:rPr sz="1050" b="1" spc="-2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Lifecycle</a:t>
            </a:r>
            <a:r>
              <a:rPr sz="1050" b="1" spc="-4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+mj-lt"/>
                <a:cs typeface="Calibri"/>
              </a:rPr>
              <a:t>Management</a:t>
            </a:r>
            <a:endParaRPr sz="1050">
              <a:latin typeface="+mj-lt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477636" y="1325771"/>
            <a:ext cx="2040255" cy="30698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wrap="square" lIns="0" tIns="72000" rIns="0" bIns="72000" rtlCol="0" anchor="ctr">
            <a:spAutoFit/>
          </a:bodyPr>
          <a:lstStyle/>
          <a:p>
            <a:pPr marL="433070">
              <a:lnSpc>
                <a:spcPct val="100000"/>
              </a:lnSpc>
              <a:spcBef>
                <a:spcPts val="610"/>
              </a:spcBef>
            </a:pP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Vendor</a:t>
            </a:r>
            <a:r>
              <a:rPr sz="1050" b="1" spc="-4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+mj-lt"/>
                <a:cs typeface="Calibri"/>
              </a:rPr>
              <a:t>Management</a:t>
            </a:r>
            <a:endParaRPr sz="1050">
              <a:latin typeface="+mj-lt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907913" y="3080766"/>
            <a:ext cx="117983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Roll</a:t>
            </a:r>
            <a:r>
              <a:rPr sz="1050" b="1" spc="-2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Out</a:t>
            </a:r>
            <a:r>
              <a:rPr sz="1050" b="1" spc="-1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/</a:t>
            </a:r>
            <a:r>
              <a:rPr sz="1050" b="1" spc="-10" dirty="0">
                <a:solidFill>
                  <a:srgbClr val="FFFFFF"/>
                </a:solidFill>
                <a:latin typeface="+mj-lt"/>
                <a:cs typeface="Calibri"/>
              </a:rPr>
              <a:t> Harvesting</a:t>
            </a:r>
            <a:endParaRPr sz="1050">
              <a:latin typeface="+mj-lt"/>
              <a:cs typeface="Calibri"/>
            </a:endParaRPr>
          </a:p>
        </p:txBody>
      </p:sp>
      <p:pic>
        <p:nvPicPr>
          <p:cNvPr id="60" name="object 6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882128" y="1124712"/>
            <a:ext cx="377951" cy="2732532"/>
          </a:xfrm>
          <a:prstGeom prst="rect">
            <a:avLst/>
          </a:prstGeom>
        </p:spPr>
      </p:pic>
      <p:sp>
        <p:nvSpPr>
          <p:cNvPr id="61" name="object 61"/>
          <p:cNvSpPr/>
          <p:nvPr/>
        </p:nvSpPr>
        <p:spPr>
          <a:xfrm>
            <a:off x="7940040" y="900684"/>
            <a:ext cx="304800" cy="3127375"/>
          </a:xfrm>
          <a:custGeom>
            <a:avLst/>
            <a:gdLst/>
            <a:ahLst/>
            <a:cxnLst/>
            <a:rect l="l" t="t" r="r" b="b"/>
            <a:pathLst>
              <a:path w="304800" h="3127375">
                <a:moveTo>
                  <a:pt x="304800" y="0"/>
                </a:moveTo>
                <a:lnTo>
                  <a:pt x="0" y="0"/>
                </a:lnTo>
                <a:lnTo>
                  <a:pt x="0" y="3127248"/>
                </a:lnTo>
                <a:lnTo>
                  <a:pt x="304800" y="3127248"/>
                </a:lnTo>
                <a:lnTo>
                  <a:pt x="30480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020715" y="1213230"/>
            <a:ext cx="141321" cy="250126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sz="1050" b="1" dirty="0">
                <a:solidFill>
                  <a:srgbClr val="404040"/>
                </a:solidFill>
                <a:latin typeface="+mj-lt"/>
                <a:cs typeface="Calibri"/>
              </a:rPr>
              <a:t>Information</a:t>
            </a:r>
            <a:r>
              <a:rPr sz="1050" b="1" spc="-5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b="1" dirty="0">
                <a:solidFill>
                  <a:srgbClr val="404040"/>
                </a:solidFill>
                <a:latin typeface="+mj-lt"/>
                <a:cs typeface="Calibri"/>
              </a:rPr>
              <a:t>Security</a:t>
            </a:r>
            <a:r>
              <a:rPr sz="1050" b="1" spc="-3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b="1" dirty="0">
                <a:solidFill>
                  <a:srgbClr val="404040"/>
                </a:solidFill>
                <a:latin typeface="+mj-lt"/>
                <a:cs typeface="Calibri"/>
              </a:rPr>
              <a:t>Controls</a:t>
            </a:r>
            <a:r>
              <a:rPr sz="1050" b="1" spc="-4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b="1" dirty="0">
                <a:solidFill>
                  <a:srgbClr val="404040"/>
                </a:solidFill>
                <a:latin typeface="+mj-lt"/>
                <a:cs typeface="Calibri"/>
              </a:rPr>
              <a:t>&amp;</a:t>
            </a:r>
            <a:r>
              <a:rPr sz="1050" b="1" spc="-2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050" b="1" spc="-10" dirty="0">
                <a:solidFill>
                  <a:srgbClr val="404040"/>
                </a:solidFill>
                <a:latin typeface="+mj-lt"/>
                <a:cs typeface="Calibri"/>
              </a:rPr>
              <a:t>remediation</a:t>
            </a:r>
            <a:endParaRPr sz="1050">
              <a:latin typeface="+mj-lt"/>
              <a:cs typeface="Calibri"/>
            </a:endParaRPr>
          </a:p>
        </p:txBody>
      </p:sp>
      <p:pic>
        <p:nvPicPr>
          <p:cNvPr id="65" name="object 6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330952" y="2474976"/>
            <a:ext cx="1399031" cy="377951"/>
          </a:xfrm>
          <a:prstGeom prst="rect">
            <a:avLst/>
          </a:prstGeom>
        </p:spPr>
      </p:pic>
      <p:sp>
        <p:nvSpPr>
          <p:cNvPr id="66" name="object 66"/>
          <p:cNvSpPr/>
          <p:nvPr/>
        </p:nvSpPr>
        <p:spPr>
          <a:xfrm>
            <a:off x="4508371" y="2409191"/>
            <a:ext cx="3005455" cy="410209"/>
          </a:xfrm>
          <a:custGeom>
            <a:avLst/>
            <a:gdLst/>
            <a:ahLst/>
            <a:cxnLst/>
            <a:rect l="l" t="t" r="r" b="b"/>
            <a:pathLst>
              <a:path w="3005454" h="410210">
                <a:moveTo>
                  <a:pt x="3005328" y="0"/>
                </a:moveTo>
                <a:lnTo>
                  <a:pt x="0" y="0"/>
                </a:lnTo>
                <a:lnTo>
                  <a:pt x="0" y="409956"/>
                </a:lnTo>
                <a:lnTo>
                  <a:pt x="3005328" y="409956"/>
                </a:lnTo>
                <a:lnTo>
                  <a:pt x="3005328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211070" y="2517394"/>
            <a:ext cx="440309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248025" algn="l"/>
              </a:tabLst>
            </a:pP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IT</a:t>
            </a:r>
            <a:r>
              <a:rPr sz="1050" b="1" spc="-2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&amp;</a:t>
            </a:r>
            <a:r>
              <a:rPr sz="1050" b="1" spc="-1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IoT</a:t>
            </a:r>
            <a:r>
              <a:rPr sz="1050" b="1" spc="-1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Device</a:t>
            </a:r>
            <a:r>
              <a:rPr sz="1050" b="1" spc="-2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+mj-lt"/>
                <a:cs typeface="Calibri"/>
              </a:rPr>
              <a:t>Support</a:t>
            </a: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	</a:t>
            </a:r>
            <a:r>
              <a:rPr sz="1575" b="1" baseline="2645" dirty="0">
                <a:solidFill>
                  <a:srgbClr val="FFFFFF"/>
                </a:solidFill>
                <a:latin typeface="+mj-lt"/>
                <a:cs typeface="Calibri"/>
              </a:rPr>
              <a:t>Spares</a:t>
            </a:r>
            <a:r>
              <a:rPr sz="1575" b="1" spc="-60" baseline="264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575" b="1" spc="-15" baseline="2645" dirty="0">
                <a:solidFill>
                  <a:srgbClr val="FFFFFF"/>
                </a:solidFill>
                <a:latin typeface="+mj-lt"/>
                <a:cs typeface="Calibri"/>
              </a:rPr>
              <a:t>Management</a:t>
            </a:r>
            <a:endParaRPr sz="1575" baseline="2645" dirty="0">
              <a:latin typeface="+mj-lt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260347" y="2883407"/>
            <a:ext cx="2054225" cy="218008"/>
          </a:xfrm>
          <a:prstGeom prst="rect">
            <a:avLst/>
          </a:prstGeom>
          <a:solidFill>
            <a:srgbClr val="30859C"/>
          </a:solidFill>
        </p:spPr>
        <p:txBody>
          <a:bodyPr vert="horz" wrap="square" lIns="0" tIns="558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40"/>
              </a:spcBef>
            </a:pP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LLD</a:t>
            </a:r>
            <a:r>
              <a:rPr sz="1050" b="1" spc="-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dirty="0">
                <a:solidFill>
                  <a:srgbClr val="FFFFFF"/>
                </a:solidFill>
                <a:latin typeface="+mj-lt"/>
                <a:cs typeface="Calibri"/>
              </a:rPr>
              <a:t>/</a:t>
            </a:r>
            <a:r>
              <a:rPr sz="1050" b="1" spc="-2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050" b="1" spc="-25" dirty="0">
                <a:solidFill>
                  <a:srgbClr val="FFFFFF"/>
                </a:solidFill>
                <a:latin typeface="+mj-lt"/>
                <a:cs typeface="Calibri"/>
              </a:rPr>
              <a:t>HLD</a:t>
            </a:r>
            <a:endParaRPr sz="1050">
              <a:latin typeface="+mj-lt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260347" y="2058923"/>
            <a:ext cx="6257925" cy="306989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72000" rIns="0" bIns="72000" rtlCol="0">
            <a:spAutoFit/>
          </a:bodyPr>
          <a:lstStyle/>
          <a:p>
            <a:pPr marR="12700" algn="ctr">
              <a:lnSpc>
                <a:spcPct val="100000"/>
              </a:lnSpc>
              <a:spcBef>
                <a:spcPts val="459"/>
              </a:spcBef>
            </a:pPr>
            <a:r>
              <a:rPr sz="1050" b="1" dirty="0">
                <a:latin typeface="+mj-lt"/>
                <a:cs typeface="Calibri"/>
              </a:rPr>
              <a:t>Software</a:t>
            </a:r>
            <a:r>
              <a:rPr sz="1050" b="1" spc="-45" dirty="0">
                <a:latin typeface="+mj-lt"/>
                <a:cs typeface="Calibri"/>
              </a:rPr>
              <a:t> </a:t>
            </a:r>
            <a:r>
              <a:rPr sz="1050" b="1" dirty="0">
                <a:latin typeface="+mj-lt"/>
                <a:cs typeface="Calibri"/>
              </a:rPr>
              <a:t>Support</a:t>
            </a:r>
            <a:r>
              <a:rPr sz="1050" b="1" spc="-35" dirty="0">
                <a:latin typeface="+mj-lt"/>
                <a:cs typeface="Calibri"/>
              </a:rPr>
              <a:t> </a:t>
            </a:r>
            <a:r>
              <a:rPr sz="1050" b="1" dirty="0">
                <a:latin typeface="+mj-lt"/>
                <a:cs typeface="Calibri"/>
              </a:rPr>
              <a:t>&amp;</a:t>
            </a:r>
            <a:r>
              <a:rPr sz="1050" b="1" spc="-15" dirty="0">
                <a:latin typeface="+mj-lt"/>
                <a:cs typeface="Calibri"/>
              </a:rPr>
              <a:t> </a:t>
            </a:r>
            <a:r>
              <a:rPr sz="1050" b="1" spc="-10" dirty="0">
                <a:latin typeface="+mj-lt"/>
                <a:cs typeface="Calibri"/>
              </a:rPr>
              <a:t>Extensions</a:t>
            </a:r>
            <a:endParaRPr sz="1050" dirty="0">
              <a:latin typeface="+mj-lt"/>
              <a:cs typeface="Calibri"/>
            </a:endParaRPr>
          </a:p>
        </p:txBody>
      </p:sp>
      <p:pic>
        <p:nvPicPr>
          <p:cNvPr id="76" name="object 7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14601" y="4217588"/>
            <a:ext cx="3567682" cy="631482"/>
          </a:xfrm>
          <a:prstGeom prst="rect">
            <a:avLst/>
          </a:prstGeom>
        </p:spPr>
      </p:pic>
      <p:sp>
        <p:nvSpPr>
          <p:cNvPr id="78" name="object 78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9820" y="3943350"/>
            <a:ext cx="587375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We</a:t>
            </a:r>
            <a:r>
              <a:rPr sz="1350" b="1" spc="-45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follow</a:t>
            </a:r>
            <a:r>
              <a:rPr sz="1350" b="1" spc="-40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ITIL</a:t>
            </a:r>
            <a:r>
              <a:rPr sz="1350" b="1" spc="-70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Processes</a:t>
            </a:r>
            <a:r>
              <a:rPr sz="1350" b="1" spc="-45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and</a:t>
            </a:r>
            <a:r>
              <a:rPr sz="1350" b="1" spc="-25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Best</a:t>
            </a:r>
            <a:r>
              <a:rPr sz="1350" b="1" spc="-40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Practices</a:t>
            </a:r>
            <a:r>
              <a:rPr sz="1350" b="1" spc="-45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using</a:t>
            </a:r>
            <a:r>
              <a:rPr sz="1350" b="1" spc="-50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Industry</a:t>
            </a:r>
            <a:r>
              <a:rPr sz="1350" b="1" spc="-40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Standard</a:t>
            </a:r>
            <a:r>
              <a:rPr sz="1350" b="1" spc="-30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spc="-20" dirty="0">
                <a:solidFill>
                  <a:srgbClr val="CC0000"/>
                </a:solidFill>
                <a:latin typeface="+mj-lt"/>
                <a:cs typeface="Trebuchet MS"/>
              </a:rPr>
              <a:t>ITSM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tools</a:t>
            </a:r>
            <a:r>
              <a:rPr sz="1350" b="1" spc="5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to</a:t>
            </a:r>
            <a:r>
              <a:rPr sz="1350" b="1" spc="-10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provide</a:t>
            </a:r>
            <a:r>
              <a:rPr sz="1350" b="1" spc="-15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Service</a:t>
            </a:r>
            <a:r>
              <a:rPr sz="1350" b="1" spc="-30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Desk and</a:t>
            </a:r>
            <a:r>
              <a:rPr sz="1350" b="1" spc="10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Service</a:t>
            </a:r>
            <a:r>
              <a:rPr sz="1350" b="1" spc="-25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dirty="0">
                <a:solidFill>
                  <a:srgbClr val="CC0000"/>
                </a:solidFill>
                <a:latin typeface="+mj-lt"/>
                <a:cs typeface="Trebuchet MS"/>
              </a:rPr>
              <a:t>Management</a:t>
            </a:r>
            <a:r>
              <a:rPr sz="1350" b="1" spc="-15" dirty="0">
                <a:solidFill>
                  <a:srgbClr val="CC0000"/>
                </a:solidFill>
                <a:latin typeface="+mj-lt"/>
                <a:cs typeface="Trebuchet MS"/>
              </a:rPr>
              <a:t> </a:t>
            </a:r>
            <a:r>
              <a:rPr sz="1350" b="1" spc="-10" dirty="0">
                <a:solidFill>
                  <a:srgbClr val="CC0000"/>
                </a:solidFill>
                <a:latin typeface="+mj-lt"/>
                <a:cs typeface="Trebuchet MS"/>
              </a:rPr>
              <a:t>services</a:t>
            </a:r>
            <a:endParaRPr sz="1350">
              <a:latin typeface="+mj-lt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416" y="563102"/>
            <a:ext cx="6766559" cy="4114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58567"/>
            <a:ext cx="754380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marL="248285" algn="l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solidFill>
                  <a:schemeClr val="bg1"/>
                </a:solidFill>
                <a:latin typeface="+mj-lt"/>
              </a:rPr>
              <a:t>Client</a:t>
            </a:r>
            <a:r>
              <a:rPr sz="2400" spc="-5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Services</a:t>
            </a:r>
            <a:r>
              <a:rPr sz="2400" spc="-4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:</a:t>
            </a:r>
            <a:r>
              <a:rPr sz="2400" spc="-65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Adherence</a:t>
            </a:r>
            <a:r>
              <a:rPr sz="2400" spc="-4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dirty="0">
                <a:solidFill>
                  <a:schemeClr val="bg1"/>
                </a:solidFill>
                <a:latin typeface="+mj-lt"/>
              </a:rPr>
              <a:t>to</a:t>
            </a:r>
            <a:r>
              <a:rPr sz="2400" spc="-7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Standards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19975" y="1428750"/>
            <a:ext cx="1991868" cy="196900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BDAF1C37-2223-074D-91C7-2D7339F4EBB2}"/>
              </a:ext>
            </a:extLst>
          </p:cNvPr>
          <p:cNvGrpSpPr/>
          <p:nvPr/>
        </p:nvGrpSpPr>
        <p:grpSpPr>
          <a:xfrm>
            <a:off x="0" y="1167958"/>
            <a:ext cx="2689860" cy="3554095"/>
            <a:chOff x="0" y="1211580"/>
            <a:chExt cx="2689860" cy="355409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BC1E79A7-F25A-16CB-09E9-0DD4798EDEB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11580"/>
              <a:ext cx="2578607" cy="3553967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713EB167-E43B-2A63-CBB2-A80EA94DB75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5963" y="1335024"/>
              <a:ext cx="620268" cy="641603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F53C7718-9D2B-2E7E-783C-B6A9CED16C0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4895" y="1879092"/>
              <a:ext cx="621792" cy="640079"/>
            </a:xfrm>
            <a:prstGeom prst="rect">
              <a:avLst/>
            </a:prstGeom>
          </p:spPr>
        </p:pic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29812F6F-DCE1-FEBE-DFFB-CA9B0545EBE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4164" y="2607563"/>
              <a:ext cx="615695" cy="640080"/>
            </a:xfrm>
            <a:prstGeom prst="rect">
              <a:avLst/>
            </a:prstGeom>
          </p:spPr>
        </p:pic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A8611854-B031-1BAF-02F8-9C283C7ABD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95804" y="1321531"/>
            <a:ext cx="6983095" cy="1890261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260"/>
              </a:spcBef>
            </a:pPr>
            <a:r>
              <a:rPr dirty="0">
                <a:latin typeface="+mj-lt"/>
              </a:rPr>
              <a:t>Vast Experienceof over45+yearsof Project Management, currently running100+liveprojectsacrossthecountry. ExtensiveExperiencein eGovernance, Traffic, Smart CityandEnergy withover500+client engagements.</a:t>
            </a: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dirty="0">
              <a:latin typeface="+mj-lt"/>
            </a:endParaRPr>
          </a:p>
          <a:p>
            <a:pPr marL="497205" marR="17145">
              <a:lnSpc>
                <a:spcPts val="1300"/>
              </a:lnSpc>
            </a:pPr>
            <a:r>
              <a:rPr dirty="0">
                <a:latin typeface="+mj-lt"/>
              </a:rPr>
              <a:t>Deep Operationsexperience running several government programsover 25+years. Ground level experience runningSmart City, City Surveillance, Energy management projects, deliveringCitizenServicesandDigital transformations..</a:t>
            </a: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dirty="0">
              <a:latin typeface="+mj-lt"/>
            </a:endParaRPr>
          </a:p>
          <a:p>
            <a:pPr marL="682625" marR="84455">
              <a:lnSpc>
                <a:spcPts val="1300"/>
              </a:lnSpc>
            </a:pPr>
            <a:r>
              <a:rPr dirty="0">
                <a:latin typeface="+mj-lt"/>
              </a:rPr>
              <a:t>Expertise combining Hardware, Firmware, Software, Middleware integrating IT &amp; IoT technologiesacrossindustry domains. Internal Product development andownIPensuresflexibilityinmeetinguserrequirements.</a:t>
            </a:r>
          </a:p>
        </p:txBody>
      </p:sp>
      <p:grpSp>
        <p:nvGrpSpPr>
          <p:cNvPr id="11" name="object 10">
            <a:extLst>
              <a:ext uri="{FF2B5EF4-FFF2-40B4-BE49-F238E27FC236}">
                <a16:creationId xmlns:a16="http://schemas.microsoft.com/office/drawing/2014/main" id="{1DA82156-FCB3-0F97-E7FF-99845D4C5A7B}"/>
              </a:ext>
            </a:extLst>
          </p:cNvPr>
          <p:cNvGrpSpPr/>
          <p:nvPr/>
        </p:nvGrpSpPr>
        <p:grpSpPr>
          <a:xfrm>
            <a:off x="1174812" y="3404034"/>
            <a:ext cx="1320165" cy="1289685"/>
            <a:chOff x="1165860" y="3461003"/>
            <a:chExt cx="1320165" cy="1289685"/>
          </a:xfrm>
        </p:grpSpPr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FFD83481-3780-A20B-B904-BFF19CB4EC1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65376" y="3461003"/>
              <a:ext cx="620268" cy="641604"/>
            </a:xfrm>
            <a:prstGeom prst="rect">
              <a:avLst/>
            </a:prstGeom>
          </p:spPr>
        </p:pic>
        <p:pic>
          <p:nvPicPr>
            <p:cNvPr id="13" name="object 12">
              <a:extLst>
                <a:ext uri="{FF2B5EF4-FFF2-40B4-BE49-F238E27FC236}">
                  <a16:creationId xmlns:a16="http://schemas.microsoft.com/office/drawing/2014/main" id="{50F6A622-6B02-96AC-3B9C-83F9CB5B8C1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860" y="4110227"/>
              <a:ext cx="620267" cy="640080"/>
            </a:xfrm>
            <a:prstGeom prst="rect">
              <a:avLst/>
            </a:prstGeom>
          </p:spPr>
        </p:pic>
      </p:grpSp>
      <p:sp>
        <p:nvSpPr>
          <p:cNvPr id="14" name="object 13">
            <a:extLst>
              <a:ext uri="{FF2B5EF4-FFF2-40B4-BE49-F238E27FC236}">
                <a16:creationId xmlns:a16="http://schemas.microsoft.com/office/drawing/2014/main" id="{2C8D7BB8-B053-70B8-8FF0-46EB81322D55}"/>
              </a:ext>
            </a:extLst>
          </p:cNvPr>
          <p:cNvSpPr txBox="1"/>
          <p:nvPr/>
        </p:nvSpPr>
        <p:spPr>
          <a:xfrm>
            <a:off x="2175510" y="3461003"/>
            <a:ext cx="6640271" cy="123623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450215" marR="5080">
              <a:lnSpc>
                <a:spcPts val="1300"/>
              </a:lnSpc>
              <a:spcBef>
                <a:spcPts val="259"/>
              </a:spcBef>
            </a:pPr>
            <a:r>
              <a:rPr sz="1200" dirty="0">
                <a:latin typeface="+mj-lt"/>
                <a:cs typeface="Arial"/>
              </a:rPr>
              <a:t>Avendor-neutral, collaborative approach toproject management bringing best practicesacross Implementation, Integration &amp; Customizationdeliveringbusinessvaluehasensuredsuccessacrossprojectsundertaken.</a:t>
            </a:r>
          </a:p>
          <a:p>
            <a:pPr>
              <a:lnSpc>
                <a:spcPct val="100000"/>
              </a:lnSpc>
            </a:pPr>
            <a:endParaRPr sz="1200" dirty="0">
              <a:latin typeface="+mj-lt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 dirty="0">
              <a:latin typeface="+mj-lt"/>
              <a:cs typeface="Arial"/>
            </a:endParaRPr>
          </a:p>
          <a:p>
            <a:pPr marL="12700" marR="19050">
              <a:lnSpc>
                <a:spcPts val="1300"/>
              </a:lnSpc>
            </a:pPr>
            <a:r>
              <a:rPr sz="1200" dirty="0">
                <a:latin typeface="+mj-lt"/>
                <a:cs typeface="Arial"/>
              </a:rPr>
              <a:t>MultipleLongtermdrivers, strongannuity basedvisibility andcontinuoustrack recordof profitability ensuresproject executionwithout frequent disruption.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F871FB7-4B3F-8029-A72B-8982978857DF}"/>
              </a:ext>
            </a:extLst>
          </p:cNvPr>
          <p:cNvSpPr txBox="1"/>
          <p:nvPr/>
        </p:nvSpPr>
        <p:spPr>
          <a:xfrm>
            <a:off x="221691" y="634567"/>
            <a:ext cx="859409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+mj-lt"/>
                <a:cs typeface="Calibri"/>
              </a:rPr>
              <a:t>The</a:t>
            </a:r>
            <a:r>
              <a:rPr sz="1600" b="1" spc="-15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combined</a:t>
            </a:r>
            <a:r>
              <a:rPr sz="1600" b="1" spc="-20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experience</a:t>
            </a:r>
            <a:r>
              <a:rPr sz="1600" b="1" spc="-30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of</a:t>
            </a:r>
            <a:r>
              <a:rPr sz="1600" b="1" spc="-5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multiple</a:t>
            </a:r>
            <a:r>
              <a:rPr sz="1600" b="1" spc="-15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engagements</a:t>
            </a:r>
            <a:r>
              <a:rPr sz="1600" b="1" spc="-45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in</a:t>
            </a:r>
            <a:r>
              <a:rPr sz="1600" b="1" spc="-5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chosen</a:t>
            </a:r>
            <a:r>
              <a:rPr sz="1600" b="1" spc="-15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domains</a:t>
            </a:r>
            <a:r>
              <a:rPr sz="1600" b="1" spc="-20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plus</a:t>
            </a:r>
            <a:r>
              <a:rPr sz="1600" b="1" spc="-35" dirty="0"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Deep</a:t>
            </a:r>
            <a:r>
              <a:rPr sz="1600" b="1" spc="-30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expertise</a:t>
            </a:r>
            <a:endParaRPr sz="1600" dirty="0">
              <a:latin typeface="+mj-lt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sz="1600" b="1" dirty="0">
                <a:latin typeface="+mj-lt"/>
                <a:cs typeface="Calibri"/>
              </a:rPr>
              <a:t>in</a:t>
            </a:r>
            <a:r>
              <a:rPr sz="1600" b="1" spc="-35" dirty="0">
                <a:latin typeface="+mj-lt"/>
                <a:cs typeface="Calibri"/>
              </a:rPr>
              <a:t> </a:t>
            </a:r>
            <a:r>
              <a:rPr sz="1600" b="1" spc="-10" dirty="0">
                <a:solidFill>
                  <a:srgbClr val="008000"/>
                </a:solidFill>
                <a:latin typeface="+mj-lt"/>
                <a:cs typeface="Calibri"/>
              </a:rPr>
              <a:t>Operations,</a:t>
            </a:r>
            <a:r>
              <a:rPr sz="1600" b="1" spc="-55" dirty="0">
                <a:solidFill>
                  <a:srgbClr val="008000"/>
                </a:solidFill>
                <a:latin typeface="+mj-lt"/>
                <a:cs typeface="Calibri"/>
              </a:rPr>
              <a:t> </a:t>
            </a:r>
            <a:r>
              <a:rPr sz="1600" b="1" spc="-40" dirty="0">
                <a:solidFill>
                  <a:srgbClr val="008000"/>
                </a:solidFill>
                <a:latin typeface="+mj-lt"/>
                <a:cs typeface="Calibri"/>
              </a:rPr>
              <a:t>IT,</a:t>
            </a:r>
            <a:r>
              <a:rPr sz="1600" b="1" spc="-10" dirty="0">
                <a:solidFill>
                  <a:srgbClr val="008000"/>
                </a:solidFill>
                <a:latin typeface="+mj-lt"/>
                <a:cs typeface="Calibri"/>
              </a:rPr>
              <a:t> </a:t>
            </a:r>
            <a:r>
              <a:rPr sz="1600" b="1" spc="-40" dirty="0">
                <a:solidFill>
                  <a:srgbClr val="008000"/>
                </a:solidFill>
                <a:latin typeface="+mj-lt"/>
                <a:cs typeface="Calibri"/>
              </a:rPr>
              <a:t>IoT, </a:t>
            </a:r>
            <a:r>
              <a:rPr sz="1600" b="1" dirty="0">
                <a:solidFill>
                  <a:srgbClr val="008000"/>
                </a:solidFill>
                <a:latin typeface="+mj-lt"/>
                <a:cs typeface="Calibri"/>
              </a:rPr>
              <a:t>Software</a:t>
            </a:r>
            <a:r>
              <a:rPr sz="1600" b="1" spc="-25" dirty="0">
                <a:solidFill>
                  <a:srgbClr val="008000"/>
                </a:solidFill>
                <a:latin typeface="+mj-lt"/>
                <a:cs typeface="Calibri"/>
              </a:rPr>
              <a:t> </a:t>
            </a:r>
            <a:r>
              <a:rPr sz="1600" b="1" dirty="0">
                <a:solidFill>
                  <a:srgbClr val="008000"/>
                </a:solidFill>
                <a:latin typeface="+mj-lt"/>
                <a:cs typeface="Calibri"/>
              </a:rPr>
              <a:t>and</a:t>
            </a:r>
            <a:r>
              <a:rPr sz="1600" b="1" spc="-30" dirty="0">
                <a:solidFill>
                  <a:srgbClr val="008000"/>
                </a:solidFill>
                <a:latin typeface="+mj-lt"/>
                <a:cs typeface="Calibri"/>
              </a:rPr>
              <a:t> </a:t>
            </a:r>
            <a:r>
              <a:rPr sz="1600" b="1" dirty="0">
                <a:solidFill>
                  <a:srgbClr val="008000"/>
                </a:solidFill>
                <a:latin typeface="+mj-lt"/>
                <a:cs typeface="Calibri"/>
              </a:rPr>
              <a:t>Digital</a:t>
            </a:r>
            <a:r>
              <a:rPr sz="1600" b="1" spc="-45" dirty="0">
                <a:solidFill>
                  <a:srgbClr val="008000"/>
                </a:solidFill>
                <a:latin typeface="+mj-lt"/>
                <a:cs typeface="Calibri"/>
              </a:rPr>
              <a:t> </a:t>
            </a:r>
            <a:r>
              <a:rPr sz="1600" b="1" spc="-20" dirty="0">
                <a:solidFill>
                  <a:srgbClr val="008000"/>
                </a:solidFill>
                <a:latin typeface="+mj-lt"/>
                <a:cs typeface="Calibri"/>
              </a:rPr>
              <a:t>Technologies</a:t>
            </a:r>
            <a:r>
              <a:rPr sz="1600" b="1" spc="-50" dirty="0">
                <a:solidFill>
                  <a:srgbClr val="008000"/>
                </a:solidFill>
                <a:latin typeface="+mj-lt"/>
                <a:cs typeface="Calibri"/>
              </a:rPr>
              <a:t> </a:t>
            </a:r>
            <a:r>
              <a:rPr sz="1600" b="1" dirty="0">
                <a:latin typeface="+mj-lt"/>
                <a:cs typeface="Calibri"/>
              </a:rPr>
              <a:t>delivers</a:t>
            </a:r>
            <a:r>
              <a:rPr sz="1600" b="1" spc="-55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differentiated</a:t>
            </a:r>
            <a:r>
              <a:rPr sz="1600" b="1" spc="-60" dirty="0">
                <a:latin typeface="+mj-lt"/>
                <a:cs typeface="Calibri"/>
              </a:rPr>
              <a:t> </a:t>
            </a:r>
            <a:r>
              <a:rPr sz="1600" b="1" spc="-10" dirty="0">
                <a:latin typeface="+mj-lt"/>
                <a:cs typeface="Calibri"/>
              </a:rPr>
              <a:t>value.</a:t>
            </a:r>
            <a:endParaRPr sz="1600" dirty="0">
              <a:latin typeface="+mj-lt"/>
              <a:cs typeface="Calibri"/>
            </a:endParaRPr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B2F0EFE9-0635-A438-087E-2A6E7125778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21691" y="4877734"/>
            <a:ext cx="3352800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+mj-lt"/>
              </a:rPr>
              <a:t>Copyright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©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2024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CMS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Computers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India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Private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Ltd.</a:t>
            </a:r>
            <a:r>
              <a:rPr spc="-10" dirty="0">
                <a:latin typeface="+mj-lt"/>
              </a:rPr>
              <a:t> </a:t>
            </a:r>
            <a:r>
              <a:rPr dirty="0">
                <a:latin typeface="+mj-lt"/>
              </a:rPr>
              <a:t>All</a:t>
            </a:r>
            <a:r>
              <a:rPr spc="-15" dirty="0">
                <a:latin typeface="+mj-lt"/>
              </a:rPr>
              <a:t> </a:t>
            </a:r>
            <a:r>
              <a:rPr dirty="0">
                <a:latin typeface="+mj-lt"/>
              </a:rPr>
              <a:t>Rights</a:t>
            </a:r>
            <a:r>
              <a:rPr spc="-10" dirty="0">
                <a:latin typeface="+mj-lt"/>
              </a:rPr>
              <a:t> Reserved.</a:t>
            </a: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A651936F-9C0B-E2B0-3A67-70F8F8A2E5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04564"/>
            <a:ext cx="7569709" cy="38215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+mj-lt"/>
              </a:rPr>
              <a:t>  </a:t>
            </a:r>
            <a:r>
              <a:rPr sz="2400" dirty="0">
                <a:solidFill>
                  <a:schemeClr val="bg1"/>
                </a:solidFill>
                <a:latin typeface="+mj-lt"/>
              </a:rPr>
              <a:t>CMS</a:t>
            </a:r>
            <a:r>
              <a:rPr sz="2400" spc="-9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25" dirty="0">
                <a:solidFill>
                  <a:schemeClr val="bg1"/>
                </a:solidFill>
                <a:latin typeface="+mj-lt"/>
              </a:rPr>
              <a:t>Value</a:t>
            </a:r>
            <a:r>
              <a:rPr sz="2400" spc="-80" dirty="0">
                <a:solidFill>
                  <a:schemeClr val="bg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+mj-lt"/>
              </a:rPr>
              <a:t>Proposition</a:t>
            </a:r>
            <a:endParaRPr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8" name="Picture 17" descr="A red and black logo&#10;&#10;Description automatically generated">
            <a:extLst>
              <a:ext uri="{FF2B5EF4-FFF2-40B4-BE49-F238E27FC236}">
                <a16:creationId xmlns:a16="http://schemas.microsoft.com/office/drawing/2014/main" id="{C00A6FE9-FF6A-83BF-C64B-472F5942D75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66" y="2598166"/>
            <a:ext cx="1703529" cy="69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040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162800" y="0"/>
            <a:ext cx="1981200" cy="972819"/>
          </a:xfrm>
          <a:custGeom>
            <a:avLst/>
            <a:gdLst/>
            <a:ahLst/>
            <a:cxnLst/>
            <a:rect l="l" t="t" r="r" b="b"/>
            <a:pathLst>
              <a:path w="1981200" h="972819">
                <a:moveTo>
                  <a:pt x="1981200" y="0"/>
                </a:moveTo>
                <a:lnTo>
                  <a:pt x="0" y="0"/>
                </a:lnTo>
                <a:lnTo>
                  <a:pt x="0" y="972312"/>
                </a:lnTo>
                <a:lnTo>
                  <a:pt x="1981200" y="972312"/>
                </a:lnTo>
                <a:lnTo>
                  <a:pt x="1981200" y="0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Copyright</a:t>
            </a:r>
            <a:r>
              <a:rPr spc="-15" dirty="0"/>
              <a:t> </a:t>
            </a:r>
            <a:r>
              <a:rPr dirty="0"/>
              <a:t>©</a:t>
            </a:r>
            <a:r>
              <a:rPr spc="-10" dirty="0"/>
              <a:t> </a:t>
            </a:r>
            <a:r>
              <a:rPr dirty="0"/>
              <a:t>2024</a:t>
            </a:r>
            <a:r>
              <a:rPr spc="-15" dirty="0"/>
              <a:t> </a:t>
            </a:r>
            <a:r>
              <a:rPr dirty="0"/>
              <a:t>CMS</a:t>
            </a:r>
            <a:r>
              <a:rPr spc="-10" dirty="0"/>
              <a:t> </a:t>
            </a:r>
            <a:r>
              <a:rPr dirty="0"/>
              <a:t>Computers</a:t>
            </a:r>
            <a:r>
              <a:rPr spc="-15" dirty="0"/>
              <a:t> </a:t>
            </a:r>
            <a:r>
              <a:rPr dirty="0"/>
              <a:t>India</a:t>
            </a:r>
            <a:r>
              <a:rPr spc="-10" dirty="0"/>
              <a:t> </a:t>
            </a:r>
            <a:r>
              <a:rPr dirty="0"/>
              <a:t>Private</a:t>
            </a:r>
            <a:r>
              <a:rPr spc="-15" dirty="0"/>
              <a:t> </a:t>
            </a:r>
            <a:r>
              <a:rPr dirty="0"/>
              <a:t>Ltd.</a:t>
            </a:r>
            <a:r>
              <a:rPr spc="-10" dirty="0"/>
              <a:t> </a:t>
            </a:r>
            <a:r>
              <a:rPr dirty="0"/>
              <a:t>All</a:t>
            </a:r>
            <a:r>
              <a:rPr spc="-15" dirty="0"/>
              <a:t> </a:t>
            </a:r>
            <a:r>
              <a:rPr dirty="0"/>
              <a:t>Rights</a:t>
            </a:r>
            <a:r>
              <a:rPr spc="-10" dirty="0"/>
              <a:t> Reserved.</a:t>
            </a:r>
          </a:p>
        </p:txBody>
      </p:sp>
      <p:pic>
        <p:nvPicPr>
          <p:cNvPr id="5" name="Picture 4" descr="A red and black logo&#10;&#10;Description automatically generated">
            <a:extLst>
              <a:ext uri="{FF2B5EF4-FFF2-40B4-BE49-F238E27FC236}">
                <a16:creationId xmlns:a16="http://schemas.microsoft.com/office/drawing/2014/main" id="{72A5B51F-245E-E4DE-332A-B0E6C7026E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086" y="1822450"/>
            <a:ext cx="2619828" cy="106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9071325C75DF429B37340353CB5F11" ma:contentTypeVersion="12" ma:contentTypeDescription="Create a new document." ma:contentTypeScope="" ma:versionID="990386a8aa48b6982ced7e7997e78a0d">
  <xsd:schema xmlns:xsd="http://www.w3.org/2001/XMLSchema" xmlns:xs="http://www.w3.org/2001/XMLSchema" xmlns:p="http://schemas.microsoft.com/office/2006/metadata/properties" xmlns:ns2="83fe0efe-7f54-4050-8206-fa5d8f0a9733" xmlns:ns3="a63b7157-4dd8-47d3-8539-9c09a4d5ba0c" targetNamespace="http://schemas.microsoft.com/office/2006/metadata/properties" ma:root="true" ma:fieldsID="2504728fdaa7b0a51d4d9a07f7175d25" ns2:_="" ns3:_="">
    <xsd:import namespace="83fe0efe-7f54-4050-8206-fa5d8f0a9733"/>
    <xsd:import namespace="a63b7157-4dd8-47d3-8539-9c09a4d5ba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e0efe-7f54-4050-8206-fa5d8f0a97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8e26fcb-adce-4ac7-ba69-fdbd89096c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3b7157-4dd8-47d3-8539-9c09a4d5ba0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51b855d-ae50-4698-befe-947b60cbbea9}" ma:internalName="TaxCatchAll" ma:showField="CatchAllData" ma:web="a63b7157-4dd8-47d3-8539-9c09a4d5ba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fe0efe-7f54-4050-8206-fa5d8f0a9733">
      <Terms xmlns="http://schemas.microsoft.com/office/infopath/2007/PartnerControls"/>
    </lcf76f155ced4ddcb4097134ff3c332f>
    <TaxCatchAll xmlns="a63b7157-4dd8-47d3-8539-9c09a4d5ba0c" xsi:nil="true"/>
  </documentManagement>
</p:properties>
</file>

<file path=customXml/itemProps1.xml><?xml version="1.0" encoding="utf-8"?>
<ds:datastoreItem xmlns:ds="http://schemas.openxmlformats.org/officeDocument/2006/customXml" ds:itemID="{864E8092-28F0-438A-8D28-D1832D450C73}"/>
</file>

<file path=customXml/itemProps2.xml><?xml version="1.0" encoding="utf-8"?>
<ds:datastoreItem xmlns:ds="http://schemas.openxmlformats.org/officeDocument/2006/customXml" ds:itemID="{19FC2FDF-294B-4987-AE62-AD2887134263}"/>
</file>

<file path=customXml/itemProps3.xml><?xml version="1.0" encoding="utf-8"?>
<ds:datastoreItem xmlns:ds="http://schemas.openxmlformats.org/officeDocument/2006/customXml" ds:itemID="{C521840E-5A6E-4DAB-AE2B-C8F13338D95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</TotalTime>
  <Words>3238</Words>
  <Application>Microsoft Office PowerPoint</Application>
  <PresentationFormat>On-screen Show (16:9)</PresentationFormat>
  <Paragraphs>586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Times New Roman</vt:lpstr>
      <vt:lpstr>Wingdings</vt:lpstr>
      <vt:lpstr>Office Theme</vt:lpstr>
      <vt:lpstr>Innovation that Matters Energizing the Digital Economy</vt:lpstr>
      <vt:lpstr>  Brief Profile</vt:lpstr>
      <vt:lpstr>  Our Vision and Mission</vt:lpstr>
      <vt:lpstr>   Four Decades of Innovation</vt:lpstr>
      <vt:lpstr>  We lead in Thought and Action</vt:lpstr>
      <vt:lpstr>  Industry Go to Market Presence</vt:lpstr>
      <vt:lpstr>Simplifying Life by integrating the Real and Digital world</vt:lpstr>
      <vt:lpstr>  E-Governance Solutions</vt:lpstr>
      <vt:lpstr>CMS E-Governance Solutions</vt:lpstr>
      <vt:lpstr>CMS has the capability for Seamless Integration across the Ecosystem</vt:lpstr>
      <vt:lpstr>  CMS Smart City &amp; Public Safety Solutions</vt:lpstr>
      <vt:lpstr>Energy &amp; Utilities Solutions</vt:lpstr>
      <vt:lpstr>  CMS End to End Smart Grid Solution</vt:lpstr>
      <vt:lpstr>  CMS Hardware &amp; Software IP/Assets</vt:lpstr>
      <vt:lpstr>  CMS Software &amp; IT Services Solutions</vt:lpstr>
      <vt:lpstr>IT Services – Practices</vt:lpstr>
      <vt:lpstr>Our Strengths in IT Services</vt:lpstr>
      <vt:lpstr>  DC Integrated Service Delivery</vt:lpstr>
      <vt:lpstr>Information Security system for clients</vt:lpstr>
      <vt:lpstr>  CMS in Software: CMMI Level 5 Maturity</vt:lpstr>
      <vt:lpstr>CMS Software Capabilities</vt:lpstr>
      <vt:lpstr>  CMS Data Sciences and Analytics COE</vt:lpstr>
      <vt:lpstr> Client Service Delivery Framework</vt:lpstr>
      <vt:lpstr>Client Services : Adherence to Standards</vt:lpstr>
      <vt:lpstr>  CMS Value Proposition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Suhas</cp:lastModifiedBy>
  <cp:revision>34</cp:revision>
  <dcterms:created xsi:type="dcterms:W3CDTF">2024-08-01T04:34:03Z</dcterms:created>
  <dcterms:modified xsi:type="dcterms:W3CDTF">2024-08-07T07:47:03Z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2024-08-01T00:00:00Z</vt:filetime>
  </property>
  <property fmtid="{D5CDD505-2E9C-101B-9397-08002B2CF9AE}" pid="5" name="Producer">
    <vt:lpwstr>Microsoft® PowerPoint® 2013</vt:lpwstr>
  </property>
  <property fmtid="{D5CDD505-2E9C-101B-9397-08002B2CF9AE}" pid="6" name="MSIP_Label_defa4170-0d19-0005-0004-bc88714345d2_Enabled">
    <vt:lpwstr>true</vt:lpwstr>
  </property>
  <property fmtid="{D5CDD505-2E9C-101B-9397-08002B2CF9AE}" pid="7" name="MSIP_Label_defa4170-0d19-0005-0004-bc88714345d2_SetDate">
    <vt:lpwstr>2024-08-03T04:38:34Z</vt:lpwstr>
  </property>
  <property fmtid="{D5CDD505-2E9C-101B-9397-08002B2CF9AE}" pid="8" name="MSIP_Label_defa4170-0d19-0005-0004-bc88714345d2_Method">
    <vt:lpwstr>Standard</vt:lpwstr>
  </property>
  <property fmtid="{D5CDD505-2E9C-101B-9397-08002B2CF9AE}" pid="9" name="MSIP_Label_defa4170-0d19-0005-0004-bc88714345d2_Name">
    <vt:lpwstr>defa4170-0d19-0005-0004-bc88714345d2</vt:lpwstr>
  </property>
  <property fmtid="{D5CDD505-2E9C-101B-9397-08002B2CF9AE}" pid="10" name="MSIP_Label_defa4170-0d19-0005-0004-bc88714345d2_SiteId">
    <vt:lpwstr>dc72b70c-dcd0-402b-bd77-b1b1a09adf15</vt:lpwstr>
  </property>
  <property fmtid="{D5CDD505-2E9C-101B-9397-08002B2CF9AE}" pid="11" name="MSIP_Label_defa4170-0d19-0005-0004-bc88714345d2_ActionId">
    <vt:lpwstr>4c1747e8-0386-459c-ad9c-0ad34146b91f</vt:lpwstr>
  </property>
  <property fmtid="{D5CDD505-2E9C-101B-9397-08002B2CF9AE}" pid="12" name="MSIP_Label_defa4170-0d19-0005-0004-bc88714345d2_ContentBits">
    <vt:lpwstr>0</vt:lpwstr>
  </property>
  <property fmtid="{D5CDD505-2E9C-101B-9397-08002B2CF9AE}" pid="13" name="ContentTypeId">
    <vt:lpwstr>0x010100549071325C75DF429B37340353CB5F11</vt:lpwstr>
  </property>
</Properties>
</file>